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5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75" y="14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 /><Relationship Id="rId56" Type="http://schemas.openxmlformats.org/officeDocument/2006/relationships/tableStyles" Target="tableStyles.xml" /><Relationship Id="rId5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179622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1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19017774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50444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82025042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992461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95629369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1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8315061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0" hdr="0" sldNum="1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74553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750814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7405542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44031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14216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6575705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70762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09167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9364391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87052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85184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9718190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69969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779066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2892044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005CA7B-64A5-499F-1117-3332D9FC274B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84876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924728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72088659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64964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960044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2807771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80F1C9C-D72B-BA43-C5BD-73F3898D06C5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325069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808540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1575239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0463679-56FA-677F-6B60-E86EB0C34269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2225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851896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9791461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8424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140893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40316085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8083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30561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809520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317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596562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6334885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300520DB-2D8F-8039-F7B8-C10DEDA9D060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5069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1381819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47791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AF1660C-8514-AAAC-6E00-8A8AF1B10B1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706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54075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9247061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CDE84A84-8C45-A2F9-A60F-588A469A914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48134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803442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0780131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A360341-ADFE-903A-DBF1-B78BF1B23F3B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71132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12314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974727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1ECB21A-61B4-4ED8-44FF-DBB2A8F5CD4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09996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60805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6006354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0053F27C-34DC-1BE8-853D-20850850514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95913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036259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85784329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8847E5DD-D1AE-4154-6C1E-23F2B76193A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70771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472272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5913798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6D0E3096-1FB5-C982-695C-F0088613EAC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53750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6"/>
            <a:ext cx="5959473" cy="3352798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364099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6" y="4777957"/>
            <a:ext cx="5438138" cy="390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33235315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7" cy="49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63" rIns="95550" bIns="47763" anchor="b" anchorCtr="0">
            <a:noAutofit/>
          </a:bodyPr>
          <a:lstStyle/>
          <a:p>
            <a:pPr algn="r">
              <a:defRPr/>
            </a:pPr>
            <a:fld id="{22F954D8-09BE-0BE2-CA76-8E33DDF7C0F6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89313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707273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5223049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BA8F4D4-20E5-9C8C-51F5-23B137B544CB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740307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394016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5956824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73E5AB0-5AD8-8955-18CA-9E7E4D4F8F0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34475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16052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4146260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BAB279D-BFE1-1F2A-EF41-B87D86EB96F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61778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72221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3716848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A7E005B-7A93-0672-0DE8-9FCFDE5808C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3255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828536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902938809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B0126DC-D84E-AC8F-69E4-257DFCD2B7E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919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21463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6633851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26B467D-97FC-8DB0-8060-B469D1803EAD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76944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165091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31097484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1C926357-19BE-45E8-4D15-49C178ECFD5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32183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550624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9829486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5EE4DEC-D678-1AB0-024B-16479D74FED0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59799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59538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61283833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C5863DD-824D-16EE-170D-05631255FA7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38487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98842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5141175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54FF7613-7368-64B1-D223-66F4CAFB333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2132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21915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1392614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6347260B-71E6-BEDA-D9F4-BA0D9B74D263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72751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845539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46785167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3D2FB1F2-84B0-F0FC-2504-C9CEFCE91D8E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657630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6934708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78480231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27B3916-66DE-B605-D8A3-81FABEDF7D52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73498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223089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7068928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9E1A32A-D517-A927-5277-D006C91C0FD1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033096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3288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9489231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A48F2E10-0832-BE71-2901-CBFB4DDFA3BD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34653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35210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0886763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0EB5B87-C789-217A-642A-07E929DECEDC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1297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111790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29643230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7B419028-5B77-D8D4-0ACB-B6E28AC38D0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15233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1922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80020326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0B9C7932-04B1-2698-EFED-7CF4F7C4399A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2078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3591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1014155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4F420A90-4A0A-F10D-1FDF-2288107377C2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156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2532324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432004675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8120CAF6-2BA9-E370-7F7C-B373B9A7A125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67239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862548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658083210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EA99D0B5-024A-3EBB-25B9-292CD19F1286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45141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699994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4074569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DF68B5ED-F153-1AE4-F957-21211B2ACC65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386231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14140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9372557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AB3B1050-0879-1DD0-7239-42515AEB6469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54809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26969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607195043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BA7544B2-1EE5-8848-4154-0B19DA02A6AF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319432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127562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392382992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76440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419817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84867430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17394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9752343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219280948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45242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7" y="1239837"/>
            <a:ext cx="5959474" cy="3352799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6469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7" y="4777958"/>
            <a:ext cx="5438139" cy="390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12678894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3" y="9430092"/>
            <a:ext cx="2945658" cy="49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1" tIns="47763" rIns="95551" bIns="47763" anchor="b" anchorCtr="0">
            <a:noAutofit/>
          </a:bodyPr>
          <a:lstStyle/>
          <a:p>
            <a:pPr algn="r">
              <a:defRPr/>
            </a:pPr>
            <a:fld id="{27822F58-97A6-F56A-E2D3-5013802357A5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68523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0049905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157474268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136148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0688" y="1239838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4829280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768" y="4777959"/>
            <a:ext cx="5438140" cy="390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t" anchorCtr="0">
            <a:noAutofit/>
          </a:bodyPr>
          <a:lstStyle/>
          <a:p>
            <a:pPr marL="0" indent="0">
              <a:defRPr/>
            </a:pPr>
            <a:endParaRPr/>
          </a:p>
        </p:txBody>
      </p:sp>
      <p:sp>
        <p:nvSpPr>
          <p:cNvPr id="448883921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50444" y="9430093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2" tIns="47763" rIns="95552" bIns="47763" anchor="b" anchorCtr="0">
            <a:noAutofit/>
          </a:bodyPr>
          <a:lstStyle/>
          <a:p>
            <a:pPr algn="r">
              <a:defRPr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投影片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110923" name="Google Shape;16;p18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8600014" name="Google Shape;17;p18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04721922" name="Google Shape;18;p1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5680377" name="Google Shape;19;p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9798750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物件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093496" name="Google Shape;22;p1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3153779" name="Google Shape;23;p19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6325714" name="Google Shape;24;p1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7003644" name="Google Shape;25;p1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4852894" name="Google Shape;26;p1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章節標題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37767" name="Google Shape;28;p20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3298213" name="Google Shape;29;p20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25325574" name="Google Shape;30;p2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2058595" name="Google Shape;31;p2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5932249" name="Google Shape;32;p2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兩項物件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919814" name="Google Shape;34;p2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7155882" name="Google Shape;35;p2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4499654" name="Google Shape;36;p21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3305110" name="Google Shape;37;p2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6314915" name="Google Shape;38;p2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4380725" name="Google Shape;39;p2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比對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636049" name="Google Shape;41;p22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0525020" name="Google Shape;42;p22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437722351" name="Google Shape;43;p22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2548354" name="Google Shape;44;p22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522500985" name="Google Shape;45;p22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7535859" name="Google Shape;46;p2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2933471" name="Google Shape;47;p2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4205685" name="Google Shape;48;p2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只有標題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105444" name="Google Shape;50;p2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8965413" name="Google Shape;51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4690073" name="Google Shape;52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4903861" name="Google Shape;53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空白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579" name="Google Shape;55;p2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7445217" name="Google Shape;56;p2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9427100" name="Google Shape;57;p2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內容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42350" name="Google Shape;59;p25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6377570" name="Google Shape;60;p25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87476468" name="Google Shape;61;p25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2059501934" name="Google Shape;62;p2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5795820" name="Google Shape;63;p2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0097123" name="Google Shape;64;p2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含標題的圖片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22280" name="Google Shape;66;p26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4760709" name="Google Shape;67;p26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98597142" name="Google Shape;68;p26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223451856" name="Google Shape;69;p2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2072332" name="Google Shape;70;p2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9682801" name="Google Shape;71;p2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標題及直排文字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824041" name="Google Shape;73;p2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9770863" name="Google Shape;74;p2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6920690" name="Google Shape;75;p2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2956591" name="Google Shape;76;p2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8952277" name="Google Shape;77;p2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直排標題及文字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725436" name="Google Shape;79;p28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4600928" name="Google Shape;80;p2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7033312" name="Google Shape;81;p2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0284438" name="Google Shape;82;p2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5504213" name="Google Shape;83;p2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950784" name="Google Shape;10;p1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365346016" name="Google Shape;11;p17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66962034" name="Google Shape;12;p1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28679407" name="Google Shape;13;p1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3370668" name="Google Shape;14;p1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220028" name="Google Shape;90;p1"/>
          <p:cNvSpPr txBox="1"/>
          <p:nvPr/>
        </p:nvSpPr>
        <p:spPr bwMode="auto">
          <a:xfrm flipH="0" flipV="0">
            <a:off x="1130859" y="1667053"/>
            <a:ext cx="6705362" cy="192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zh-TW" sz="300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endParaRPr lang="en-US" sz="3000" b="0" i="0" u="none" strike="noStrike" cap="none">
              <a:solidFill>
                <a:schemeClr val="tx1"/>
              </a:solidFill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(Lanshan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Matchmaking and Marriage &amp; Family Services Co</a:t>
            </a:r>
            <a:r>
              <a:rPr lang="en-US" sz="30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Ltd</a:t>
            </a:r>
            <a:r>
              <a:rPr sz="3000"/>
              <a:t>)</a:t>
            </a:r>
            <a:endParaRPr/>
          </a:p>
          <a:p>
            <a:pPr algn="l">
              <a:defRPr/>
            </a:pPr>
            <a:endParaRPr sz="30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698643132" name="Google Shape;90;p1"/>
          <p:cNvSpPr txBox="1"/>
          <p:nvPr/>
        </p:nvSpPr>
        <p:spPr bwMode="auto">
          <a:xfrm flipH="0" flipV="0">
            <a:off x="1162901" y="4285850"/>
            <a:ext cx="5737602" cy="7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latin typeface="+mj-lt"/>
                <a:ea typeface="Times New Roman"/>
                <a:cs typeface="Times New Roman"/>
              </a:rPr>
              <a:t>前端網站開發人員證書</a:t>
            </a:r>
            <a:endParaRPr lang="en-US" sz="2200"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2200">
                <a:latin typeface="Arial"/>
                <a:ea typeface="Times New Roman"/>
                <a:cs typeface="Times New Roman"/>
              </a:rPr>
              <a:t>(CT288DS006)</a:t>
            </a:r>
            <a:endParaRPr sz="2200"/>
          </a:p>
        </p:txBody>
      </p:sp>
      <p:sp>
        <p:nvSpPr>
          <p:cNvPr id="1515932254" name="Google Shape;90;p1"/>
          <p:cNvSpPr txBox="1"/>
          <p:nvPr/>
        </p:nvSpPr>
        <p:spPr bwMode="auto">
          <a:xfrm flipH="0" flipV="0">
            <a:off x="1162901" y="3324576"/>
            <a:ext cx="5726802" cy="77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開發者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22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22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</a:t>
            </a:r>
            <a:endParaRPr lang="en-US" sz="2200" b="0" i="0" u="none" strike="noStrike" cap="none">
              <a:solidFill>
                <a:schemeClr val="dk1"/>
              </a:solidFill>
              <a:latin typeface="Arial"/>
              <a:ea typeface="Times New Roman"/>
              <a:cs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學生編號: </a:t>
            </a:r>
            <a:r>
              <a:rPr lang="en-US" sz="2200">
                <a:solidFill>
                  <a:srgbClr val="0000FF"/>
                </a:solidFill>
                <a:latin typeface="Arial"/>
                <a:cs typeface="Times New Roman"/>
              </a:rPr>
              <a:t>12</a:t>
            </a:r>
            <a:endParaRPr sz="2200">
              <a:solidFill>
                <a:srgbClr val="0000FF"/>
              </a:solidFill>
              <a:latin typeface="Arial"/>
              <a:cs typeface="Times New Roman"/>
            </a:endParaRPr>
          </a:p>
        </p:txBody>
      </p:sp>
      <p:sp>
        <p:nvSpPr>
          <p:cNvPr id="2143470478" name="Google Shape;90;p1"/>
          <p:cNvSpPr txBox="1"/>
          <p:nvPr/>
        </p:nvSpPr>
        <p:spPr bwMode="auto">
          <a:xfrm flipH="0" flipV="0">
            <a:off x="1162899" y="5254510"/>
            <a:ext cx="5696198" cy="43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algn="l">
              <a:defRPr/>
            </a:pPr>
            <a:r>
              <a:rPr lang="en-US" sz="2200">
                <a:solidFill>
                  <a:srgbClr val="C00000"/>
                </a:solidFill>
                <a:latin typeface="+mj-lt"/>
                <a:ea typeface="Times New Roman"/>
                <a:cs typeface="Times New Roman"/>
              </a:rPr>
              <a:t>版本 03</a:t>
            </a:r>
            <a:endParaRPr sz="22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56388333" name="Slide Number Placeholder 1"/>
          <p:cNvSpPr>
            <a:spLocks noGrp="1"/>
          </p:cNvSpPr>
          <p:nvPr>
            <p:ph type="sldNum" idx="12"/>
          </p:nvPr>
        </p:nvSpPr>
        <p:spPr bwMode="auto">
          <a:xfrm>
            <a:off x="6495944" y="5878672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734763133" name="Google Shape;90;p1"/>
          <p:cNvSpPr txBox="1"/>
          <p:nvPr/>
        </p:nvSpPr>
        <p:spPr bwMode="auto">
          <a:xfrm flipH="0" flipV="0">
            <a:off x="1162901" y="694678"/>
            <a:ext cx="4503561" cy="91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algn="l">
              <a:defRPr/>
            </a:pPr>
            <a:r>
              <a:rPr lang="en-US" sz="5400">
                <a:solidFill>
                  <a:schemeClr val="tx1"/>
                </a:solidFill>
                <a:latin typeface="+mj-lt"/>
                <a:ea typeface="Times New Roman"/>
                <a:cs typeface="Times New Roman"/>
              </a:rPr>
              <a:t>網站開發專案</a:t>
            </a:r>
            <a:endParaRPr sz="5400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79366621" name="Google Shape;90;p1"/>
          <p:cNvSpPr txBox="1"/>
          <p:nvPr/>
        </p:nvSpPr>
        <p:spPr bwMode="auto">
          <a:xfrm flipH="0" flipV="0">
            <a:off x="1162900" y="5757894"/>
            <a:ext cx="8610319" cy="77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 algn="l">
              <a:defRPr/>
            </a:pPr>
            <a:r>
              <a:rPr sz="2200"/>
              <a:t>GitHub連結:</a:t>
            </a:r>
            <a:endParaRPr sz="2200"/>
          </a:p>
          <a:p>
            <a:pPr algn="l">
              <a:defRPr/>
            </a:pPr>
            <a:r>
              <a:rPr lang="en-US" sz="2200" b="0" i="0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https://github.com/hosiuhangdesmond/lanshan_matchmaking</a:t>
            </a:r>
            <a:r>
              <a:rPr lang="en-US" sz="220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/main</a:t>
            </a:r>
            <a:endParaRPr lang="en-US" sz="2200">
              <a:latin typeface="Arial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790489" name="Google Shape;90;p1"/>
          <p:cNvSpPr txBox="1"/>
          <p:nvPr/>
        </p:nvSpPr>
        <p:spPr bwMode="auto">
          <a:xfrm>
            <a:off x="-44818" y="-35710"/>
            <a:ext cx="12281637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j-lt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+mj-lt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112178055" name="Google Shape;91;p1"/>
          <p:cNvSpPr txBox="1"/>
          <p:nvPr/>
        </p:nvSpPr>
        <p:spPr bwMode="auto">
          <a:xfrm flipH="0" flipV="0">
            <a:off x="580416" y="795018"/>
            <a:ext cx="9638303" cy="564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目錄: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—————————————————-———————————————-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用戶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需求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書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———————————————————————————————-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 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樣板(Template) 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 ———————————————————————————-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網站建設及代碼編寫</a:t>
            </a:r>
            <a:r>
              <a:rPr sz="2400"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網站測試 —————————————————————————————————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 —————————————————————————————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網站發佈</a:t>
            </a:r>
            <a:r>
              <a:rPr sz="2400">
                <a:latin typeface="Linux Biolinum O"/>
                <a:ea typeface="Linux Biolinum O"/>
                <a:cs typeface="Linux Biolinum O"/>
              </a:rPr>
              <a:t>—————————————————————————————</a:t>
            </a: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————</a:t>
            </a:r>
            <a:endParaRPr sz="2400">
              <a:latin typeface="Linux Biolinum O"/>
              <a:cs typeface="Linux Biolinum O"/>
            </a:endParaRPr>
          </a:p>
          <a:p>
            <a:pPr marL="349965" lvl="0" indent="-349965" algn="l" rtl="0">
              <a:spcBef>
                <a:spcPts val="0"/>
              </a:spcBef>
              <a:spcAft>
                <a:spcPts val="0"/>
              </a:spcAft>
              <a:buAutoNum type="alphaUcPeriod"/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總結 ———————————————————————————————————-</a:t>
            </a:r>
            <a:endParaRPr lang="en-US" sz="2400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附錄I: 代碼集合 ———————————————————————————————</a:t>
            </a: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</p:txBody>
      </p:sp>
      <p:cxnSp>
        <p:nvCxnSpPr>
          <p:cNvPr id="1142192973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8389402" name="Slide Number Placeholder 7"/>
          <p:cNvSpPr>
            <a:spLocks noGrp="1"/>
          </p:cNvSpPr>
          <p:nvPr>
            <p:ph type="sldNum" idx="12"/>
          </p:nvPr>
        </p:nvSpPr>
        <p:spPr bwMode="auto">
          <a:xfrm>
            <a:off x="8393768" y="6037490"/>
            <a:ext cx="2743200" cy="36512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1330309002" name="Google Shape;91;p1"/>
          <p:cNvSpPr txBox="1"/>
          <p:nvPr/>
        </p:nvSpPr>
        <p:spPr bwMode="auto">
          <a:xfrm flipH="0" flipV="0">
            <a:off x="9765367" y="795018"/>
            <a:ext cx="983496" cy="557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u="sng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頁數</a:t>
            </a:r>
            <a:endParaRPr lang="en-US" sz="2400" u="sng">
              <a:solidFill>
                <a:schemeClr val="dk1"/>
              </a:solidFill>
              <a:latin typeface="Linux Biolinum O"/>
              <a:ea typeface="Linux Biolinum O"/>
              <a:cs typeface="Linux Biolinum 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lang="en-US" sz="2400">
              <a:solidFill>
                <a:srgbClr val="FF0000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ea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nux Biolinum O"/>
                <a:ea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  <a:latin typeface="Linux Biolinum O"/>
                <a:cs typeface="Linux Biolinum O"/>
              </a:rPr>
              <a:t>2</a:t>
            </a:r>
            <a:endParaRPr sz="2400">
              <a:solidFill>
                <a:srgbClr val="FF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49973006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532998" name="TextBox 20"/>
          <p:cNvSpPr txBox="1"/>
          <p:nvPr/>
        </p:nvSpPr>
        <p:spPr bwMode="auto">
          <a:xfrm>
            <a:off x="0" y="646290"/>
            <a:ext cx="30090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A.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客戶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簡介</a:t>
            </a:r>
            <a:endParaRPr/>
          </a:p>
        </p:txBody>
      </p:sp>
      <p:sp>
        <p:nvSpPr>
          <p:cNvPr id="74400392" name="TextBox 23"/>
          <p:cNvSpPr txBox="1"/>
          <p:nvPr/>
        </p:nvSpPr>
        <p:spPr bwMode="auto">
          <a:xfrm flipH="0" flipV="0">
            <a:off x="326961" y="1110686"/>
            <a:ext cx="11806161" cy="481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，下同</a:t>
            </a:r>
            <a:r>
              <a:rPr sz="2400"/>
              <a:t>)為本地一間有二十多年歷史的中小型企業。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的“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”</a:t>
            </a:r>
            <a:r>
              <a:rPr sz="2400"/>
              <a:t>兩字來</a:t>
            </a:r>
            <a:r>
              <a:rPr sz="2400"/>
              <a:t>自中國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宋代著名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詞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人辛棄疾的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經典名篇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《青玉案·元夕》(註)。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的主營業務</a:t>
            </a:r>
            <a:r>
              <a:rPr sz="2400"/>
              <a:t>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相親</a:t>
            </a:r>
            <a:r>
              <a:rPr sz="2400"/>
              <a:t>對象介紹，包括: 提供相親對象查冊服務、相親午餐／晚餐安排</a:t>
            </a:r>
            <a:r>
              <a:rPr sz="2400"/>
              <a:t>服務</a:t>
            </a:r>
            <a:r>
              <a:rPr sz="2400"/>
              <a:t>、大型相親旅行、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通訊軟件服務、性格類型測試服務等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等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亦同時經營一些與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婚姻家庭</a:t>
            </a:r>
            <a:r>
              <a:rPr sz="2400"/>
              <a:t>事宜有關的業務，包括: 婚禮籌辦、婚前婚後心理輔導、產前產後醫療</a:t>
            </a:r>
            <a:r>
              <a:rPr sz="2400"/>
              <a:t>檢查、親子鑑定、分手服務、遺產分配與繼承</a:t>
            </a:r>
            <a:r>
              <a:rPr sz="2400"/>
              <a:t>等。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也定期參予不同社會慈善活動，以回饋社會。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目前的員工總數約十五人，包括八名全職</a:t>
            </a:r>
            <a:r>
              <a:rPr sz="2400"/>
              <a:t>員工</a:t>
            </a:r>
            <a:r>
              <a:rPr sz="2400"/>
              <a:t>及七名兼職</a:t>
            </a:r>
            <a:r>
              <a:rPr sz="2400"/>
              <a:t>員工</a:t>
            </a:r>
            <a:r>
              <a:rPr sz="2400"/>
              <a:t>。</a:t>
            </a:r>
            <a:endParaRPr sz="2400"/>
          </a:p>
          <a:p>
            <a:pPr marL="305908" indent="-305908" algn="l">
              <a:buAutoNum type="arabicPeriod"/>
              <a:defRPr/>
            </a:pPr>
            <a:r>
              <a:rPr sz="2400"/>
              <a:t>為了提供更優質的服務，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公司</a:t>
            </a:r>
            <a:r>
              <a:rPr sz="2400"/>
              <a:t>決定建立一個全新的網站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(簡稱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</a:t>
            </a:r>
            <a:r>
              <a:rPr sz="2400"/>
              <a:t>，下同</a:t>
            </a:r>
            <a:r>
              <a:rPr sz="2400"/>
              <a:t>)</a:t>
            </a:r>
            <a:r>
              <a:rPr sz="2400"/>
              <a:t>。</a:t>
            </a: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sz="2000"/>
              <a:t>(註)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《青玉案·元夕》</a:t>
            </a:r>
            <a:r>
              <a:rPr sz="2000"/>
              <a:t>原文:　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sz="2000"/>
          </a:p>
        </p:txBody>
      </p:sp>
      <p:sp>
        <p:nvSpPr>
          <p:cNvPr id="37682177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346497318" name="Google Shape;90;p1"/>
          <p:cNvSpPr txBox="1"/>
          <p:nvPr/>
        </p:nvSpPr>
        <p:spPr bwMode="auto">
          <a:xfrm>
            <a:off x="-44817" y="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71032028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0919008" name="TextBox 20"/>
          <p:cNvSpPr txBox="1"/>
          <p:nvPr/>
        </p:nvSpPr>
        <p:spPr bwMode="auto">
          <a:xfrm flipH="0" flipV="0">
            <a:off x="0" y="646290"/>
            <a:ext cx="485358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項目計劃書</a:t>
            </a:r>
            <a:endParaRPr/>
          </a:p>
        </p:txBody>
      </p:sp>
      <p:sp>
        <p:nvSpPr>
          <p:cNvPr id="1736995084" name="TextBox 23"/>
          <p:cNvSpPr txBox="1"/>
          <p:nvPr/>
        </p:nvSpPr>
        <p:spPr bwMode="auto">
          <a:xfrm flipH="0" flipV="0">
            <a:off x="368624" y="1232279"/>
            <a:ext cx="11013614" cy="308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sz="2400"/>
              <a:t>收集客戶/用戶關於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/>
              <a:t>的需求。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規劃資源，包括時間和人力資源。  </a:t>
            </a:r>
            <a:endParaRPr sz="2400"/>
          </a:p>
          <a:p>
            <a:pPr marL="349965" indent="-349965">
              <a:buAutoNum type="arabicPeriod"/>
              <a:defRPr/>
            </a:pPr>
            <a:r>
              <a:rPr sz="2400"/>
              <a:t>選擇構建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網站的工具：  </a:t>
            </a:r>
            <a:endParaRPr sz="2400"/>
          </a:p>
          <a:p>
            <a:pPr>
              <a:defRPr/>
            </a:pPr>
            <a:r>
              <a:rPr sz="2400"/>
              <a:t>	(a) HTML, CSS, JavaScript, react.js</a:t>
            </a:r>
            <a:endParaRPr sz="2400"/>
          </a:p>
          <a:p>
            <a:pPr>
              <a:defRPr/>
            </a:pPr>
            <a:r>
              <a:rPr sz="2400"/>
              <a:t>	(b) Visual Studio Code  </a:t>
            </a:r>
            <a:endParaRPr sz="2400"/>
          </a:p>
          <a:p>
            <a:pPr>
              <a:defRPr/>
            </a:pPr>
            <a:r>
              <a:rPr sz="2400"/>
              <a:t>	</a:t>
            </a:r>
            <a:r>
              <a:rPr sz="2400"/>
              <a:t>(c) Git 和 GitHub  </a:t>
            </a:r>
            <a:endParaRPr sz="2400"/>
          </a:p>
          <a:p>
            <a:pPr>
              <a:defRPr/>
            </a:pPr>
            <a:r>
              <a:rPr sz="2400"/>
              <a:t>4. 分析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/>
              <a:t>網站的業務邏輯。  </a:t>
            </a:r>
            <a:endParaRPr sz="2400"/>
          </a:p>
          <a:p>
            <a:pPr>
              <a:defRPr/>
            </a:pPr>
            <a:r>
              <a:rPr sz="2400"/>
              <a:t>5. 採用最具成本效益的方法。</a:t>
            </a:r>
            <a:r>
              <a:rPr lang="en-US" sz="2400"/>
              <a:t>	</a:t>
            </a:r>
            <a:endParaRPr sz="2400"/>
          </a:p>
        </p:txBody>
      </p:sp>
      <p:sp>
        <p:nvSpPr>
          <p:cNvPr id="60799016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1590797615" name="Google Shape;90;p1"/>
          <p:cNvSpPr txBox="1"/>
          <p:nvPr/>
        </p:nvSpPr>
        <p:spPr bwMode="auto">
          <a:xfrm>
            <a:off x="-89996" y="-35710"/>
            <a:ext cx="1228199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6727206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3147971" name="TextBox 20"/>
          <p:cNvSpPr txBox="1"/>
          <p:nvPr/>
        </p:nvSpPr>
        <p:spPr bwMode="auto">
          <a:xfrm flipH="0" flipV="0">
            <a:off x="0" y="646290"/>
            <a:ext cx="4860069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B.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項目計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劃書</a:t>
            </a:r>
            <a:r>
              <a:rPr sz="2400"/>
              <a:t>(續)</a:t>
            </a:r>
            <a:endParaRPr sz="2400"/>
          </a:p>
        </p:txBody>
      </p:sp>
      <p:sp>
        <p:nvSpPr>
          <p:cNvPr id="377988010" name="TextBox 23"/>
          <p:cNvSpPr txBox="1"/>
          <p:nvPr/>
        </p:nvSpPr>
        <p:spPr bwMode="auto">
          <a:xfrm flipH="0" flipV="0">
            <a:off x="333987" y="1062301"/>
            <a:ext cx="5019026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6. 項目開發</a:t>
            </a:r>
            <a:r>
              <a:rPr sz="2400"/>
              <a:t>流程時間表</a:t>
            </a:r>
            <a:endParaRPr sz="2400"/>
          </a:p>
        </p:txBody>
      </p:sp>
      <p:sp>
        <p:nvSpPr>
          <p:cNvPr id="203747670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B0BDB7B7-9856-9F58-E353-686AEB7B2890}" type="slidenum">
              <a:rPr lang="en-US"/>
              <a:t>4</a:t>
            </a:fld>
            <a:endParaRPr lang="en-US"/>
          </a:p>
        </p:txBody>
      </p:sp>
      <p:sp>
        <p:nvSpPr>
          <p:cNvPr id="576641516" name="Google Shape;90;p1"/>
          <p:cNvSpPr txBox="1"/>
          <p:nvPr/>
        </p:nvSpPr>
        <p:spPr bwMode="auto">
          <a:xfrm>
            <a:off x="-89995" y="-35709"/>
            <a:ext cx="1228199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graphicFrame>
        <p:nvGraphicFramePr>
          <p:cNvPr id="512907559" name=""/>
          <p:cNvGraphicFramePr>
            <a:graphicFrameLocks xmlns:a="http://schemas.openxmlformats.org/drawingml/2006/main"/>
          </p:cNvGraphicFramePr>
          <p:nvPr/>
        </p:nvGraphicFramePr>
        <p:xfrm rot="0">
          <a:off x="73090" y="1530267"/>
          <a:ext cx="8553449" cy="397382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76371"/>
                <a:gridCol w="2258228"/>
                <a:gridCol w="833393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  <a:gridCol w="860277"/>
              </a:tblGrid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2026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起始日:　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0830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0906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0913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0920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0927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1004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1018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1022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(日)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(四)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確定項目主題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編寫用戶需求書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編製網站架構圖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編製線框圖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網站建設及代碼編寫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網站測試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編製屏幕截圖及說明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網站演示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  <a:tr h="436762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Linux Biolinum O"/>
                          <a:ea typeface="Linux Biolinum O"/>
                          <a:cs typeface="Linux Biolinum O"/>
                        </a:rPr>
                        <a:t>網站發佈</a:t>
                      </a: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0" marR="0" marT="0" marB="0" anchor="b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35219383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021710" name="TextBox 20"/>
          <p:cNvSpPr txBox="1"/>
          <p:nvPr/>
        </p:nvSpPr>
        <p:spPr bwMode="auto">
          <a:xfrm>
            <a:off x="0" y="646290"/>
            <a:ext cx="720069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endParaRPr lang="en-US" sz="2400"/>
          </a:p>
        </p:txBody>
      </p:sp>
      <p:sp>
        <p:nvSpPr>
          <p:cNvPr id="1019001550" name="TextBox 1"/>
          <p:cNvSpPr txBox="1"/>
          <p:nvPr/>
        </p:nvSpPr>
        <p:spPr bwMode="auto">
          <a:xfrm flipH="0" flipV="0">
            <a:off x="317250" y="1110686"/>
            <a:ext cx="12179674" cy="5705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包含至少十五個網頁。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的每一個網頁</a:t>
            </a:r>
            <a:r>
              <a:rPr sz="2400" u="none"/>
              <a:t>具有相同的頂部設計、底部設計</a:t>
            </a:r>
            <a:r>
              <a:rPr sz="2400" u="none"/>
              <a:t>、顏色、風格。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3.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的顏色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以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喜慶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紅(#E60012)和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喜慶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金(#FFD7</a:t>
            </a:r>
            <a:r>
              <a:rPr sz="2400" u="none"/>
              <a:t>00)為主色</a:t>
            </a:r>
            <a:endParaRPr sz="2400" u="none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    b. 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深酒紅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(#7A1F2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B)、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奶油象牙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#FFF8E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柔和玫瑰粉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#FADADD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比色為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深孔雀藍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#0F4C5C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深炭灰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#2B2B2B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整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體風格是簡約中國文藝風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4.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的</a:t>
            </a:r>
            <a:r>
              <a:rPr sz="2400" u="none"/>
              <a:t>頂部</a:t>
            </a:r>
            <a:r>
              <a:rPr sz="2400" u="none"/>
              <a:t>包含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頂層(一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和頂層(二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。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5.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頂層(一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從左至右展示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內容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: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a.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 u="none"/>
              <a:t>公司的</a:t>
            </a:r>
            <a:r>
              <a:rPr sz="2400" u="none"/>
              <a:t>標識</a:t>
            </a:r>
            <a:endParaRPr sz="2400" u="none"/>
          </a:p>
          <a:p>
            <a:pPr>
              <a:defRPr/>
            </a:pPr>
            <a:r>
              <a:rPr sz="2400" u="none"/>
              <a:t>   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b.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sz="2400" u="none"/>
              <a:t>公司的</a:t>
            </a:r>
            <a:r>
              <a:rPr sz="2400" u="none"/>
              <a:t>中英文名稱</a:t>
            </a:r>
            <a:endParaRPr sz="2400" u="none"/>
          </a:p>
          <a:p>
            <a:pPr>
              <a:defRPr/>
            </a:pPr>
            <a:r>
              <a:rPr sz="2400" u="none"/>
              <a:t>6.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頂層(二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sz="2400" u="none"/>
              <a:t>內容置中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並展示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內容</a:t>
            </a:r>
            <a:r>
              <a:rPr sz="2400" u="none"/>
              <a:t>:</a:t>
            </a:r>
            <a:endParaRPr sz="2400" u="none"/>
          </a:p>
          <a:p>
            <a:pPr>
              <a:defRPr/>
            </a:pPr>
            <a:r>
              <a:rPr sz="2400" u="none"/>
              <a:t>    a. 首頁</a:t>
            </a:r>
            <a:endParaRPr sz="2400" u="none"/>
          </a:p>
          <a:p>
            <a:pPr>
              <a:defRPr/>
            </a:pPr>
            <a:r>
              <a:rPr sz="2400" u="none"/>
              <a:t>    b.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性格測試 </a:t>
            </a:r>
            <a:endParaRPr sz="2400" u="none"/>
          </a:p>
        </p:txBody>
      </p:sp>
      <p:sp>
        <p:nvSpPr>
          <p:cNvPr id="1539493284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287573575" name="Google Shape;90;p1"/>
          <p:cNvSpPr txBox="1"/>
          <p:nvPr/>
        </p:nvSpPr>
        <p:spPr bwMode="auto">
          <a:xfrm>
            <a:off x="58730" y="-35710"/>
            <a:ext cx="1228235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852713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893505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65104659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2AD49C9-5C1B-6218-8398-3D7642D7B817}" type="slidenum">
              <a:rPr lang="en-US"/>
              <a:t>6</a:t>
            </a:fld>
            <a:endParaRPr lang="en-US"/>
          </a:p>
        </p:txBody>
      </p:sp>
      <p:sp>
        <p:nvSpPr>
          <p:cNvPr id="694483487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01362819" name="TextBox 1"/>
          <p:cNvSpPr txBox="1"/>
          <p:nvPr/>
        </p:nvSpPr>
        <p:spPr bwMode="auto">
          <a:xfrm flipH="0" flipV="0">
            <a:off x="317250" y="1110686"/>
            <a:ext cx="12267153" cy="56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    d.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sz="2400" u="none"/>
              <a:t>安裝</a:t>
            </a:r>
            <a:endParaRPr sz="2400" u="none"/>
          </a:p>
          <a:p>
            <a:pPr>
              <a:defRPr/>
            </a:pPr>
            <a:r>
              <a:rPr sz="2400" u="none"/>
              <a:t>    e. </a:t>
            </a:r>
            <a:r>
              <a:rPr sz="2400" u="none"/>
              <a:t>會員登入</a:t>
            </a:r>
            <a:endParaRPr sz="2400" u="none"/>
          </a:p>
          <a:p>
            <a:pPr>
              <a:defRPr/>
            </a:pPr>
            <a:r>
              <a:rPr sz="2400" u="none"/>
              <a:t>    f. </a:t>
            </a:r>
            <a:r>
              <a:rPr sz="2400" u="none"/>
              <a:t>其他服務</a:t>
            </a:r>
            <a:endParaRPr sz="2400" u="none"/>
          </a:p>
          <a:p>
            <a:pPr>
              <a:defRPr/>
            </a:pPr>
            <a:r>
              <a:rPr sz="2400" u="none"/>
              <a:t>    g.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月刊</a:t>
            </a:r>
            <a:endParaRPr lang="en-US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   h. </a:t>
            </a:r>
            <a:r>
              <a:rPr sz="2400" u="none"/>
              <a:t>關於我們</a:t>
            </a:r>
            <a:endParaRPr sz="2400" u="none"/>
          </a:p>
          <a:p>
            <a:pPr>
              <a:defRPr/>
            </a:pPr>
            <a:r>
              <a:rPr sz="2400" u="none"/>
              <a:t>    i. 付款</a:t>
            </a:r>
            <a:endParaRPr sz="2400" u="none"/>
          </a:p>
          <a:p>
            <a:pPr>
              <a:defRPr/>
            </a:pPr>
            <a:r>
              <a:rPr sz="2400" u="none"/>
              <a:t>    j. </a:t>
            </a:r>
            <a:r>
              <a:rPr sz="2400" u="none"/>
              <a:t>搜尋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7.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底部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內容置中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並展示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以下按鈕/內容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a. 版權聲明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b.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c.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d.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e.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當鼠標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於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按鈕/功能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鍵時，會出現手指標記及所有相關子網頁的連結(若適用)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sz="2400" u="none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9.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所有網頁都是回響式的。</a:t>
            </a:r>
            <a:endParaRPr sz="2400" u="non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5204237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411213" name="TextBox 20"/>
          <p:cNvSpPr txBox="1"/>
          <p:nvPr/>
        </p:nvSpPr>
        <p:spPr bwMode="auto">
          <a:xfrm>
            <a:off x="0" y="646290"/>
            <a:ext cx="7201057" cy="46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C.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Times New Roman"/>
              </a:rPr>
              <a:t>用戶需求</a:t>
            </a:r>
            <a:r>
              <a:rPr lang="en-US" sz="2400"/>
              <a:t>書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89167241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B3D9380-458A-0A8B-2DA5-A0F693152FFD}" type="slidenum">
              <a:rPr lang="en-US"/>
              <a:t>7</a:t>
            </a:fld>
            <a:endParaRPr lang="en-US"/>
          </a:p>
        </p:txBody>
      </p:sp>
      <p:sp>
        <p:nvSpPr>
          <p:cNvPr id="667468322" name="Google Shape;90;p1"/>
          <p:cNvSpPr txBox="1"/>
          <p:nvPr/>
        </p:nvSpPr>
        <p:spPr bwMode="auto">
          <a:xfrm>
            <a:off x="58729" y="-35709"/>
            <a:ext cx="12282355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8019124" name="TextBox 1"/>
          <p:cNvSpPr txBox="1"/>
          <p:nvPr/>
        </p:nvSpPr>
        <p:spPr bwMode="auto">
          <a:xfrm flipH="0" flipV="0">
            <a:off x="317250" y="1110686"/>
            <a:ext cx="11685358" cy="306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10.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能幫助用戶識別他／她們目前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的網站位置</a:t>
            </a:r>
            <a:r>
              <a:rPr sz="2400" u="none"/>
              <a:t>。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u="none"/>
              <a:t>11.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每一個網頁的內容部份的底色都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奶油象牙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#FFF8E7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 </a:t>
            </a: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網站</a:t>
            </a:r>
            <a:r>
              <a:rPr sz="2400" u="none"/>
              <a:t>每一個網頁的內容部份的最底層都隱約顯示以下文字:</a:t>
            </a:r>
            <a:endParaRPr sz="2400" u="none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《青玉案·元夕》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宋代　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辛棄疾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Arial"/>
                <a:ea typeface="Arial"/>
                <a:cs typeface="Arial"/>
              </a:rPr>
              <a:t>:</a:t>
            </a:r>
            <a:endParaRPr sz="2400" b="0" i="1" u="none" strike="noStrike" cap="none" spc="0">
              <a:solidFill>
                <a:srgbClr val="152BEB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東風夜放花千樹，更吹落、星如雨。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寶馬雕車香滿路。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鳳簫聲動，玉壺光轉，一夜魚龍舞。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蛾兒雪柳黃金縷，笑語盈盈暗香去。</a:t>
            </a:r>
            <a:r>
              <a:rPr lang="en-US" sz="2400" b="0" i="1" u="none" strike="noStrike" cap="none" spc="0">
                <a:solidFill>
                  <a:srgbClr val="152BEB"/>
                </a:solidFill>
                <a:latin typeface="Times New Roman"/>
                <a:ea typeface="Times New Roman"/>
                <a:cs typeface="Times New Roman"/>
              </a:rPr>
              <a:t>眾裏尋他千百度，驀然迴首，那人卻在燈火闌珊處。</a:t>
            </a:r>
            <a:endParaRPr sz="2400" i="1" u="none">
              <a:solidFill>
                <a:srgbClr val="152BEB"/>
              </a:solidFill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u="none"/>
              <a:t>13. 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8905875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383423" y="1455881"/>
            <a:ext cx="2257425" cy="400050"/>
          </a:xfrm>
          <a:prstGeom prst="rect">
            <a:avLst/>
          </a:prstGeom>
          <a:ln w="12700">
            <a:solidFill>
              <a:srgbClr val="152BEB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3145111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1646043" name="TextBox 20"/>
          <p:cNvSpPr txBox="1"/>
          <p:nvPr/>
        </p:nvSpPr>
        <p:spPr bwMode="auto">
          <a:xfrm>
            <a:off x="0" y="617621"/>
            <a:ext cx="8264121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D.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檔案結構圖</a:t>
            </a:r>
            <a:endParaRPr lang="en-US" sz="2400"/>
          </a:p>
        </p:txBody>
      </p:sp>
      <p:sp>
        <p:nvSpPr>
          <p:cNvPr id="1214051538" name="Google Shape;90;p1"/>
          <p:cNvSpPr txBox="1"/>
          <p:nvPr/>
        </p:nvSpPr>
        <p:spPr bwMode="auto">
          <a:xfrm>
            <a:off x="0" y="-35710"/>
            <a:ext cx="1228271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53263707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0A3791F-EE66-2FCD-C6A9-F51FD3E93D5A}" type="slidenum">
              <a:rPr lang="en-US"/>
              <a:t>12</a:t>
            </a:fld>
            <a:endParaRPr/>
          </a:p>
        </p:txBody>
      </p:sp>
      <p:pic>
        <p:nvPicPr>
          <p:cNvPr id="13298242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79444" y="1082018"/>
            <a:ext cx="5086350" cy="5610224"/>
          </a:xfrm>
          <a:prstGeom prst="rect">
            <a:avLst/>
          </a:prstGeom>
        </p:spPr>
      </p:pic>
      <p:pic>
        <p:nvPicPr>
          <p:cNvPr id="44178360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83644" y="663572"/>
            <a:ext cx="5000625" cy="605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23099870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524241" name="TextBox 20"/>
          <p:cNvSpPr txBox="1"/>
          <p:nvPr/>
        </p:nvSpPr>
        <p:spPr bwMode="auto">
          <a:xfrm>
            <a:off x="0" y="646290"/>
            <a:ext cx="8252961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E.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網站架構圖(Sitemap)</a:t>
            </a:r>
            <a:endParaRPr lang="en-US" sz="2400"/>
          </a:p>
        </p:txBody>
      </p:sp>
      <p:sp>
        <p:nvSpPr>
          <p:cNvPr id="87043738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1816214637" name="Google Shape;90;p1"/>
          <p:cNvSpPr txBox="1"/>
          <p:nvPr/>
        </p:nvSpPr>
        <p:spPr bwMode="auto">
          <a:xfrm>
            <a:off x="0" y="-7043"/>
            <a:ext cx="1228307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783240500" name=""/>
          <p:cNvSpPr/>
          <p:nvPr/>
        </p:nvSpPr>
        <p:spPr bwMode="auto">
          <a:xfrm rot="0" flipH="0" flipV="0">
            <a:off x="1572708" y="2398008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91050014" name=""/>
          <p:cNvSpPr txBox="1"/>
          <p:nvPr/>
        </p:nvSpPr>
        <p:spPr bwMode="auto">
          <a:xfrm rot="0" flipH="0" flipV="0">
            <a:off x="1569828" y="2398008"/>
            <a:ext cx="87723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E2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查冊</a:t>
            </a:r>
            <a:endParaRPr sz="1600"/>
          </a:p>
        </p:txBody>
      </p:sp>
      <p:sp>
        <p:nvSpPr>
          <p:cNvPr id="1329519337" name=""/>
          <p:cNvSpPr/>
          <p:nvPr/>
        </p:nvSpPr>
        <p:spPr bwMode="auto">
          <a:xfrm rot="0" flipH="0" flipV="0">
            <a:off x="2666084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434833760" name=""/>
          <p:cNvSpPr/>
          <p:nvPr/>
        </p:nvSpPr>
        <p:spPr bwMode="auto">
          <a:xfrm rot="0" flipH="0" flipV="0">
            <a:off x="3720603" y="2421820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44575095" name=""/>
          <p:cNvSpPr/>
          <p:nvPr/>
        </p:nvSpPr>
        <p:spPr bwMode="auto">
          <a:xfrm rot="0" flipH="0" flipV="0">
            <a:off x="4771729" y="23946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476896206" name=""/>
          <p:cNvSpPr/>
          <p:nvPr/>
        </p:nvSpPr>
        <p:spPr bwMode="auto">
          <a:xfrm rot="0" flipH="0" flipV="0">
            <a:off x="5854759" y="236419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89169781" name=""/>
          <p:cNvSpPr/>
          <p:nvPr/>
        </p:nvSpPr>
        <p:spPr bwMode="auto">
          <a:xfrm rot="0" flipH="0" flipV="0">
            <a:off x="9637911" y="80387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24097242" name=""/>
          <p:cNvSpPr/>
          <p:nvPr/>
        </p:nvSpPr>
        <p:spPr bwMode="auto">
          <a:xfrm rot="0" flipH="0" flipV="0">
            <a:off x="6977989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571360088" name=""/>
          <p:cNvSpPr/>
          <p:nvPr/>
        </p:nvSpPr>
        <p:spPr bwMode="auto">
          <a:xfrm rot="0" flipH="0" flipV="0">
            <a:off x="8029589" y="2327052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05734499" name=""/>
          <p:cNvSpPr/>
          <p:nvPr/>
        </p:nvSpPr>
        <p:spPr bwMode="auto">
          <a:xfrm rot="0" flipH="0" flipV="0">
            <a:off x="9076950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32907177" name=""/>
          <p:cNvSpPr/>
          <p:nvPr/>
        </p:nvSpPr>
        <p:spPr bwMode="auto">
          <a:xfrm rot="0" flipH="0" flipV="0">
            <a:off x="10169216" y="233371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29797956" name=""/>
          <p:cNvSpPr/>
          <p:nvPr/>
        </p:nvSpPr>
        <p:spPr bwMode="auto">
          <a:xfrm rot="0" flipH="0" flipV="0">
            <a:off x="11201560" y="231828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90919271" name=""/>
          <p:cNvSpPr txBox="1"/>
          <p:nvPr/>
        </p:nvSpPr>
        <p:spPr bwMode="auto">
          <a:xfrm rot="0" flipH="0" flipV="0">
            <a:off x="2666084" y="2421820"/>
            <a:ext cx="7783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E3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叙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餐</a:t>
            </a:r>
            <a:endParaRPr/>
          </a:p>
        </p:txBody>
      </p:sp>
      <p:sp>
        <p:nvSpPr>
          <p:cNvPr id="1094661942" name=""/>
          <p:cNvSpPr/>
          <p:nvPr/>
        </p:nvSpPr>
        <p:spPr bwMode="auto">
          <a:xfrm rot="0" flipH="0" flipV="0">
            <a:off x="5166216" y="803872"/>
            <a:ext cx="865917" cy="1005044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0340477" name=""/>
          <p:cNvSpPr txBox="1"/>
          <p:nvPr/>
        </p:nvSpPr>
        <p:spPr bwMode="auto">
          <a:xfrm rot="0" flipH="0" flipV="0">
            <a:off x="5166216" y="803872"/>
            <a:ext cx="124472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E1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首頁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64350993" name=""/>
          <p:cNvSpPr txBox="1"/>
          <p:nvPr/>
        </p:nvSpPr>
        <p:spPr bwMode="auto">
          <a:xfrm rot="0" flipH="0" flipV="0">
            <a:off x="9645631" y="803872"/>
            <a:ext cx="74119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E7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搜尋</a:t>
            </a:r>
            <a:r>
              <a:rPr sz="1600"/>
              <a:t>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38704074" name=""/>
          <p:cNvSpPr txBox="1"/>
          <p:nvPr/>
        </p:nvSpPr>
        <p:spPr bwMode="auto">
          <a:xfrm rot="0" flipH="0" flipV="0">
            <a:off x="3720603" y="2421820"/>
            <a:ext cx="78017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相親旅行</a:t>
            </a:r>
            <a:endParaRPr sz="1600"/>
          </a:p>
        </p:txBody>
      </p:sp>
      <p:sp>
        <p:nvSpPr>
          <p:cNvPr id="600777105" name=""/>
          <p:cNvSpPr txBox="1"/>
          <p:nvPr/>
        </p:nvSpPr>
        <p:spPr bwMode="auto">
          <a:xfrm rot="0" flipH="0" flipV="0">
            <a:off x="4771729" y="2394679"/>
            <a:ext cx="78161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E5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性格測試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66005399" name=""/>
          <p:cNvSpPr txBox="1"/>
          <p:nvPr/>
        </p:nvSpPr>
        <p:spPr bwMode="auto">
          <a:xfrm rot="0" flipH="0" flipV="0">
            <a:off x="5854759" y="2364199"/>
            <a:ext cx="78341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E6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72191884" name=""/>
          <p:cNvSpPr txBox="1"/>
          <p:nvPr/>
        </p:nvSpPr>
        <p:spPr bwMode="auto">
          <a:xfrm rot="0" flipH="0" flipV="0">
            <a:off x="6977989" y="2364199"/>
            <a:ext cx="68390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E8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97220655" name=""/>
          <p:cNvSpPr txBox="1"/>
          <p:nvPr/>
        </p:nvSpPr>
        <p:spPr bwMode="auto">
          <a:xfrm rot="0" flipH="0" flipV="0">
            <a:off x="8029589" y="2357532"/>
            <a:ext cx="68214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其他服務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34759672" name=""/>
          <p:cNvSpPr txBox="1"/>
          <p:nvPr/>
        </p:nvSpPr>
        <p:spPr bwMode="auto">
          <a:xfrm rot="0" flipH="0" flipV="0">
            <a:off x="9076950" y="2333719"/>
            <a:ext cx="68430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E10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22680760" name=""/>
          <p:cNvSpPr txBox="1"/>
          <p:nvPr/>
        </p:nvSpPr>
        <p:spPr bwMode="auto">
          <a:xfrm rot="0" flipH="0" flipV="0">
            <a:off x="10169216" y="2333719"/>
            <a:ext cx="685026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E11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72238388" name=""/>
          <p:cNvSpPr txBox="1"/>
          <p:nvPr/>
        </p:nvSpPr>
        <p:spPr bwMode="auto">
          <a:xfrm rot="0" flipH="0" flipV="0">
            <a:off x="11201560" y="2318289"/>
            <a:ext cx="686466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E12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付款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117703746" name=""/>
          <p:cNvSpPr/>
          <p:nvPr/>
        </p:nvSpPr>
        <p:spPr bwMode="auto">
          <a:xfrm rot="0" flipH="0" flipV="0">
            <a:off x="4751724" y="3946418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532362609" name=""/>
          <p:cNvSpPr txBox="1"/>
          <p:nvPr/>
        </p:nvSpPr>
        <p:spPr bwMode="auto">
          <a:xfrm rot="0" flipH="0" flipV="0">
            <a:off x="4751724" y="3946418"/>
            <a:ext cx="773868" cy="82644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E５.１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九型人格</a:t>
            </a:r>
            <a:endParaRPr sz="1600" b="0" i="0" u="none" strike="noStrike" cap="none" spc="0">
              <a:solidFill>
                <a:srgbClr val="000000"/>
              </a:solidFill>
              <a:latin typeface="Linux Biolinum O"/>
              <a:cs typeface="Linux Biolinum O"/>
            </a:endParaRPr>
          </a:p>
        </p:txBody>
      </p:sp>
      <p:sp>
        <p:nvSpPr>
          <p:cNvPr id="1623331649" name=""/>
          <p:cNvSpPr/>
          <p:nvPr/>
        </p:nvSpPr>
        <p:spPr bwMode="auto">
          <a:xfrm rot="0" flipH="0" flipV="0">
            <a:off x="3359028" y="3953085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62208602" name=""/>
          <p:cNvSpPr txBox="1"/>
          <p:nvPr/>
        </p:nvSpPr>
        <p:spPr bwMode="auto">
          <a:xfrm rot="0" flipH="0" flipV="0">
            <a:off x="3359028" y="3953085"/>
            <a:ext cx="994591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E５.２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測試結果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26911996" name=""/>
          <p:cNvSpPr/>
          <p:nvPr/>
        </p:nvSpPr>
        <p:spPr bwMode="auto">
          <a:xfrm rot="0" flipH="0" flipV="0">
            <a:off x="5854759" y="496835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88125557" name=""/>
          <p:cNvSpPr/>
          <p:nvPr/>
        </p:nvSpPr>
        <p:spPr bwMode="auto">
          <a:xfrm rot="0" flipH="0" flipV="0">
            <a:off x="6977989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42042838" name=""/>
          <p:cNvSpPr/>
          <p:nvPr/>
        </p:nvSpPr>
        <p:spPr bwMode="auto">
          <a:xfrm rot="0" flipH="0" flipV="0">
            <a:off x="8029589" y="493120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35659349" name=""/>
          <p:cNvSpPr/>
          <p:nvPr/>
        </p:nvSpPr>
        <p:spPr bwMode="auto">
          <a:xfrm rot="0" flipH="0" flipV="0">
            <a:off x="9076950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085231378" name=""/>
          <p:cNvSpPr/>
          <p:nvPr/>
        </p:nvSpPr>
        <p:spPr bwMode="auto">
          <a:xfrm rot="0" flipH="0" flipV="0">
            <a:off x="10169216" y="4937870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44762821" name=""/>
          <p:cNvSpPr/>
          <p:nvPr/>
        </p:nvSpPr>
        <p:spPr bwMode="auto">
          <a:xfrm rot="0" flipH="0" flipV="0">
            <a:off x="11201560" y="4910433"/>
            <a:ext cx="873639" cy="1030383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45474097" name=""/>
          <p:cNvSpPr txBox="1"/>
          <p:nvPr/>
        </p:nvSpPr>
        <p:spPr bwMode="auto">
          <a:xfrm rot="0" flipH="0" flipV="0">
            <a:off x="5854759" y="4968351"/>
            <a:ext cx="78845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E９.１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婚禮籌辦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61982942" name=""/>
          <p:cNvSpPr txBox="1"/>
          <p:nvPr/>
        </p:nvSpPr>
        <p:spPr bwMode="auto">
          <a:xfrm rot="0" flipH="0" flipV="0">
            <a:off x="6977989" y="4968350"/>
            <a:ext cx="789105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E９.２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心理輔導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11843609" name=""/>
          <p:cNvSpPr txBox="1"/>
          <p:nvPr/>
        </p:nvSpPr>
        <p:spPr bwMode="auto">
          <a:xfrm rot="0" flipH="0" flipV="0">
            <a:off x="8029589" y="4961683"/>
            <a:ext cx="785254" cy="830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E９.３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醫療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檢查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59854030" name=""/>
          <p:cNvSpPr txBox="1"/>
          <p:nvPr/>
        </p:nvSpPr>
        <p:spPr bwMode="auto">
          <a:xfrm rot="0" flipH="0" flipV="0">
            <a:off x="9076950" y="4937870"/>
            <a:ext cx="78564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E９.４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親子鑑定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79757407" name=""/>
          <p:cNvSpPr txBox="1"/>
          <p:nvPr/>
        </p:nvSpPr>
        <p:spPr bwMode="auto">
          <a:xfrm rot="0" flipH="0" flipV="0">
            <a:off x="10170026" y="4937870"/>
            <a:ext cx="805258" cy="5884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E９.５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分手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1581410" name=""/>
          <p:cNvSpPr txBox="1"/>
          <p:nvPr/>
        </p:nvSpPr>
        <p:spPr bwMode="auto">
          <a:xfrm rot="0" flipH="0" flipV="0">
            <a:off x="11202460" y="4916648"/>
            <a:ext cx="78738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E９.６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遺產繼承</a:t>
            </a:r>
            <a:endParaRPr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758793865" name=""/>
          <p:cNvSpPr/>
          <p:nvPr/>
        </p:nvSpPr>
        <p:spPr bwMode="auto">
          <a:xfrm rot="0" flipH="0" flipV="0">
            <a:off x="370104" y="5643466"/>
            <a:ext cx="873639" cy="1078007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40848859" name=""/>
          <p:cNvSpPr txBox="1"/>
          <p:nvPr/>
        </p:nvSpPr>
        <p:spPr bwMode="auto">
          <a:xfrm rot="0" flipH="0" flipV="0">
            <a:off x="367224" y="5643466"/>
            <a:ext cx="732370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E１３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1600"/>
          </a:p>
        </p:txBody>
      </p:sp>
      <p:sp>
        <p:nvSpPr>
          <p:cNvPr id="1027877186" name=""/>
          <p:cNvSpPr/>
          <p:nvPr/>
        </p:nvSpPr>
        <p:spPr bwMode="auto">
          <a:xfrm rot="0" flipH="0" flipV="0">
            <a:off x="1463481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2062896661" name=""/>
          <p:cNvSpPr/>
          <p:nvPr/>
        </p:nvSpPr>
        <p:spPr bwMode="auto">
          <a:xfrm rot="0" flipH="0" flipV="0">
            <a:off x="2518000" y="5667279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819068870" name=""/>
          <p:cNvSpPr/>
          <p:nvPr/>
        </p:nvSpPr>
        <p:spPr bwMode="auto">
          <a:xfrm rot="0" flipH="0" flipV="0">
            <a:off x="3569125" y="5640138"/>
            <a:ext cx="873639" cy="1030383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391421210" name=""/>
          <p:cNvSpPr txBox="1"/>
          <p:nvPr/>
        </p:nvSpPr>
        <p:spPr bwMode="auto">
          <a:xfrm rot="0" flipH="0" flipV="0">
            <a:off x="1463481" y="5667279"/>
            <a:ext cx="780533" cy="7989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E１４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52669908" name=""/>
          <p:cNvSpPr txBox="1"/>
          <p:nvPr/>
        </p:nvSpPr>
        <p:spPr bwMode="auto">
          <a:xfrm rot="0" flipH="0" flipV="0">
            <a:off x="2518000" y="5667279"/>
            <a:ext cx="781613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E１５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endParaRPr/>
          </a:p>
        </p:txBody>
      </p:sp>
      <p:sp>
        <p:nvSpPr>
          <p:cNvPr id="491911367" name=""/>
          <p:cNvSpPr txBox="1"/>
          <p:nvPr/>
        </p:nvSpPr>
        <p:spPr bwMode="auto">
          <a:xfrm rot="0" flipH="0" flipV="0">
            <a:off x="3569125" y="5640138"/>
            <a:ext cx="783414" cy="83232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  <a:t>E１６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626823023" name=""/>
          <p:cNvCxnSpPr/>
          <p:nvPr/>
        </p:nvCxnSpPr>
        <p:spPr bwMode="auto">
          <a:xfrm flipH="0" flipV="1">
            <a:off x="2014846" y="1983644"/>
            <a:ext cx="979206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435714" name=""/>
          <p:cNvCxnSpPr>
            <a:endCxn id="489169781" idx="1"/>
          </p:cNvCxnSpPr>
          <p:nvPr/>
        </p:nvCxnSpPr>
        <p:spPr bwMode="auto">
          <a:xfrm rot="0" flipH="0" flipV="0">
            <a:off x="6032134" y="1312729"/>
            <a:ext cx="3605775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317598" name=""/>
          <p:cNvCxnSpPr/>
          <p:nvPr/>
        </p:nvCxnSpPr>
        <p:spPr bwMode="auto">
          <a:xfrm rot="0" flipH="1" flipV="0">
            <a:off x="5788401" y="1650999"/>
            <a:ext cx="0" cy="332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712207" name=""/>
          <p:cNvCxnSpPr/>
          <p:nvPr/>
        </p:nvCxnSpPr>
        <p:spPr bwMode="auto">
          <a:xfrm rot="0" flipH="1" flipV="0">
            <a:off x="2014846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88679" name=""/>
          <p:cNvCxnSpPr/>
          <p:nvPr/>
        </p:nvCxnSpPr>
        <p:spPr bwMode="auto">
          <a:xfrm rot="0" flipH="1" flipV="0">
            <a:off x="3055091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858441" name=""/>
          <p:cNvCxnSpPr/>
          <p:nvPr/>
        </p:nvCxnSpPr>
        <p:spPr bwMode="auto">
          <a:xfrm rot="0" flipH="1" flipV="0">
            <a:off x="4110331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068869" name=""/>
          <p:cNvCxnSpPr/>
          <p:nvPr/>
        </p:nvCxnSpPr>
        <p:spPr bwMode="auto">
          <a:xfrm rot="0" flipH="1" flipV="0">
            <a:off x="5208548" y="2010785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571843" name=""/>
          <p:cNvCxnSpPr/>
          <p:nvPr/>
        </p:nvCxnSpPr>
        <p:spPr bwMode="auto">
          <a:xfrm rot="0" flipH="1" flipV="0">
            <a:off x="6219977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3140296" name=""/>
          <p:cNvCxnSpPr/>
          <p:nvPr/>
        </p:nvCxnSpPr>
        <p:spPr bwMode="auto">
          <a:xfrm rot="0" flipH="1" flipV="0">
            <a:off x="73859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8254062" name=""/>
          <p:cNvCxnSpPr/>
          <p:nvPr/>
        </p:nvCxnSpPr>
        <p:spPr bwMode="auto">
          <a:xfrm rot="0" flipH="1" flipV="0">
            <a:off x="8437579" y="1986972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195803" name=""/>
          <p:cNvCxnSpPr/>
          <p:nvPr/>
        </p:nvCxnSpPr>
        <p:spPr bwMode="auto">
          <a:xfrm rot="0" flipH="1" flipV="0">
            <a:off x="9484940" y="198364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994499" name=""/>
          <p:cNvCxnSpPr/>
          <p:nvPr/>
        </p:nvCxnSpPr>
        <p:spPr bwMode="auto">
          <a:xfrm rot="0" flipH="1" flipV="0">
            <a:off x="10606035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603073" name=""/>
          <p:cNvCxnSpPr/>
          <p:nvPr/>
        </p:nvCxnSpPr>
        <p:spPr bwMode="auto">
          <a:xfrm rot="0" flipH="1" flipV="0">
            <a:off x="11806909" y="1953164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546406" name=""/>
          <p:cNvCxnSpPr/>
          <p:nvPr/>
        </p:nvCxnSpPr>
        <p:spPr bwMode="auto">
          <a:xfrm flipH="0" flipV="1">
            <a:off x="1098874" y="1319064"/>
            <a:ext cx="4075384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4524590" name=""/>
          <p:cNvCxnSpPr/>
          <p:nvPr/>
        </p:nvCxnSpPr>
        <p:spPr bwMode="auto">
          <a:xfrm flipH="0" flipV="1">
            <a:off x="694888" y="5270499"/>
            <a:ext cx="332751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9541669" name=""/>
          <p:cNvCxnSpPr/>
          <p:nvPr/>
        </p:nvCxnSpPr>
        <p:spPr bwMode="auto">
          <a:xfrm rot="0" flipH="1" flipV="0">
            <a:off x="1098874" y="1306395"/>
            <a:ext cx="0" cy="396410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8102785" name=""/>
          <p:cNvCxnSpPr/>
          <p:nvPr/>
        </p:nvCxnSpPr>
        <p:spPr bwMode="auto">
          <a:xfrm rot="0" flipH="1" flipV="0">
            <a:off x="694888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155656" name=""/>
          <p:cNvCxnSpPr/>
          <p:nvPr/>
        </p:nvCxnSpPr>
        <p:spPr bwMode="auto">
          <a:xfrm rot="0" flipH="1" flipV="0">
            <a:off x="1900300" y="5278341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941864" name=""/>
          <p:cNvCxnSpPr/>
          <p:nvPr/>
        </p:nvCxnSpPr>
        <p:spPr bwMode="auto">
          <a:xfrm rot="0" flipH="1" flipV="0">
            <a:off x="2954820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973906" name=""/>
          <p:cNvCxnSpPr/>
          <p:nvPr/>
        </p:nvCxnSpPr>
        <p:spPr bwMode="auto">
          <a:xfrm rot="0" flipH="1" flipV="0">
            <a:off x="4005945" y="5270499"/>
            <a:ext cx="0" cy="36512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728783" name=""/>
          <p:cNvCxnSpPr>
            <a:endCxn id="1532362609" idx="0"/>
          </p:cNvCxnSpPr>
          <p:nvPr/>
        </p:nvCxnSpPr>
        <p:spPr bwMode="auto">
          <a:xfrm rot="5400000" flipH="0" flipV="1">
            <a:off x="4876002" y="3687708"/>
            <a:ext cx="51741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296113" name=""/>
          <p:cNvCxnSpPr>
            <a:stCxn id="1532362609" idx="1"/>
          </p:cNvCxnSpPr>
          <p:nvPr/>
        </p:nvCxnSpPr>
        <p:spPr bwMode="auto">
          <a:xfrm rot="10800000" flipH="0" flipV="0">
            <a:off x="4273874" y="4354694"/>
            <a:ext cx="477849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0807442" name=""/>
          <p:cNvCxnSpPr/>
          <p:nvPr/>
        </p:nvCxnSpPr>
        <p:spPr bwMode="auto">
          <a:xfrm flipH="0" flipV="1">
            <a:off x="6399887" y="4354694"/>
            <a:ext cx="514652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41240" name=""/>
          <p:cNvCxnSpPr/>
          <p:nvPr/>
        </p:nvCxnSpPr>
        <p:spPr bwMode="auto">
          <a:xfrm rot="5400000" flipH="0" flipV="1">
            <a:off x="7922803" y="3803223"/>
            <a:ext cx="102955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436532" name=""/>
          <p:cNvCxnSpPr/>
          <p:nvPr/>
        </p:nvCxnSpPr>
        <p:spPr bwMode="auto">
          <a:xfrm rot="0" flipH="1" flipV="0">
            <a:off x="6410585" y="436924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039360" name=""/>
          <p:cNvCxnSpPr/>
          <p:nvPr/>
        </p:nvCxnSpPr>
        <p:spPr bwMode="auto">
          <a:xfrm rot="0" flipH="1" flipV="0">
            <a:off x="7320840" y="4369249"/>
            <a:ext cx="0" cy="54118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836062" name=""/>
          <p:cNvCxnSpPr/>
          <p:nvPr/>
        </p:nvCxnSpPr>
        <p:spPr bwMode="auto">
          <a:xfrm rot="0" flipH="1" flipV="0">
            <a:off x="8437579" y="4317999"/>
            <a:ext cx="0" cy="5924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7958" name=""/>
          <p:cNvCxnSpPr/>
          <p:nvPr/>
        </p:nvCxnSpPr>
        <p:spPr bwMode="auto">
          <a:xfrm rot="5400000" flipH="0" flipV="0">
            <a:off x="9149592" y="4639841"/>
            <a:ext cx="5411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558682" name=""/>
          <p:cNvCxnSpPr/>
          <p:nvPr/>
        </p:nvCxnSpPr>
        <p:spPr bwMode="auto">
          <a:xfrm rot="5400000" flipH="0" flipV="0">
            <a:off x="10228679" y="4653560"/>
            <a:ext cx="56862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825358" name=""/>
          <p:cNvCxnSpPr/>
          <p:nvPr/>
        </p:nvCxnSpPr>
        <p:spPr bwMode="auto">
          <a:xfrm rot="5400000" flipH="0" flipV="1">
            <a:off x="11265436" y="4635671"/>
            <a:ext cx="56195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03347948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487977" name="TextBox 20"/>
          <p:cNvSpPr txBox="1"/>
          <p:nvPr/>
        </p:nvSpPr>
        <p:spPr bwMode="auto">
          <a:xfrm>
            <a:off x="0" y="646290"/>
            <a:ext cx="8262320" cy="469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endParaRPr lang="en-US" sz="2400"/>
          </a:p>
        </p:txBody>
      </p:sp>
      <p:sp>
        <p:nvSpPr>
          <p:cNvPr id="204187866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sp>
        <p:nvSpPr>
          <p:cNvPr id="658474863" name="Google Shape;90;p1"/>
          <p:cNvSpPr txBox="1"/>
          <p:nvPr/>
        </p:nvSpPr>
        <p:spPr bwMode="auto">
          <a:xfrm>
            <a:off x="-45718" y="-2891"/>
            <a:ext cx="12283436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706224614" name=""/>
          <p:cNvSpPr txBox="1"/>
          <p:nvPr/>
        </p:nvSpPr>
        <p:spPr bwMode="auto">
          <a:xfrm rot="0" flipH="0" flipV="0">
            <a:off x="9857862" y="662519"/>
            <a:ext cx="1826648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-總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7365067" name=""/>
          <p:cNvSpPr txBox="1"/>
          <p:nvPr/>
        </p:nvSpPr>
        <p:spPr bwMode="auto">
          <a:xfrm rot="0" flipH="0" flipV="0">
            <a:off x="103092" y="1115370"/>
            <a:ext cx="11907689" cy="4052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頂層(一</a:t>
            </a:r>
            <a:r>
              <a:rPr sz="2000"/>
              <a:t>)</a:t>
            </a:r>
            <a:endParaRPr sz="2000"/>
          </a:p>
        </p:txBody>
      </p:sp>
      <p:sp>
        <p:nvSpPr>
          <p:cNvPr id="540032590" name=""/>
          <p:cNvSpPr txBox="1"/>
          <p:nvPr/>
        </p:nvSpPr>
        <p:spPr bwMode="auto">
          <a:xfrm rot="0" flipH="0" flipV="0">
            <a:off x="103092" y="1616363"/>
            <a:ext cx="11911289" cy="4052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頂層(二</a:t>
            </a:r>
            <a:r>
              <a:rPr sz="2000"/>
              <a:t>)</a:t>
            </a:r>
            <a:endParaRPr sz="2000"/>
          </a:p>
        </p:txBody>
      </p:sp>
      <p:sp>
        <p:nvSpPr>
          <p:cNvPr id="2038088763" name=""/>
          <p:cNvSpPr txBox="1"/>
          <p:nvPr/>
        </p:nvSpPr>
        <p:spPr bwMode="auto">
          <a:xfrm rot="0" flipH="0" flipV="0">
            <a:off x="140355" y="6316203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971106048" name=""/>
          <p:cNvSpPr txBox="1"/>
          <p:nvPr/>
        </p:nvSpPr>
        <p:spPr bwMode="auto">
          <a:xfrm rot="0" flipH="0" flipV="0">
            <a:off x="94092" y="2159839"/>
            <a:ext cx="11929289" cy="40541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r>
              <a:rPr sz="2000"/>
              <a:t>內容</a:t>
            </a: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  <a:p>
            <a:pPr algn="ctr"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9672565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88023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34806330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425202603" name=""/>
          <p:cNvSpPr txBox="1"/>
          <p:nvPr/>
        </p:nvSpPr>
        <p:spPr bwMode="auto">
          <a:xfrm rot="0" flipH="0" flipV="0">
            <a:off x="9789162" y="662519"/>
            <a:ext cx="222269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頂層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(一)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771913" name=""/>
          <p:cNvSpPr txBox="1"/>
          <p:nvPr/>
        </p:nvSpPr>
        <p:spPr bwMode="auto">
          <a:xfrm rot="0" flipH="0" flipV="0">
            <a:off x="103092" y="1115370"/>
            <a:ext cx="11907689" cy="4052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頂層(一</a:t>
            </a:r>
            <a:r>
              <a:rPr sz="2000"/>
              <a:t>)</a:t>
            </a:r>
            <a:endParaRPr sz="2000"/>
          </a:p>
        </p:txBody>
      </p:sp>
      <p:sp>
        <p:nvSpPr>
          <p:cNvPr id="287795518" name=""/>
          <p:cNvSpPr txBox="1"/>
          <p:nvPr/>
        </p:nvSpPr>
        <p:spPr bwMode="auto">
          <a:xfrm rot="0" flipH="0" flipV="0">
            <a:off x="248522" y="2222499"/>
            <a:ext cx="1091405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89493984" name=""/>
          <p:cNvSpPr/>
          <p:nvPr/>
        </p:nvSpPr>
        <p:spPr bwMode="auto">
          <a:xfrm rot="0" flipH="0" flipV="0">
            <a:off x="103092" y="1738855"/>
            <a:ext cx="11908049" cy="14179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14300" name="Google Shape;90;p1"/>
          <p:cNvSpPr txBox="1"/>
          <p:nvPr/>
        </p:nvSpPr>
        <p:spPr bwMode="auto">
          <a:xfrm flipH="0" flipV="0">
            <a:off x="1734999" y="2222499"/>
            <a:ext cx="8962878" cy="82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 algn="l">
              <a:defRPr/>
            </a:pPr>
            <a:r>
              <a:rPr lang="zh-TW" sz="240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endParaRPr sz="2400" b="0" i="0" u="none" strike="noStrike" cap="none">
              <a:solidFill>
                <a:schemeClr val="tx1"/>
              </a:solidFill>
              <a:latin typeface="Arial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(Lanshan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Matchmaking and Marriage &amp; Family Services Co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 Ltd</a:t>
            </a:r>
            <a:r>
              <a:rPr sz="2400"/>
              <a:t>)</a:t>
            </a:r>
            <a:endParaRPr sz="2400"/>
          </a:p>
        </p:txBody>
      </p:sp>
      <p:cxnSp>
        <p:nvCxnSpPr>
          <p:cNvPr id="422611682" name=""/>
          <p:cNvCxnSpPr/>
          <p:nvPr/>
        </p:nvCxnSpPr>
        <p:spPr bwMode="auto">
          <a:xfrm rot="0" flipH="0" flipV="1">
            <a:off x="869450" y="3218295"/>
            <a:ext cx="0" cy="189056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5965307" name=""/>
          <p:cNvSpPr txBox="1"/>
          <p:nvPr/>
        </p:nvSpPr>
        <p:spPr bwMode="auto">
          <a:xfrm rot="0" flipH="0" flipV="0">
            <a:off x="103092" y="5108863"/>
            <a:ext cx="1762513" cy="7187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:轉手指.</a:t>
            </a:r>
            <a:endParaRPr lang="en-US" sz="20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按下:跳</a:t>
            </a:r>
            <a:r>
              <a:rPr sz="2000"/>
              <a:t>到E1</a:t>
            </a:r>
            <a:r>
              <a:rPr sz="2000"/>
              <a:t>.</a:t>
            </a:r>
            <a:endParaRPr sz="2000"/>
          </a:p>
        </p:txBody>
      </p:sp>
      <p:cxnSp>
        <p:nvCxnSpPr>
          <p:cNvPr id="962810068" name=""/>
          <p:cNvCxnSpPr/>
          <p:nvPr/>
        </p:nvCxnSpPr>
        <p:spPr bwMode="auto">
          <a:xfrm rot="0" flipH="0" flipV="1">
            <a:off x="5805132" y="3218295"/>
            <a:ext cx="0" cy="189056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8331539" name=""/>
          <p:cNvSpPr txBox="1"/>
          <p:nvPr/>
        </p:nvSpPr>
        <p:spPr bwMode="auto">
          <a:xfrm rot="0" flipH="0" flipV="0">
            <a:off x="5053206" y="5108863"/>
            <a:ext cx="1675922" cy="7187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sz="2000"/>
              <a:t>.</a:t>
            </a:r>
            <a:endParaRPr lang="en-US" sz="20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按下:跳</a:t>
            </a:r>
            <a:r>
              <a:rPr sz="2000"/>
              <a:t>到E1.</a:t>
            </a:r>
            <a:endParaRPr sz="2000"/>
          </a:p>
        </p:txBody>
      </p:sp>
      <p:sp>
        <p:nvSpPr>
          <p:cNvPr id="1050531148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3F11F83-8D87-CCC2-6EC3-51CD16777285}" type="slidenum">
              <a:rPr lang="en-US"/>
              <a:t>12</a:t>
            </a:fld>
            <a:endParaRPr/>
          </a:p>
        </p:txBody>
      </p:sp>
      <p:sp>
        <p:nvSpPr>
          <p:cNvPr id="1614843578" name=""/>
          <p:cNvSpPr txBox="1"/>
          <p:nvPr/>
        </p:nvSpPr>
        <p:spPr bwMode="auto">
          <a:xfrm rot="0" flipH="0" flipV="0">
            <a:off x="290378" y="2115999"/>
            <a:ext cx="144462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48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闌珊</a:t>
            </a:r>
            <a:endParaRPr sz="4800">
              <a:solidFill>
                <a:srgbClr val="C0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3765583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22543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77966689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33941590" name=""/>
          <p:cNvSpPr txBox="1"/>
          <p:nvPr/>
        </p:nvSpPr>
        <p:spPr bwMode="auto">
          <a:xfrm rot="0" flipH="0" flipV="0">
            <a:off x="9789162" y="662519"/>
            <a:ext cx="222629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頂層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2830382" name=""/>
          <p:cNvSpPr txBox="1"/>
          <p:nvPr/>
        </p:nvSpPr>
        <p:spPr bwMode="auto">
          <a:xfrm rot="0" flipH="0" flipV="0">
            <a:off x="103092" y="1115370"/>
            <a:ext cx="11911289" cy="4052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頂層(二</a:t>
            </a:r>
            <a:r>
              <a:rPr sz="2000"/>
              <a:t>)</a:t>
            </a:r>
            <a:endParaRPr sz="2000"/>
          </a:p>
        </p:txBody>
      </p:sp>
      <p:sp>
        <p:nvSpPr>
          <p:cNvPr id="1653732193" name=""/>
          <p:cNvSpPr/>
          <p:nvPr/>
        </p:nvSpPr>
        <p:spPr bwMode="auto">
          <a:xfrm rot="0" flipH="0" flipV="0">
            <a:off x="106693" y="1724599"/>
            <a:ext cx="11908048" cy="1407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179450" name=""/>
          <p:cNvSpPr txBox="1"/>
          <p:nvPr/>
        </p:nvSpPr>
        <p:spPr bwMode="auto">
          <a:xfrm rot="0" flipH="0" flipV="0">
            <a:off x="194189" y="2395388"/>
            <a:ext cx="8752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首頁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724458250" name=""/>
          <p:cNvSpPr txBox="1"/>
          <p:nvPr/>
        </p:nvSpPr>
        <p:spPr bwMode="auto">
          <a:xfrm rot="0" flipH="0" flipV="0">
            <a:off x="2254153" y="2043777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性格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測試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77956400" name=""/>
          <p:cNvSpPr txBox="1"/>
          <p:nvPr/>
        </p:nvSpPr>
        <p:spPr bwMode="auto">
          <a:xfrm rot="0" flipH="0" flipV="0">
            <a:off x="3369138" y="2029628"/>
            <a:ext cx="844292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安裝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33712856" name=""/>
          <p:cNvSpPr txBox="1"/>
          <p:nvPr/>
        </p:nvSpPr>
        <p:spPr bwMode="auto">
          <a:xfrm rot="0" flipH="0" flipV="0">
            <a:off x="4449818" y="2016579"/>
            <a:ext cx="815429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會員登入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11421270" name=""/>
          <p:cNvSpPr txBox="1"/>
          <p:nvPr/>
        </p:nvSpPr>
        <p:spPr bwMode="auto">
          <a:xfrm rot="0" flipH="0" flipV="0">
            <a:off x="5540398" y="1997877"/>
            <a:ext cx="829861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70421418" name=""/>
          <p:cNvSpPr txBox="1"/>
          <p:nvPr/>
        </p:nvSpPr>
        <p:spPr bwMode="auto">
          <a:xfrm rot="0" flipH="0" flipV="0">
            <a:off x="6687620" y="1997877"/>
            <a:ext cx="823333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33060095" name=""/>
          <p:cNvSpPr txBox="1"/>
          <p:nvPr/>
        </p:nvSpPr>
        <p:spPr bwMode="auto">
          <a:xfrm rot="0" flipH="0" flipV="0">
            <a:off x="7780036" y="2016579"/>
            <a:ext cx="836924" cy="82331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關於我們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977934" name=""/>
          <p:cNvSpPr txBox="1"/>
          <p:nvPr/>
        </p:nvSpPr>
        <p:spPr bwMode="auto">
          <a:xfrm rot="0" flipH="0" flipV="0">
            <a:off x="8889476" y="2363637"/>
            <a:ext cx="88758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付款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04569505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122378" y="2161539"/>
            <a:ext cx="1862389" cy="533399"/>
          </a:xfrm>
          <a:prstGeom prst="rect">
            <a:avLst/>
          </a:prstGeom>
        </p:spPr>
      </p:pic>
      <p:sp>
        <p:nvSpPr>
          <p:cNvPr id="1394926873" name=""/>
          <p:cNvSpPr/>
          <p:nvPr/>
        </p:nvSpPr>
        <p:spPr bwMode="auto">
          <a:xfrm rot="0" flipH="0" flipV="0">
            <a:off x="10021182" y="1983728"/>
            <a:ext cx="1963586" cy="837469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141916" name=""/>
          <p:cNvSpPr txBox="1"/>
          <p:nvPr/>
        </p:nvSpPr>
        <p:spPr bwMode="auto">
          <a:xfrm rot="0" flipH="0" flipV="0">
            <a:off x="103091" y="3521363"/>
            <a:ext cx="1577308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78376580" name=""/>
          <p:cNvCxnSpPr/>
          <p:nvPr/>
        </p:nvCxnSpPr>
        <p:spPr bwMode="auto">
          <a:xfrm rot="0" flipH="0" flipV="1">
            <a:off x="627503" y="2867097"/>
            <a:ext cx="0" cy="654265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293118" name=""/>
          <p:cNvCxnSpPr/>
          <p:nvPr/>
        </p:nvCxnSpPr>
        <p:spPr bwMode="auto">
          <a:xfrm rot="0" flipH="0" flipV="1">
            <a:off x="2616649" y="2867097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02231" name=""/>
          <p:cNvSpPr txBox="1"/>
          <p:nvPr/>
        </p:nvSpPr>
        <p:spPr bwMode="auto">
          <a:xfrm rot="0" flipH="0" flipV="0">
            <a:off x="1937879" y="4606957"/>
            <a:ext cx="135753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75768031" name=""/>
          <p:cNvCxnSpPr/>
          <p:nvPr/>
        </p:nvCxnSpPr>
        <p:spPr bwMode="auto">
          <a:xfrm rot="0" flipH="0" flipV="1">
            <a:off x="3727033" y="2867097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878455" name=""/>
          <p:cNvSpPr txBox="1"/>
          <p:nvPr/>
        </p:nvSpPr>
        <p:spPr bwMode="auto">
          <a:xfrm rot="0" flipH="0" flipV="0">
            <a:off x="3047903" y="5341438"/>
            <a:ext cx="135825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69001432" name=""/>
          <p:cNvCxnSpPr/>
          <p:nvPr/>
        </p:nvCxnSpPr>
        <p:spPr bwMode="auto">
          <a:xfrm rot="16199998" flipH="0" flipV="1">
            <a:off x="3235933" y="4437494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1107267" name=""/>
          <p:cNvSpPr txBox="1"/>
          <p:nvPr/>
        </p:nvSpPr>
        <p:spPr bwMode="auto">
          <a:xfrm rot="0" flipH="0" flipV="0">
            <a:off x="4178043" y="6007890"/>
            <a:ext cx="135897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到E8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2583330" name=""/>
          <p:cNvCxnSpPr/>
          <p:nvPr/>
        </p:nvCxnSpPr>
        <p:spPr bwMode="auto">
          <a:xfrm rot="16199998" flipH="0" flipV="1">
            <a:off x="5643461" y="3133065"/>
            <a:ext cx="62373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3576403" name=""/>
          <p:cNvSpPr txBox="1"/>
          <p:nvPr/>
        </p:nvSpPr>
        <p:spPr bwMode="auto">
          <a:xfrm rot="0" flipH="0" flipV="0">
            <a:off x="5265247" y="3440350"/>
            <a:ext cx="1359699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到E9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1617289" name=""/>
          <p:cNvCxnSpPr/>
          <p:nvPr/>
        </p:nvCxnSpPr>
        <p:spPr bwMode="auto">
          <a:xfrm rot="0" flipH="0" flipV="1">
            <a:off x="7099286" y="2839899"/>
            <a:ext cx="0" cy="173985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0061472" name=""/>
          <p:cNvSpPr txBox="1"/>
          <p:nvPr/>
        </p:nvSpPr>
        <p:spPr bwMode="auto">
          <a:xfrm rot="0" flipH="0" flipV="0">
            <a:off x="6419257" y="4579759"/>
            <a:ext cx="136077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到E10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54204546" name=""/>
          <p:cNvCxnSpPr/>
          <p:nvPr/>
        </p:nvCxnSpPr>
        <p:spPr bwMode="auto">
          <a:xfrm rot="0" flipH="0" flipV="1">
            <a:off x="8198498" y="2867097"/>
            <a:ext cx="0" cy="25015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361161" name=""/>
          <p:cNvSpPr txBox="1"/>
          <p:nvPr/>
        </p:nvSpPr>
        <p:spPr bwMode="auto">
          <a:xfrm rot="0" flipH="0" flipV="0">
            <a:off x="7527976" y="5341438"/>
            <a:ext cx="136149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到E11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5209293" name=""/>
          <p:cNvCxnSpPr/>
          <p:nvPr/>
        </p:nvCxnSpPr>
        <p:spPr bwMode="auto">
          <a:xfrm rot="16199998" flipH="0" flipV="1">
            <a:off x="7762874" y="4437494"/>
            <a:ext cx="314079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8364215" name=""/>
          <p:cNvSpPr txBox="1"/>
          <p:nvPr/>
        </p:nvSpPr>
        <p:spPr bwMode="auto">
          <a:xfrm rot="0" flipH="0" flipV="0">
            <a:off x="8762319" y="6007890"/>
            <a:ext cx="1360059" cy="8371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到E12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84467280" name=""/>
          <p:cNvCxnSpPr/>
          <p:nvPr/>
        </p:nvCxnSpPr>
        <p:spPr bwMode="auto">
          <a:xfrm rot="0" flipH="0" flipV="1">
            <a:off x="11002975" y="2821197"/>
            <a:ext cx="0" cy="115771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749964" name=""/>
          <p:cNvSpPr txBox="1"/>
          <p:nvPr/>
        </p:nvSpPr>
        <p:spPr bwMode="auto">
          <a:xfrm rot="0" flipH="0" flipV="0">
            <a:off x="10021182" y="4013602"/>
            <a:ext cx="1964306" cy="10949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:顯示陰影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進入Search Box顯示過往搜尋.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放大鏡: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到E7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0891202" name=""/>
          <p:cNvSpPr txBox="1"/>
          <p:nvPr/>
        </p:nvSpPr>
        <p:spPr bwMode="auto">
          <a:xfrm rot="0" flipH="0" flipV="0">
            <a:off x="1236285" y="2395388"/>
            <a:ext cx="8680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Linux Biolinum O"/>
                <a:ea typeface="Linux Biolinum O"/>
                <a:cs typeface="Linux Biolinum O"/>
              </a:rPr>
              <a:t>相親</a:t>
            </a:r>
            <a:endParaRPr sz="2400">
              <a:latin typeface="Linux Biolinum O"/>
              <a:cs typeface="Linux Biolinum O"/>
            </a:endParaRPr>
          </a:p>
        </p:txBody>
      </p:sp>
      <p:sp>
        <p:nvSpPr>
          <p:cNvPr id="272923914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8664AEC-9FF1-3148-8A1E-2451772B1BEC}" type="slidenum">
              <a:rPr lang="en-US"/>
              <a:t>12</a:t>
            </a:fld>
            <a:endParaRPr/>
          </a:p>
        </p:txBody>
      </p:sp>
      <p:cxnSp>
        <p:nvCxnSpPr>
          <p:cNvPr id="259620528" name=""/>
          <p:cNvCxnSpPr/>
          <p:nvPr/>
        </p:nvCxnSpPr>
        <p:spPr bwMode="auto">
          <a:xfrm rot="16199998" flipH="0" flipV="0">
            <a:off x="318528" y="4218889"/>
            <a:ext cx="270358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7913701" name=""/>
          <p:cNvSpPr txBox="1"/>
          <p:nvPr/>
        </p:nvSpPr>
        <p:spPr bwMode="auto">
          <a:xfrm rot="0" flipH="0" flipV="0">
            <a:off x="824682" y="5635836"/>
            <a:ext cx="1567228" cy="10855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:轉手指及顯示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子連結: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到E2/E3/E4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9404706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3747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2556484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832281751" name=""/>
          <p:cNvSpPr txBox="1"/>
          <p:nvPr/>
        </p:nvSpPr>
        <p:spPr bwMode="auto">
          <a:xfrm rot="0" flipH="0" flipV="0">
            <a:off x="9789162" y="662519"/>
            <a:ext cx="223097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底層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841304" name=""/>
          <p:cNvSpPr txBox="1"/>
          <p:nvPr/>
        </p:nvSpPr>
        <p:spPr bwMode="auto">
          <a:xfrm rot="0" flipH="0" flipV="0">
            <a:off x="103092" y="1115370"/>
            <a:ext cx="11915969" cy="396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底層</a:t>
            </a:r>
            <a:endParaRPr sz="2000"/>
          </a:p>
        </p:txBody>
      </p:sp>
      <p:sp>
        <p:nvSpPr>
          <p:cNvPr id="135939464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B416DE0-81D5-C41F-EFFE-30E5F2636F59}" type="slidenum">
              <a:rPr lang="en-US"/>
              <a:t>12</a:t>
            </a:fld>
            <a:endParaRPr/>
          </a:p>
        </p:txBody>
      </p:sp>
      <p:sp>
        <p:nvSpPr>
          <p:cNvPr id="1781824768" name=""/>
          <p:cNvSpPr/>
          <p:nvPr/>
        </p:nvSpPr>
        <p:spPr bwMode="auto">
          <a:xfrm rot="0" flipH="0" flipV="0">
            <a:off x="106692" y="1724598"/>
            <a:ext cx="11908048" cy="1407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4018674" name=""/>
          <p:cNvSpPr txBox="1"/>
          <p:nvPr/>
        </p:nvSpPr>
        <p:spPr bwMode="auto">
          <a:xfrm rot="0" flipH="0" flipV="0">
            <a:off x="5879959" y="2166607"/>
            <a:ext cx="1458333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使用條款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752276579" name=""/>
          <p:cNvSpPr txBox="1"/>
          <p:nvPr/>
        </p:nvSpPr>
        <p:spPr bwMode="auto">
          <a:xfrm rot="0" flipH="0" flipV="0">
            <a:off x="7981457" y="2166607"/>
            <a:ext cx="1807706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服務條款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裝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84285223" name=""/>
          <p:cNvSpPr txBox="1"/>
          <p:nvPr/>
        </p:nvSpPr>
        <p:spPr bwMode="auto">
          <a:xfrm rot="0" flipH="0" flipV="0">
            <a:off x="10342995" y="2166607"/>
            <a:ext cx="1429469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法律聲明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1642119950" name=""/>
          <p:cNvCxnSpPr>
            <a:endCxn id="274018674" idx="2"/>
          </p:cNvCxnSpPr>
          <p:nvPr/>
        </p:nvCxnSpPr>
        <p:spPr bwMode="auto">
          <a:xfrm rot="16199998" flipH="0" flipV="1">
            <a:off x="5624987" y="3608487"/>
            <a:ext cx="196863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5800710" name=""/>
          <p:cNvSpPr txBox="1"/>
          <p:nvPr/>
        </p:nvSpPr>
        <p:spPr bwMode="auto">
          <a:xfrm rot="0" flipH="0" flipV="0">
            <a:off x="5833636" y="4592806"/>
            <a:ext cx="171810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到E14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58579535" name=""/>
          <p:cNvCxnSpPr/>
          <p:nvPr/>
        </p:nvCxnSpPr>
        <p:spPr bwMode="auto">
          <a:xfrm rot="0" flipH="0" flipV="1">
            <a:off x="8885310" y="2624167"/>
            <a:ext cx="0" cy="250153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0931230" name=""/>
          <p:cNvSpPr txBox="1"/>
          <p:nvPr/>
        </p:nvSpPr>
        <p:spPr bwMode="auto">
          <a:xfrm rot="0" flipH="0" flipV="0">
            <a:off x="8094713" y="5125705"/>
            <a:ext cx="1581193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到E15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12347418" name=""/>
          <p:cNvCxnSpPr/>
          <p:nvPr/>
        </p:nvCxnSpPr>
        <p:spPr bwMode="auto">
          <a:xfrm rot="16199998" flipH="0" flipV="1">
            <a:off x="9487333" y="4218888"/>
            <a:ext cx="3140791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1090372" name=""/>
          <p:cNvSpPr txBox="1"/>
          <p:nvPr/>
        </p:nvSpPr>
        <p:spPr bwMode="auto">
          <a:xfrm rot="0" flipH="0" flipV="0">
            <a:off x="10342995" y="5789284"/>
            <a:ext cx="1552724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到E16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4467688" name=""/>
          <p:cNvSpPr txBox="1"/>
          <p:nvPr/>
        </p:nvSpPr>
        <p:spPr bwMode="auto">
          <a:xfrm rot="0" flipH="0" flipV="0">
            <a:off x="3760093" y="2190933"/>
            <a:ext cx="1480798" cy="457559"/>
          </a:xfrm>
          <a:prstGeom prst="rect">
            <a:avLst/>
          </a:prstGeom>
          <a:noFill/>
          <a:ln w="28575">
            <a:solidFill>
              <a:srgbClr val="152BEB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私隱政策</a:t>
            </a:r>
            <a:endParaRPr sz="2400">
              <a:latin typeface="Linux Biolinum O"/>
              <a:cs typeface="Linux Biolinum O"/>
            </a:endParaRPr>
          </a:p>
        </p:txBody>
      </p:sp>
      <p:cxnSp>
        <p:nvCxnSpPr>
          <p:cNvPr id="1543067957" name=""/>
          <p:cNvCxnSpPr/>
          <p:nvPr/>
        </p:nvCxnSpPr>
        <p:spPr bwMode="auto">
          <a:xfrm rot="16199998" flipH="0" flipV="0">
            <a:off x="3148701" y="4024609"/>
            <a:ext cx="2703582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2475009" name=""/>
          <p:cNvSpPr txBox="1"/>
          <p:nvPr/>
        </p:nvSpPr>
        <p:spPr bwMode="auto">
          <a:xfrm rot="0" flipH="0" flipV="0">
            <a:off x="3760093" y="5322927"/>
            <a:ext cx="1719546" cy="5933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盤旋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:轉手指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按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下: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跳</a:t>
            </a:r>
            <a:r>
              <a:rPr sz="1600"/>
              <a:t>到E13</a:t>
            </a:r>
            <a:r>
              <a:rPr sz="1600"/>
              <a:t>.</a:t>
            </a:r>
            <a:endParaRPr sz="1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5089706" name=""/>
          <p:cNvSpPr/>
          <p:nvPr/>
        </p:nvSpPr>
        <p:spPr bwMode="auto">
          <a:xfrm rot="0" flipH="0" flipV="0">
            <a:off x="160818" y="1976653"/>
            <a:ext cx="3306718" cy="837468"/>
          </a:xfrm>
          <a:prstGeom prst="rect">
            <a:avLst/>
          </a:prstGeom>
          <a:noFill/>
          <a:ln w="25400" cap="flat" cmpd="sng" algn="ctr">
            <a:solidFill>
              <a:srgbClr val="152BE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881196" name=""/>
          <p:cNvSpPr txBox="1"/>
          <p:nvPr/>
        </p:nvSpPr>
        <p:spPr bwMode="auto">
          <a:xfrm rot="0" flipH="0" flipV="0">
            <a:off x="160818" y="2104086"/>
            <a:ext cx="3306718" cy="5826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b="0" i="0" u="none" strike="noStrike" cap="none" spc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闌珊相親及婚姻家庭服務有限公司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版權所有 © </a:t>
            </a:r>
            <a:r>
              <a:rPr sz="1600" b="0" i="0" u="none">
                <a:solidFill>
                  <a:schemeClr val="tx1"/>
                </a:solidFill>
                <a:latin typeface="Linux Biolinum O"/>
                <a:ea typeface="Linux Biolinum O"/>
                <a:cs typeface="Linux Biolinum O"/>
              </a:rPr>
              <a:t>2026</a:t>
            </a:r>
            <a:endParaRPr sz="1600" b="0" i="0" u="none" strike="noStrike" cap="none" spc="0">
              <a:solidFill>
                <a:schemeClr val="tx1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13128519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0607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984661855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94557487" name=""/>
          <p:cNvSpPr txBox="1"/>
          <p:nvPr/>
        </p:nvSpPr>
        <p:spPr bwMode="auto">
          <a:xfrm rot="0" flipH="0" flipV="0">
            <a:off x="9789162" y="662519"/>
            <a:ext cx="223889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3806719" name=""/>
          <p:cNvSpPr txBox="1"/>
          <p:nvPr/>
        </p:nvSpPr>
        <p:spPr bwMode="auto">
          <a:xfrm rot="0" flipH="0" flipV="0">
            <a:off x="103091" y="1115370"/>
            <a:ext cx="1195124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E1</a:t>
            </a:r>
            <a:endParaRPr sz="20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9869473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75BB4A2-B600-4895-8758-58A00E116D33}" type="slidenum">
              <a:rPr lang="en-US"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77759601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147054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90202951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61365603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9314419" name=""/>
          <p:cNvSpPr txBox="1"/>
          <p:nvPr/>
        </p:nvSpPr>
        <p:spPr bwMode="auto">
          <a:xfrm rot="0" flipH="0" flipV="0">
            <a:off x="103091" y="1115370"/>
            <a:ext cx="1196924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E2 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- E</a:t>
            </a:r>
            <a:r>
              <a:rPr sz="280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6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4025992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1BD1F43-1DAE-CAC1-FD46-9C9AD027F01C}" type="slidenum">
              <a:rPr lang="en-US"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47022956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210264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72550215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82265759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672523" name=""/>
          <p:cNvSpPr txBox="1"/>
          <p:nvPr/>
        </p:nvSpPr>
        <p:spPr bwMode="auto">
          <a:xfrm rot="0" flipH="0" flipV="0">
            <a:off x="103091" y="1115370"/>
            <a:ext cx="1197248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E5.1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57470299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436FBEE-982A-BCD4-7B86-88C726B09943}" type="slidenum">
              <a:rPr lang="en-US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46242664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2979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25869800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691293296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5999877" name=""/>
          <p:cNvSpPr txBox="1"/>
          <p:nvPr/>
        </p:nvSpPr>
        <p:spPr bwMode="auto">
          <a:xfrm rot="0" flipH="0" flipV="0">
            <a:off x="103091" y="1115370"/>
            <a:ext cx="1197320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E5.2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07240326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201AE3A-65B9-13D1-2C39-04A41120F2B1}" type="slidenum">
              <a:rPr lang="en-US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34038262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031708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61595343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62730865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83332" name=""/>
          <p:cNvSpPr txBox="1"/>
          <p:nvPr/>
        </p:nvSpPr>
        <p:spPr bwMode="auto">
          <a:xfrm rot="0" flipH="0" flipV="0">
            <a:off x="103091" y="1115370"/>
            <a:ext cx="11971407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E7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86063965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37F407E-7894-4C99-D73C-F63D6AB20C23}" type="slidenum">
              <a:rPr lang="en-US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57051771" name="直線接點 4"/>
          <p:cNvCxnSpPr/>
          <p:nvPr/>
        </p:nvCxnSpPr>
        <p:spPr bwMode="auto">
          <a:xfrm flipV="1">
            <a:off x="0" y="584800"/>
            <a:ext cx="12191998" cy="656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772973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F.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樣板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(Template)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20312768" name="Google Shape;90;p1"/>
          <p:cNvSpPr txBox="1"/>
          <p:nvPr/>
        </p:nvSpPr>
        <p:spPr bwMode="auto">
          <a:xfrm>
            <a:off x="-45716" y="-2889"/>
            <a:ext cx="12283434" cy="6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22392612" name=""/>
          <p:cNvSpPr txBox="1"/>
          <p:nvPr/>
        </p:nvSpPr>
        <p:spPr bwMode="auto">
          <a:xfrm rot="0" flipH="0" flipV="0">
            <a:off x="9789162" y="662519"/>
            <a:ext cx="2243577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樣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板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內容</a:t>
            </a:r>
            <a:r>
              <a:rPr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(續)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260658" name=""/>
          <p:cNvSpPr txBox="1"/>
          <p:nvPr/>
        </p:nvSpPr>
        <p:spPr bwMode="auto">
          <a:xfrm rot="0" flipH="0" flipV="0">
            <a:off x="103091" y="1115370"/>
            <a:ext cx="11970688" cy="5185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/>
              <a:t>內容</a:t>
            </a:r>
            <a:r>
              <a:rPr sz="2000"/>
              <a:t> - 僅</a:t>
            </a:r>
            <a:r>
              <a:rPr sz="2000"/>
              <a:t>適用於</a:t>
            </a:r>
            <a:r>
              <a:rPr lang="en-US" sz="2800" b="0" i="0" u="none" strike="noStrike" cap="none" spc="0">
                <a:solidFill>
                  <a:srgbClr val="152BEB"/>
                </a:solidFill>
                <a:latin typeface="Linux Biolinum O"/>
                <a:ea typeface="Linux Biolinum O"/>
                <a:cs typeface="Linux Biolinum O"/>
              </a:rPr>
              <a:t>E8</a:t>
            </a:r>
            <a:endParaRPr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36257544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1E9223D-B4F5-208C-310E-B4125B237C13}" type="slidenum">
              <a:rPr lang="en-US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7682373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8440475" name="TextBox 20"/>
          <p:cNvSpPr txBox="1"/>
          <p:nvPr/>
        </p:nvSpPr>
        <p:spPr bwMode="auto">
          <a:xfrm>
            <a:off x="0" y="646290"/>
            <a:ext cx="825583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endParaRPr lang="en-US" sz="2400"/>
          </a:p>
        </p:txBody>
      </p:sp>
      <p:sp>
        <p:nvSpPr>
          <p:cNvPr id="48846788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2316166" name=""/>
          <p:cNvSpPr txBox="1"/>
          <p:nvPr/>
        </p:nvSpPr>
        <p:spPr bwMode="auto">
          <a:xfrm rot="0" flipH="0" flipV="0">
            <a:off x="10047726" y="713008"/>
            <a:ext cx="2053179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E1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首頁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1128112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72CAAD6-3277-CC55-59BF-133F44F7EF34}" type="slidenum">
              <a:rPr lang="en-US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0921660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27186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4895083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55B94CD-C29A-9E96-5ECE-87DBEE3C2E09}" type="slidenum">
              <a:rPr lang="en-US"/>
              <a:t>9</a:t>
            </a:fld>
            <a:endParaRPr lang="en-US"/>
          </a:p>
        </p:txBody>
      </p:sp>
      <p:sp>
        <p:nvSpPr>
          <p:cNvPr id="140709206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255579409" name=""/>
          <p:cNvSpPr txBox="1"/>
          <p:nvPr/>
        </p:nvSpPr>
        <p:spPr bwMode="auto">
          <a:xfrm rot="0" flipH="0" flipV="0">
            <a:off x="9470453" y="713007"/>
            <a:ext cx="2544220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E2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查冊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28100717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200414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843589713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D2E57D1-62C7-A38D-FCC8-B07544DA7891}" type="slidenum">
              <a:rPr lang="en-US"/>
              <a:t>9</a:t>
            </a:fld>
            <a:endParaRPr lang="en-US"/>
          </a:p>
        </p:txBody>
      </p:sp>
      <p:sp>
        <p:nvSpPr>
          <p:cNvPr id="497333323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81595462" name=""/>
          <p:cNvSpPr txBox="1"/>
          <p:nvPr/>
        </p:nvSpPr>
        <p:spPr bwMode="auto">
          <a:xfrm rot="0" flipH="0" flipV="0">
            <a:off x="9499316" y="713007"/>
            <a:ext cx="260158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E3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叙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餐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8603573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959989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61605685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DBF4CA7-1C73-D6F2-E514-34C25DB88F39}" type="slidenum">
              <a:rPr lang="en-US"/>
              <a:t>10</a:t>
            </a:fld>
            <a:endParaRPr lang="en-US"/>
          </a:p>
        </p:txBody>
      </p:sp>
      <p:sp>
        <p:nvSpPr>
          <p:cNvPr id="1260473299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135459166" name=""/>
          <p:cNvSpPr txBox="1"/>
          <p:nvPr/>
        </p:nvSpPr>
        <p:spPr bwMode="auto">
          <a:xfrm rot="0" flipH="0" flipV="0">
            <a:off x="9730226" y="713007"/>
            <a:ext cx="236995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相親旅行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48754339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693024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8458239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0E0AF78-D249-6ED3-500A-D5189F4DB1B9}" type="slidenum">
              <a:rPr lang="en-US"/>
              <a:t>9</a:t>
            </a:fld>
            <a:endParaRPr lang="en-US"/>
          </a:p>
        </p:txBody>
      </p:sp>
      <p:sp>
        <p:nvSpPr>
          <p:cNvPr id="125621663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8456124" name=""/>
          <p:cNvSpPr txBox="1"/>
          <p:nvPr/>
        </p:nvSpPr>
        <p:spPr bwMode="auto">
          <a:xfrm rot="0" flipH="0" flipV="0">
            <a:off x="9643635" y="713007"/>
            <a:ext cx="2457268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E5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性格測試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3719417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990742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53837802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67A392B-1777-A9CA-EED6-3A8453220C64}" type="slidenum">
              <a:rPr lang="en-US"/>
              <a:t>13</a:t>
            </a:fld>
            <a:endParaRPr lang="en-US"/>
          </a:p>
        </p:txBody>
      </p:sp>
      <p:sp>
        <p:nvSpPr>
          <p:cNvPr id="150669917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57878124" name=""/>
          <p:cNvSpPr txBox="1"/>
          <p:nvPr/>
        </p:nvSpPr>
        <p:spPr bwMode="auto">
          <a:xfrm rot="0" flipH="0" flipV="0">
            <a:off x="9095226" y="713007"/>
            <a:ext cx="3009278" cy="43137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E５.１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Linux Biolinum O"/>
                <a:ea typeface="Linux Biolinum O"/>
                <a:cs typeface="Linux Biolinum O"/>
              </a:rPr>
              <a:t>九型人格</a:t>
            </a:r>
            <a:endParaRPr sz="2200" b="0" i="0" u="none" strike="noStrike" cap="none" spc="0">
              <a:solidFill>
                <a:srgbClr val="C00000"/>
              </a:solidFill>
              <a:latin typeface="Linux Biolinum O"/>
              <a:cs typeface="Linux Biolinum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58967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18187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84369065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20D12F-6C8E-F212-650D-EADEB6281A46}" type="slidenum">
              <a:rPr lang="en-US"/>
              <a:t>14</a:t>
            </a:fld>
            <a:endParaRPr lang="en-US"/>
          </a:p>
        </p:txBody>
      </p:sp>
      <p:sp>
        <p:nvSpPr>
          <p:cNvPr id="162230785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060677385" name=""/>
          <p:cNvSpPr txBox="1"/>
          <p:nvPr/>
        </p:nvSpPr>
        <p:spPr bwMode="auto">
          <a:xfrm rot="0" flipH="0" flipV="0">
            <a:off x="8691135" y="713007"/>
            <a:ext cx="3411567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E５.２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測試結果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4400712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759770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65372350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3CC19A87-9750-DA35-A6EC-3A46DE040463}" type="slidenum">
              <a:rPr lang="en-US"/>
              <a:t>10</a:t>
            </a:fld>
            <a:endParaRPr lang="en-US"/>
          </a:p>
        </p:txBody>
      </p:sp>
      <p:sp>
        <p:nvSpPr>
          <p:cNvPr id="233697734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290312532" name=""/>
          <p:cNvSpPr txBox="1"/>
          <p:nvPr/>
        </p:nvSpPr>
        <p:spPr bwMode="auto">
          <a:xfrm rot="0" flipH="0" flipV="0">
            <a:off x="9383862" y="713007"/>
            <a:ext cx="2715962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E6 </a:t>
            </a:r>
            <a:r>
              <a:rPr lang="zh-TW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闌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訊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安裝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8870793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390296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46998242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D9DB6B8-DA47-77F7-45D4-6A29CE5A2E01}" type="slidenum">
              <a:rPr lang="en-US"/>
              <a:t>11</a:t>
            </a:fld>
            <a:endParaRPr lang="en-US"/>
          </a:p>
        </p:txBody>
      </p:sp>
      <p:sp>
        <p:nvSpPr>
          <p:cNvPr id="780968378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38198217" name=""/>
          <p:cNvSpPr txBox="1"/>
          <p:nvPr/>
        </p:nvSpPr>
        <p:spPr bwMode="auto">
          <a:xfrm rot="0" flipH="0" flipV="0">
            <a:off x="9427158" y="713007"/>
            <a:ext cx="2672667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E7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搜尋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結果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886784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911193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34974512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E2BF517-10D4-E6E7-9929-71B41A3BC587}" type="slidenum">
              <a:rPr lang="en-US"/>
              <a:t>12</a:t>
            </a:fld>
            <a:endParaRPr lang="en-US"/>
          </a:p>
        </p:txBody>
      </p:sp>
      <p:sp>
        <p:nvSpPr>
          <p:cNvPr id="1302413488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64007994" name=""/>
          <p:cNvSpPr txBox="1"/>
          <p:nvPr/>
        </p:nvSpPr>
        <p:spPr bwMode="auto">
          <a:xfrm rot="0" flipH="0" flipV="0">
            <a:off x="9470453" y="713007"/>
            <a:ext cx="2629371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E8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會員登入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79678015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78236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025225103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38E97F4-BE96-C93E-35EF-F50F45053744}" type="slidenum">
              <a:rPr lang="en-US"/>
              <a:t>9</a:t>
            </a:fld>
            <a:endParaRPr lang="en-US"/>
          </a:p>
        </p:txBody>
      </p:sp>
      <p:sp>
        <p:nvSpPr>
          <p:cNvPr id="1873527362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609513978" name=""/>
          <p:cNvSpPr txBox="1"/>
          <p:nvPr/>
        </p:nvSpPr>
        <p:spPr bwMode="auto">
          <a:xfrm rot="0" flipH="0" flipV="0">
            <a:off x="9326135" y="713007"/>
            <a:ext cx="2774049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9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其他服務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5661687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19047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124261753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3CA66D3-423D-B78A-FA33-ED1773C2BA2A}" type="slidenum">
              <a:rPr lang="en-US"/>
              <a:t>10</a:t>
            </a:fld>
            <a:endParaRPr lang="en-US"/>
          </a:p>
        </p:txBody>
      </p:sp>
      <p:sp>
        <p:nvSpPr>
          <p:cNvPr id="222558138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209911999" name=""/>
          <p:cNvSpPr txBox="1"/>
          <p:nvPr/>
        </p:nvSpPr>
        <p:spPr bwMode="auto">
          <a:xfrm rot="0" flipH="0" flipV="0">
            <a:off x="9152953" y="713007"/>
            <a:ext cx="2946510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E９.１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婚禮籌辦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49912086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336910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50181541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072F0AD-C954-EB8A-0610-D1526B10C2CF}" type="slidenum">
              <a:rPr lang="en-US"/>
              <a:t>11</a:t>
            </a:fld>
            <a:endParaRPr lang="en-US"/>
          </a:p>
        </p:txBody>
      </p:sp>
      <p:sp>
        <p:nvSpPr>
          <p:cNvPr id="1457282837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70878382" name=""/>
          <p:cNvSpPr txBox="1"/>
          <p:nvPr/>
        </p:nvSpPr>
        <p:spPr bwMode="auto">
          <a:xfrm rot="0" flipH="0" flipV="0">
            <a:off x="8994204" y="713007"/>
            <a:ext cx="3105981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E９.２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心理輔導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100960012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1723306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31543259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ED896CB-D3FB-78E0-0693-BB2E84BAE14C}" type="slidenum">
              <a:rPr lang="en-US"/>
              <a:t>12</a:t>
            </a:fld>
            <a:endParaRPr lang="en-US"/>
          </a:p>
        </p:txBody>
      </p:sp>
      <p:sp>
        <p:nvSpPr>
          <p:cNvPr id="690110512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02393395" name=""/>
          <p:cNvSpPr txBox="1"/>
          <p:nvPr/>
        </p:nvSpPr>
        <p:spPr bwMode="auto">
          <a:xfrm rot="0" flipH="0" flipV="0">
            <a:off x="9080794" y="713007"/>
            <a:ext cx="3019749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E９.３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醫療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檢查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5155245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19469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70300506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4ABE8BCE-DAD1-E2FD-45D6-092F7CCF6AAF}" type="slidenum">
              <a:rPr lang="en-US"/>
              <a:t>13</a:t>
            </a:fld>
            <a:endParaRPr lang="en-US"/>
          </a:p>
        </p:txBody>
      </p:sp>
      <p:sp>
        <p:nvSpPr>
          <p:cNvPr id="1534786033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606661476" name=""/>
          <p:cNvSpPr txBox="1"/>
          <p:nvPr/>
        </p:nvSpPr>
        <p:spPr bwMode="auto">
          <a:xfrm rot="0" flipH="0" flipV="0">
            <a:off x="9253976" y="713007"/>
            <a:ext cx="2845847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E９.４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親子鑑定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029301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4612191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08834371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E815401-E295-61CD-D697-847AF45102A2}" type="slidenum">
              <a:rPr lang="en-US"/>
              <a:t>14</a:t>
            </a:fld>
            <a:endParaRPr lang="en-US"/>
          </a:p>
        </p:txBody>
      </p:sp>
      <p:sp>
        <p:nvSpPr>
          <p:cNvPr id="1887958175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399623275" name=""/>
          <p:cNvSpPr txBox="1"/>
          <p:nvPr/>
        </p:nvSpPr>
        <p:spPr bwMode="auto">
          <a:xfrm rot="0" flipH="0" flipV="0">
            <a:off x="9369430" y="713007"/>
            <a:ext cx="2730754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E９.５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分手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44063544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607118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7978484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2EDE457-7909-0CBB-B921-9B87A4B610F5}" type="slidenum">
              <a:rPr lang="en-US"/>
              <a:t>15</a:t>
            </a:fld>
            <a:endParaRPr lang="en-US"/>
          </a:p>
        </p:txBody>
      </p:sp>
      <p:sp>
        <p:nvSpPr>
          <p:cNvPr id="187043313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29492065" name=""/>
          <p:cNvSpPr txBox="1"/>
          <p:nvPr/>
        </p:nvSpPr>
        <p:spPr bwMode="auto">
          <a:xfrm rot="0" flipH="0" flipV="0">
            <a:off x="9066362" y="713007"/>
            <a:ext cx="3034541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E９.６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遺產繼承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47050576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8368262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91174648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6690C1F-135C-3C43-7F8A-4A2195BBF3FA}" type="slidenum">
              <a:rPr lang="en-US"/>
              <a:t>16</a:t>
            </a:fld>
            <a:endParaRPr lang="en-US"/>
          </a:p>
        </p:txBody>
      </p:sp>
      <p:sp>
        <p:nvSpPr>
          <p:cNvPr id="392285502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397720631" name=""/>
          <p:cNvSpPr txBox="1"/>
          <p:nvPr/>
        </p:nvSpPr>
        <p:spPr bwMode="auto">
          <a:xfrm rot="0" flipH="0" flipV="0">
            <a:off x="8965339" y="713007"/>
            <a:ext cx="3135564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E10 </a:t>
            </a:r>
            <a:r>
              <a:rPr lang="zh-TW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闌珊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月刊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5934821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315944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19397698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1729224-30AA-A2C7-84D3-01C49BAA8EE6}" type="slidenum">
              <a:rPr lang="en-US"/>
              <a:t>9</a:t>
            </a:fld>
            <a:endParaRPr lang="en-US"/>
          </a:p>
        </p:txBody>
      </p:sp>
      <p:sp>
        <p:nvSpPr>
          <p:cNvPr id="1598485479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03013372" name=""/>
          <p:cNvSpPr txBox="1"/>
          <p:nvPr/>
        </p:nvSpPr>
        <p:spPr bwMode="auto">
          <a:xfrm rot="0" flipH="0" flipV="0">
            <a:off x="9354998" y="713007"/>
            <a:ext cx="2745904" cy="433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Calibri"/>
                <a:cs typeface="Calibri"/>
              </a:rPr>
              <a:t>E11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關於我們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55114158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2350245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499465252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EC350BE-6C62-CFC3-B0DD-752BCDFB8136}" type="slidenum">
              <a:rPr lang="en-US"/>
              <a:t>10</a:t>
            </a:fld>
            <a:endParaRPr lang="en-US"/>
          </a:p>
        </p:txBody>
      </p:sp>
      <p:sp>
        <p:nvSpPr>
          <p:cNvPr id="840456666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93962309" name=""/>
          <p:cNvSpPr txBox="1"/>
          <p:nvPr/>
        </p:nvSpPr>
        <p:spPr bwMode="auto">
          <a:xfrm rot="0" flipH="0" flipV="0">
            <a:off x="9571475" y="713007"/>
            <a:ext cx="2528348" cy="4320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E12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付款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00579769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22260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870588989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5F77E510-09D5-AB39-0BB9-E4EBF2B5E259}" type="slidenum">
              <a:rPr lang="en-US"/>
              <a:t>11</a:t>
            </a:fld>
            <a:endParaRPr lang="en-US"/>
          </a:p>
        </p:txBody>
      </p:sp>
      <p:sp>
        <p:nvSpPr>
          <p:cNvPr id="1495109201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704126668" name=""/>
          <p:cNvSpPr txBox="1"/>
          <p:nvPr/>
        </p:nvSpPr>
        <p:spPr bwMode="auto">
          <a:xfrm rot="0" flipH="0" flipV="0">
            <a:off x="8893180" y="713007"/>
            <a:ext cx="3208443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E１３</a:t>
            </a:r>
            <a:r>
              <a:rPr sz="2200">
                <a:solidFill>
                  <a:srgbClr val="C00000"/>
                </a:solidFill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私隱政策</a:t>
            </a:r>
            <a:endParaRPr sz="22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67967041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5481557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58745413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8B8F343-67DB-50A1-AF9C-BD904DE632EC}" type="slidenum">
              <a:rPr lang="en-US"/>
              <a:t>12</a:t>
            </a:fld>
            <a:endParaRPr lang="en-US"/>
          </a:p>
        </p:txBody>
      </p:sp>
      <p:sp>
        <p:nvSpPr>
          <p:cNvPr id="1480912642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84883635" name=""/>
          <p:cNvSpPr txBox="1"/>
          <p:nvPr/>
        </p:nvSpPr>
        <p:spPr bwMode="auto">
          <a:xfrm rot="0" flipH="0" flipV="0">
            <a:off x="9124089" y="679977"/>
            <a:ext cx="2976814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E１４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使用條款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21649886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626956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287216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2818D18-1F6E-48C5-BE22-D042662B41C0}" type="slidenum">
              <a:rPr lang="en-US"/>
              <a:t>13</a:t>
            </a:fld>
            <a:endParaRPr lang="en-US"/>
          </a:p>
        </p:txBody>
      </p:sp>
      <p:sp>
        <p:nvSpPr>
          <p:cNvPr id="1987999490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1130299" name=""/>
          <p:cNvSpPr txBox="1"/>
          <p:nvPr/>
        </p:nvSpPr>
        <p:spPr bwMode="auto">
          <a:xfrm rot="0" flipH="0" flipV="0">
            <a:off x="9138521" y="713007"/>
            <a:ext cx="2961303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E１５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服務條款</a:t>
            </a:r>
            <a:endParaRPr sz="2200" b="0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97518804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678583" name="TextBox 20"/>
          <p:cNvSpPr txBox="1"/>
          <p:nvPr/>
        </p:nvSpPr>
        <p:spPr bwMode="auto">
          <a:xfrm>
            <a:off x="0" y="646290"/>
            <a:ext cx="8254399" cy="4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Ｇ.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線框圖(Wireframe)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(續)</a:t>
            </a:r>
            <a:endParaRPr lang="en-US" sz="2400"/>
          </a:p>
        </p:txBody>
      </p:sp>
      <p:sp>
        <p:nvSpPr>
          <p:cNvPr id="1680797455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112232D-491F-922D-C342-769BED2DEC37}" type="slidenum">
              <a:rPr lang="en-US"/>
              <a:t>14</a:t>
            </a:fld>
            <a:endParaRPr lang="en-US"/>
          </a:p>
        </p:txBody>
      </p:sp>
      <p:sp>
        <p:nvSpPr>
          <p:cNvPr id="1748792924" name="Google Shape;90;p1"/>
          <p:cNvSpPr txBox="1"/>
          <p:nvPr/>
        </p:nvSpPr>
        <p:spPr bwMode="auto">
          <a:xfrm>
            <a:off x="-45717" y="-2890"/>
            <a:ext cx="1228343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841577139" name=""/>
          <p:cNvSpPr txBox="1"/>
          <p:nvPr/>
        </p:nvSpPr>
        <p:spPr bwMode="auto">
          <a:xfrm rot="0" flipH="0" flipV="0">
            <a:off x="9326135" y="713007"/>
            <a:ext cx="2773329" cy="43946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E１６</a:t>
            </a:r>
            <a:r>
              <a:rPr lang="en-US" sz="22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法律聲明</a:t>
            </a:r>
            <a:endParaRPr sz="22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7213082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0096965" name="TextBox 20"/>
          <p:cNvSpPr txBox="1"/>
          <p:nvPr/>
        </p:nvSpPr>
        <p:spPr bwMode="auto">
          <a:xfrm>
            <a:off x="0" y="646290"/>
            <a:ext cx="8259080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H.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網站建設及代碼編寫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1338500434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486241887" name="Google Shape;90;p1"/>
          <p:cNvSpPr txBox="1"/>
          <p:nvPr/>
        </p:nvSpPr>
        <p:spPr bwMode="auto">
          <a:xfrm>
            <a:off x="-45717" y="-2890"/>
            <a:ext cx="1228379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79737527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40149" name="TextBox 20"/>
          <p:cNvSpPr txBox="1"/>
          <p:nvPr/>
        </p:nvSpPr>
        <p:spPr bwMode="auto">
          <a:xfrm>
            <a:off x="0" y="646290"/>
            <a:ext cx="8267361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I.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網站測試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283402531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1143167712" name="Google Shape;90;p1"/>
          <p:cNvSpPr txBox="1"/>
          <p:nvPr/>
        </p:nvSpPr>
        <p:spPr bwMode="auto">
          <a:xfrm>
            <a:off x="0" y="-2890"/>
            <a:ext cx="1228415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36373339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372466" name="TextBox 20"/>
          <p:cNvSpPr txBox="1"/>
          <p:nvPr/>
        </p:nvSpPr>
        <p:spPr bwMode="auto">
          <a:xfrm>
            <a:off x="0" y="646290"/>
            <a:ext cx="825655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J.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Linux Biolinum O"/>
                <a:ea typeface="Linux Biolinum O"/>
                <a:cs typeface="Linux Biolinum O"/>
              </a:rPr>
              <a:t>屏幕截圖及說明</a:t>
            </a:r>
            <a:endParaRPr lang="en-US" sz="2400"/>
          </a:p>
        </p:txBody>
      </p:sp>
      <p:sp>
        <p:nvSpPr>
          <p:cNvPr id="71358409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31</a:t>
            </a:fld>
            <a:endParaRPr lang="en-US"/>
          </a:p>
        </p:txBody>
      </p:sp>
      <p:sp>
        <p:nvSpPr>
          <p:cNvPr id="246324767" name="Google Shape;90;p1"/>
          <p:cNvSpPr txBox="1"/>
          <p:nvPr/>
        </p:nvSpPr>
        <p:spPr bwMode="auto">
          <a:xfrm>
            <a:off x="0" y="-2890"/>
            <a:ext cx="12284515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411891350" name="直線接點 4"/>
          <p:cNvCxnSpPr/>
          <p:nvPr/>
        </p:nvCxnSpPr>
        <p:spPr bwMode="auto">
          <a:xfrm flipV="1">
            <a:off x="0" y="584801"/>
            <a:ext cx="12191999" cy="656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632303" name="TextBox 20"/>
          <p:cNvSpPr txBox="1"/>
          <p:nvPr/>
        </p:nvSpPr>
        <p:spPr bwMode="auto">
          <a:xfrm>
            <a:off x="0" y="646290"/>
            <a:ext cx="8258359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K.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網站發佈</a:t>
            </a:r>
            <a:r>
              <a:rPr lang="en-US" sz="2400">
                <a:solidFill>
                  <a:schemeClr val="dk1"/>
                </a:solidFill>
                <a:ea typeface="Times New Roman"/>
                <a:cs typeface="Times New Roman"/>
              </a:rPr>
              <a:t> </a:t>
            </a:r>
            <a:endParaRPr lang="en-US" sz="2400"/>
          </a:p>
        </p:txBody>
      </p:sp>
      <p:sp>
        <p:nvSpPr>
          <p:cNvPr id="1711442216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172E1F56-60A2-575F-DF32-6B968770F372}" type="slidenum">
              <a:rPr lang="en-US"/>
              <a:t>12</a:t>
            </a:fld>
            <a:endParaRPr lang="en-US"/>
          </a:p>
        </p:txBody>
      </p:sp>
      <p:sp>
        <p:nvSpPr>
          <p:cNvPr id="879300792" name="Google Shape;90;p1"/>
          <p:cNvSpPr txBox="1"/>
          <p:nvPr/>
        </p:nvSpPr>
        <p:spPr bwMode="auto">
          <a:xfrm>
            <a:off x="0" y="-2889"/>
            <a:ext cx="12284514" cy="65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59854277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263632" name="TextBox 20"/>
          <p:cNvSpPr txBox="1"/>
          <p:nvPr/>
        </p:nvSpPr>
        <p:spPr bwMode="auto">
          <a:xfrm>
            <a:off x="0" y="646290"/>
            <a:ext cx="3003678" cy="46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L.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總結</a:t>
            </a:r>
            <a:endParaRPr/>
          </a:p>
        </p:txBody>
      </p:sp>
      <p:sp>
        <p:nvSpPr>
          <p:cNvPr id="1517470003" name="TextBox 23"/>
          <p:cNvSpPr txBox="1"/>
          <p:nvPr/>
        </p:nvSpPr>
        <p:spPr bwMode="auto">
          <a:xfrm flipH="0" flipV="0">
            <a:off x="447999" y="1107954"/>
            <a:ext cx="11653067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/>
              <a:t>XXXXX</a:t>
            </a:r>
            <a:endParaRPr sz="2400"/>
          </a:p>
        </p:txBody>
      </p:sp>
      <p:sp>
        <p:nvSpPr>
          <p:cNvPr id="221612990" name="Slide Number Placeholder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42</a:t>
            </a:fld>
            <a:endParaRPr lang="en-US"/>
          </a:p>
        </p:txBody>
      </p:sp>
      <p:sp>
        <p:nvSpPr>
          <p:cNvPr id="898470687" name="Google Shape;90;p1"/>
          <p:cNvSpPr txBox="1"/>
          <p:nvPr/>
        </p:nvSpPr>
        <p:spPr bwMode="auto">
          <a:xfrm>
            <a:off x="0" y="-2890"/>
            <a:ext cx="1228487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13410244" name="直線接點 4"/>
          <p:cNvCxnSpPr/>
          <p:nvPr/>
        </p:nvCxnSpPr>
        <p:spPr bwMode="auto">
          <a:xfrm flipV="1">
            <a:off x="0" y="584802"/>
            <a:ext cx="12192000" cy="65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2339765" name="TextBox 2"/>
          <p:cNvSpPr txBox="1"/>
          <p:nvPr/>
        </p:nvSpPr>
        <p:spPr bwMode="auto">
          <a:xfrm>
            <a:off x="3778249" y="2613391"/>
            <a:ext cx="4639819" cy="165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0">
                <a:solidFill>
                  <a:srgbClr val="C00000"/>
                </a:solidFill>
              </a:rPr>
              <a:t>- 完 -</a:t>
            </a:r>
            <a:endParaRPr/>
          </a:p>
        </p:txBody>
      </p:sp>
      <p:sp>
        <p:nvSpPr>
          <p:cNvPr id="923857106" name="Google Shape;90;p1"/>
          <p:cNvSpPr txBox="1"/>
          <p:nvPr/>
        </p:nvSpPr>
        <p:spPr bwMode="auto">
          <a:xfrm>
            <a:off x="0" y="-2890"/>
            <a:ext cx="12285234" cy="65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前端網站開發人員證書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(CT288DS006)</a:t>
            </a:r>
            <a:r>
              <a:rPr lang="en-US" sz="1800">
                <a:latin typeface="Arial"/>
                <a:ea typeface="Times New Roman"/>
                <a:cs typeface="Times New Roman"/>
              </a:rPr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網站開發專案</a:t>
            </a:r>
            <a:endParaRPr lang="en-US" sz="1800">
              <a:latin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開發者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HO Siu Hang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 (Desmond)  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學生編號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12</a:t>
            </a: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Times New Roman"/>
                <a:cs typeface="Times New Roman"/>
              </a:rPr>
              <a:t>			</a:t>
            </a:r>
            <a:r>
              <a:rPr lang="zh-TW" sz="1800" b="0" i="0" u="none" strike="noStrike" cap="none" spc="0">
                <a:solidFill>
                  <a:srgbClr val="152BEB"/>
                </a:solidFill>
                <a:latin typeface="Arial"/>
                <a:ea typeface="Calibri"/>
                <a:cs typeface="Calibri"/>
              </a:rPr>
              <a:t>			闌珊相親</a:t>
            </a:r>
            <a:r>
              <a:rPr lang="en-US" sz="1800" b="0" i="0" u="none" strike="noStrike" cap="none" spc="0">
                <a:solidFill>
                  <a:srgbClr val="152BEB"/>
                </a:solidFill>
                <a:latin typeface="Arial"/>
                <a:ea typeface="Times New Roman"/>
                <a:cs typeface="Times New Roman"/>
              </a:rPr>
              <a:t>網站</a:t>
            </a:r>
            <a:endParaRPr sz="1800">
              <a:solidFill>
                <a:srgbClr val="0000FF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16317246" name="Google Shape;20;p18"/>
          <p:cNvSpPr txBox="1">
            <a:spLocks noGrp="1"/>
          </p:cNvSpPr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F1603AB-9131-92B1-2216-B4C8D0C598C3}" type="slidenum">
              <a:rPr lang="en-US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50</Slides>
  <Notes>50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JACKHO</dc:creator>
  <cp:lastModifiedBy/>
  <cp:revision>518</cp:revision>
  <dcterms:created xsi:type="dcterms:W3CDTF">2025-03-08T03:49:38Z</dcterms:created>
  <dcterms:modified xsi:type="dcterms:W3CDTF">2026-09-17T14:12:31Z</dcterms:modified>
</cp:coreProperties>
</file>