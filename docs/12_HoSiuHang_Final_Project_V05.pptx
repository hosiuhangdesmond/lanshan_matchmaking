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5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75" y="14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 /><Relationship Id="rId54" Type="http://schemas.openxmlformats.org/officeDocument/2006/relationships/tableStyles" Target="tableStyles.xml" /><Relationship Id="rId5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851463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1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01125362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50444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57902307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2533545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37333708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1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39823904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ftr="0" hdr="0" sldNum="1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5394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86582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36468423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107289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681208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3931791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93152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35054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78803692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869919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864077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7736751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61639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149946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46777470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0005CA7B-64A5-499F-1117-3332D9FC274B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72717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543336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2149955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04852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084383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35946287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80F1C9C-D72B-BA43-C5BD-73F3898D06C5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37901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807877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55055527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0463679-56FA-677F-6B60-E86EB0C34269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32887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20343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5551487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C158FCB2-BADB-BB48-974B-075ECA6AAAE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58433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489429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690095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83478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48145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43690402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631789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19162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95745287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AF1660C-8514-AAAC-6E00-8A8AF1B10B1A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06650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103524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0620647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CDE84A84-8C45-A2F9-A60F-588A469A914E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93022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18090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4770514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0A360341-ADFE-903A-DBF1-B78BF1B23F3B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43027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408799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65858613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81ECB21A-61B4-4ED8-44FF-DBB2A8F5CD41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98599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52814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1697883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0053F27C-34DC-1BE8-853D-20850850514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20631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64018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33915490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8847E5DD-D1AE-4154-6C1E-23F2B76193AF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39783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434084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4625826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6D0E3096-1FB5-C982-695C-F0088613EAC3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09207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989212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37104117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22F954D8-09BE-0BE2-CA76-8E33DDF7C0F6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35057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580153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28496506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BA8F4D4-20E5-9C8C-51F5-23B137B544CB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68879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657752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0887566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173E5AB0-5AD8-8955-18CA-9E7E4D4F8F0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41920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275993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93745428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1BAB279D-BFE1-1F2A-EF41-B87D86EB96F3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73384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47241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9625177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A7E005B-7A93-0672-0DE8-9FCFDE5808C1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7369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99946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44860316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B0126DC-D84E-AC8F-69E4-257DFCD2B7EA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52687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102033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8648665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D26B467D-97FC-8DB0-8060-B469D1803EAD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59780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23383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4899774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1C926357-19BE-45E8-4D15-49C178ECFD5E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26400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128302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92948572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05EE4DEC-D678-1AB0-024B-16479D74FED0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762169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43177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7042792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C5863DD-824D-16EE-170D-05631255FA7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15465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60179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790195866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54FF7613-7368-64B1-D223-66F4CAFB333F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88684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22200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49220011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6347260B-71E6-BEDA-D9F4-BA0D9B74D263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38699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447892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9746446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3D2FB1F2-84B0-F0FC-2504-C9CEFCE91D8E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62094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8606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1156505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27B3916-66DE-B605-D8A3-81FABEDF7D52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09711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53412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13457647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9E1A32A-D517-A927-5277-D006C91C0FD1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24938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40081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2362457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A48F2E10-0832-BE71-2901-CBFB4DDFA3BD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18191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87533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78302847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D0EB5B87-C789-217A-642A-07E929DECEDC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1272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881275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59117778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7B419028-5B77-D8D4-0ACB-B6E28AC38D0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55724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194272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2979797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0B9C7932-04B1-2698-EFED-7CF4F7C4399A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9772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253673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9776227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4F420A90-4A0A-F10D-1FDF-2288107377C2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33809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81722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841681976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120CAF6-2BA9-E370-7F7C-B373B9A7A125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27406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869828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98025810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A99D0B5-024A-3EBB-25B9-292CD19F1286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78306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459366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02247733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DF68B5ED-F153-1AE4-F957-21211B2ACC65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29546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5182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0962260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AB3B1050-0879-1DD0-7239-42515AEB646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50798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382123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3475915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BA7544B2-1EE5-8848-4154-0B19DA02A6AF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29453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03306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1143472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20708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450612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82593835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53820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57969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69801493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7822F58-97A6-F56A-E2D3-5013802357A5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52764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42060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80330919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1451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21186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02203498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投影片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594968" name="Google Shape;16;p18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3244476" name="Google Shape;17;p18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305772933" name="Google Shape;18;p1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4028023" name="Google Shape;19;p1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567064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及物件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504063" name="Google Shape;22;p19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9334128" name="Google Shape;23;p19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5386009" name="Google Shape;24;p1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6486560" name="Google Shape;25;p1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5647019" name="Google Shape;26;p1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章節標題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637043" name="Google Shape;28;p20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9842252" name="Google Shape;29;p20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02761998" name="Google Shape;30;p2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3699320" name="Google Shape;31;p2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560533" name="Google Shape;32;p2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兩項物件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969119" name="Google Shape;34;p2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8545753" name="Google Shape;35;p2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1578805" name="Google Shape;36;p21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1508422" name="Google Shape;37;p2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8089612" name="Google Shape;38;p2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6833310" name="Google Shape;39;p2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比對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20664" name="Google Shape;41;p22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6244316" name="Google Shape;42;p22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618440293" name="Google Shape;43;p22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950216" name="Google Shape;44;p22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291791046" name="Google Shape;45;p22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3552381" name="Google Shape;46;p2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7076869" name="Google Shape;47;p2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1298960" name="Google Shape;48;p2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只有標題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379451" name="Google Shape;50;p2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2991701" name="Google Shape;51;p2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4808644" name="Google Shape;52;p2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8923519" name="Google Shape;53;p2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空白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964955" name="Google Shape;55;p2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5416813" name="Google Shape;56;p2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6803306" name="Google Shape;57;p2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含標題的內容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267721" name="Google Shape;59;p25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233806" name="Google Shape;60;p25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613759271" name="Google Shape;61;p25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816155322" name="Google Shape;62;p2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860156" name="Google Shape;63;p2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4756059" name="Google Shape;64;p2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含標題的圖片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721538" name="Google Shape;66;p26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1252592" name="Google Shape;67;p26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21170517" name="Google Shape;68;p26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893438534" name="Google Shape;69;p2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528623" name="Google Shape;70;p2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1731387" name="Google Shape;71;p2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及直排文字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85856" name="Google Shape;73;p2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0057977" name="Google Shape;74;p2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5375151" name="Google Shape;75;p2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1599918" name="Google Shape;76;p2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3881901" name="Google Shape;77;p2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直排標題及文字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122326" name="Google Shape;79;p28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0705547" name="Google Shape;80;p2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9390867" name="Google Shape;81;p2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9222523" name="Google Shape;82;p2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440536" name="Google Shape;83;p2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691024" name="Google Shape;10;p1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548899258" name="Google Shape;11;p17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39712378" name="Google Shape;12;p1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10689263" name="Google Shape;13;p1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41658232" name="Google Shape;14;p1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568240" name="Google Shape;90;p1"/>
          <p:cNvSpPr txBox="1"/>
          <p:nvPr/>
        </p:nvSpPr>
        <p:spPr bwMode="auto">
          <a:xfrm flipH="0" flipV="0">
            <a:off x="1130859" y="1667053"/>
            <a:ext cx="6705362" cy="192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zh-TW" sz="300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endParaRPr lang="en-US" sz="3000" b="0" i="0" u="none" strike="noStrike" cap="none">
              <a:solidFill>
                <a:schemeClr val="tx1"/>
              </a:solidFill>
              <a:latin typeface="Arial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(Lanshan</a:t>
            </a: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Matchmaking and Marriage &amp; Family Services Co</a:t>
            </a: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Ltd</a:t>
            </a:r>
            <a:r>
              <a:rPr sz="3000"/>
              <a:t>)</a:t>
            </a:r>
            <a:endParaRPr/>
          </a:p>
          <a:p>
            <a:pPr algn="l">
              <a:defRPr/>
            </a:pPr>
            <a:endParaRPr sz="3000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407128354" name="Google Shape;90;p1"/>
          <p:cNvSpPr txBox="1"/>
          <p:nvPr/>
        </p:nvSpPr>
        <p:spPr bwMode="auto">
          <a:xfrm flipH="0" flipV="0">
            <a:off x="1162900" y="4285849"/>
            <a:ext cx="5737602" cy="7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en-US" sz="2200">
                <a:latin typeface="+mj-lt"/>
                <a:ea typeface="Times New Roman"/>
                <a:cs typeface="Times New Roman"/>
              </a:rPr>
              <a:t>前端網站開發人員證書</a:t>
            </a:r>
            <a:endParaRPr lang="en-US" sz="2200">
              <a:latin typeface="Arial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2200">
                <a:latin typeface="Arial"/>
                <a:ea typeface="Times New Roman"/>
                <a:cs typeface="Times New Roman"/>
              </a:rPr>
              <a:t>(CT288DS006)</a:t>
            </a:r>
            <a:endParaRPr sz="2200"/>
          </a:p>
        </p:txBody>
      </p:sp>
      <p:sp>
        <p:nvSpPr>
          <p:cNvPr id="203781818" name="Google Shape;90;p1"/>
          <p:cNvSpPr txBox="1"/>
          <p:nvPr/>
        </p:nvSpPr>
        <p:spPr bwMode="auto">
          <a:xfrm flipH="0" flipV="0">
            <a:off x="1162901" y="3324576"/>
            <a:ext cx="5726802" cy="77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開發者</a:t>
            </a:r>
            <a:r>
              <a:rPr lang="en-US" sz="22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: </a:t>
            </a:r>
            <a:r>
              <a:rPr lang="en-US" sz="22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HO Siu Hang</a:t>
            </a:r>
            <a:r>
              <a:rPr lang="en-US" sz="22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 (Desmond)</a:t>
            </a:r>
            <a:endParaRPr lang="en-US" sz="2200" b="0" i="0" u="none" strike="noStrike" cap="none">
              <a:solidFill>
                <a:schemeClr val="dk1"/>
              </a:solidFill>
              <a:latin typeface="Arial"/>
              <a:ea typeface="Times New Roman"/>
              <a:cs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學生編號: </a:t>
            </a:r>
            <a:r>
              <a:rPr lang="en-US" sz="2200">
                <a:solidFill>
                  <a:srgbClr val="0000FF"/>
                </a:solidFill>
                <a:latin typeface="Arial"/>
                <a:cs typeface="Times New Roman"/>
              </a:rPr>
              <a:t>12</a:t>
            </a:r>
            <a:endParaRPr sz="2200">
              <a:solidFill>
                <a:srgbClr val="0000FF"/>
              </a:solidFill>
              <a:latin typeface="Arial"/>
              <a:cs typeface="Times New Roman"/>
            </a:endParaRPr>
          </a:p>
        </p:txBody>
      </p:sp>
      <p:sp>
        <p:nvSpPr>
          <p:cNvPr id="307368644" name="Google Shape;90;p1"/>
          <p:cNvSpPr txBox="1"/>
          <p:nvPr/>
        </p:nvSpPr>
        <p:spPr bwMode="auto">
          <a:xfrm flipH="0" flipV="0">
            <a:off x="1162899" y="5254508"/>
            <a:ext cx="5697636" cy="43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en-US" sz="2200">
                <a:solidFill>
                  <a:srgbClr val="C00000"/>
                </a:solidFill>
                <a:latin typeface="+mj-lt"/>
                <a:ea typeface="Times New Roman"/>
                <a:cs typeface="Times New Roman"/>
              </a:rPr>
              <a:t>版本 05</a:t>
            </a:r>
            <a:endParaRPr sz="22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71203694" name="Slide Number Placeholder 1"/>
          <p:cNvSpPr>
            <a:spLocks noGrp="1"/>
          </p:cNvSpPr>
          <p:nvPr>
            <p:ph type="sldNum" idx="12"/>
          </p:nvPr>
        </p:nvSpPr>
        <p:spPr bwMode="auto">
          <a:xfrm>
            <a:off x="6495944" y="5878672"/>
            <a:ext cx="274320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168428544" name="Google Shape;90;p1"/>
          <p:cNvSpPr txBox="1"/>
          <p:nvPr/>
        </p:nvSpPr>
        <p:spPr bwMode="auto">
          <a:xfrm flipH="0" flipV="0">
            <a:off x="1162901" y="694678"/>
            <a:ext cx="4503561" cy="91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algn="l">
              <a:defRPr/>
            </a:pPr>
            <a:r>
              <a:rPr lang="en-US" sz="5400">
                <a:solidFill>
                  <a:schemeClr val="tx1"/>
                </a:solidFill>
                <a:latin typeface="+mj-lt"/>
                <a:ea typeface="Times New Roman"/>
                <a:cs typeface="Times New Roman"/>
              </a:rPr>
              <a:t>網站開發專案</a:t>
            </a:r>
            <a:endParaRPr sz="5400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263708010" name="Google Shape;90;p1"/>
          <p:cNvSpPr txBox="1"/>
          <p:nvPr/>
        </p:nvSpPr>
        <p:spPr bwMode="auto">
          <a:xfrm flipH="0" flipV="0">
            <a:off x="1162900" y="5757894"/>
            <a:ext cx="8610319" cy="77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 algn="l">
              <a:defRPr/>
            </a:pPr>
            <a:r>
              <a:rPr sz="2200"/>
              <a:t>GitHub連結:</a:t>
            </a:r>
            <a:endParaRPr sz="2200"/>
          </a:p>
          <a:p>
            <a:pPr algn="l">
              <a:defRPr/>
            </a:pPr>
            <a:r>
              <a:rPr lang="en-US" sz="2200" b="0" i="0" u="none" strike="noStrike" cap="none" spc="0">
                <a:solidFill>
                  <a:srgbClr val="152BEB"/>
                </a:solidFill>
                <a:latin typeface="Arial"/>
                <a:ea typeface="Arial"/>
                <a:cs typeface="Arial"/>
              </a:rPr>
              <a:t>https://github.com/hosiuhangdesmond/lanshan_matchmaking</a:t>
            </a:r>
            <a:r>
              <a:rPr lang="en-US" sz="220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/main</a:t>
            </a:r>
            <a:endParaRPr lang="en-US" sz="2200">
              <a:latin typeface="Arial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098956" name="Google Shape;90;p1"/>
          <p:cNvSpPr txBox="1"/>
          <p:nvPr/>
        </p:nvSpPr>
        <p:spPr bwMode="auto">
          <a:xfrm>
            <a:off x="-44818" y="-35710"/>
            <a:ext cx="12281637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546096944" name="Google Shape;91;p1"/>
          <p:cNvSpPr txBox="1"/>
          <p:nvPr/>
        </p:nvSpPr>
        <p:spPr bwMode="auto">
          <a:xfrm flipH="0" flipV="0">
            <a:off x="580414" y="795016"/>
            <a:ext cx="9684021" cy="527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u="sng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目錄:</a:t>
            </a:r>
            <a:endParaRPr lang="en-US" sz="2400" u="sng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客戶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簡介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 —————————————————-———————————————-</a:t>
            </a: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項目計劃書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用戶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需求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書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檔案結構圖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網站架構圖(Sitemap) ——————————————————————————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樣板(Template) —————————————————————————————-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 ———————————————————————————-</a:t>
            </a: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網站測試 —————————————————————————————————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屏幕截圖及說明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網站發佈</a:t>
            </a:r>
            <a:r>
              <a:rPr sz="2400">
                <a:latin typeface="Linux Biolinum O"/>
                <a:ea typeface="Linux Biolinum O"/>
                <a:cs typeface="Linux Biolinum O"/>
              </a:rPr>
              <a:t>—————————————————————————————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————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總結 ———————————————————————————————————-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附錄I: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代碼集合 ——————————————————————————-————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</p:txBody>
      </p:sp>
      <p:cxnSp>
        <p:nvCxnSpPr>
          <p:cNvPr id="1495608077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114236" name="Slide Number Placeholder 7"/>
          <p:cNvSpPr>
            <a:spLocks noGrp="1"/>
          </p:cNvSpPr>
          <p:nvPr>
            <p:ph type="sldNum" idx="12"/>
          </p:nvPr>
        </p:nvSpPr>
        <p:spPr bwMode="auto">
          <a:xfrm>
            <a:off x="8393768" y="6037490"/>
            <a:ext cx="274320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22028735" name="Google Shape;91;p1"/>
          <p:cNvSpPr txBox="1"/>
          <p:nvPr/>
        </p:nvSpPr>
        <p:spPr bwMode="auto">
          <a:xfrm flipH="0" flipV="0">
            <a:off x="9765365" y="795016"/>
            <a:ext cx="985654" cy="52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u="sng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頁數</a:t>
            </a:r>
            <a:endParaRPr lang="en-US" sz="2400" u="sng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lang="en-US" sz="2400">
              <a:solidFill>
                <a:srgbClr val="FF0000"/>
              </a:solidFill>
              <a:latin typeface="Linux Biolinum O"/>
              <a:ea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ea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46251660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398881" name="TextBox 20"/>
          <p:cNvSpPr txBox="1"/>
          <p:nvPr/>
        </p:nvSpPr>
        <p:spPr bwMode="auto">
          <a:xfrm>
            <a:off x="0" y="646290"/>
            <a:ext cx="300907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A.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客戶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簡介</a:t>
            </a:r>
            <a:endParaRPr/>
          </a:p>
        </p:txBody>
      </p:sp>
      <p:sp>
        <p:nvSpPr>
          <p:cNvPr id="136818641" name="TextBox 23"/>
          <p:cNvSpPr txBox="1"/>
          <p:nvPr/>
        </p:nvSpPr>
        <p:spPr bwMode="auto">
          <a:xfrm flipH="0" flipV="0">
            <a:off x="326961" y="1110686"/>
            <a:ext cx="11806161" cy="481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簡稱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，下同</a:t>
            </a:r>
            <a:r>
              <a:rPr sz="2400"/>
              <a:t>)為本地一間有二十多年歷史的中小型企業。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的“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”</a:t>
            </a:r>
            <a:r>
              <a:rPr sz="2400"/>
              <a:t>兩字來</a:t>
            </a:r>
            <a:r>
              <a:rPr sz="2400"/>
              <a:t>自中國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宋代著名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詞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人辛棄疾的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經典名篇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《青玉案·元夕》(註)。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的主營業務</a:t>
            </a:r>
            <a:r>
              <a:rPr sz="2400"/>
              <a:t>為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相親</a:t>
            </a:r>
            <a:r>
              <a:rPr sz="2400"/>
              <a:t>對象介紹，包括: 提供相親對象查冊服務、相親午餐／晚餐安排</a:t>
            </a:r>
            <a:r>
              <a:rPr sz="2400"/>
              <a:t>服務</a:t>
            </a:r>
            <a:r>
              <a:rPr sz="2400"/>
              <a:t>、大型相親旅行、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通訊軟件服務、性格類型測試服務等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等</a:t>
            </a:r>
            <a:r>
              <a:rPr sz="2400"/>
              <a:t>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亦同時經營一些與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婚姻家庭</a:t>
            </a:r>
            <a:r>
              <a:rPr sz="2400"/>
              <a:t>事宜有關的業務，包括: 婚禮籌辦、婚前婚後心理輔導、產前產後醫療</a:t>
            </a:r>
            <a:r>
              <a:rPr sz="2400"/>
              <a:t>檢查、親子鑑定、分手服務、遺產分配與繼承</a:t>
            </a:r>
            <a:r>
              <a:rPr sz="2400"/>
              <a:t>等。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也定期參予不同社會慈善活動，以回饋社會。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目前的員工總數約十五人，包括八名全職</a:t>
            </a:r>
            <a:r>
              <a:rPr sz="2400"/>
              <a:t>員工</a:t>
            </a:r>
            <a:r>
              <a:rPr sz="2400"/>
              <a:t>及七名兼職</a:t>
            </a:r>
            <a:r>
              <a:rPr sz="2400"/>
              <a:t>員工</a:t>
            </a:r>
            <a:r>
              <a:rPr sz="2400"/>
              <a:t>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sz="2400"/>
              <a:t>為了提供更優質的服務，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決定建立一個全新的網站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(簡稱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</a:t>
            </a:r>
            <a:r>
              <a:rPr sz="2400"/>
              <a:t>，下同</a:t>
            </a:r>
            <a:r>
              <a:rPr sz="2400"/>
              <a:t>)</a:t>
            </a:r>
            <a:r>
              <a:rPr sz="2400"/>
              <a:t>。</a:t>
            </a: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r>
              <a:rPr sz="2000"/>
              <a:t>(註)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《青玉案·元夕》</a:t>
            </a:r>
            <a:r>
              <a:rPr sz="2000"/>
              <a:t>原文:　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東風夜放花千樹，更吹落、星如雨。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寶馬雕車香滿路。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鳳簫聲動，玉壺光轉，一夜魚龍舞。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蛾兒雪柳黃金縷，笑語盈盈暗香去。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眾裏尋他千百度，驀然迴首，那人卻在燈火闌珊處。</a:t>
            </a:r>
            <a:endParaRPr sz="2000"/>
          </a:p>
        </p:txBody>
      </p:sp>
      <p:sp>
        <p:nvSpPr>
          <p:cNvPr id="1962036996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2062540322" name="Google Shape;90;p1"/>
          <p:cNvSpPr txBox="1"/>
          <p:nvPr/>
        </p:nvSpPr>
        <p:spPr bwMode="auto">
          <a:xfrm>
            <a:off x="-44817" y="0"/>
            <a:ext cx="1228199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33534112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599196" name="TextBox 20"/>
          <p:cNvSpPr txBox="1"/>
          <p:nvPr/>
        </p:nvSpPr>
        <p:spPr bwMode="auto">
          <a:xfrm flipH="0" flipV="0">
            <a:off x="0" y="646290"/>
            <a:ext cx="4853589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B.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項目計劃書</a:t>
            </a:r>
            <a:endParaRPr/>
          </a:p>
        </p:txBody>
      </p:sp>
      <p:sp>
        <p:nvSpPr>
          <p:cNvPr id="1854474727" name="TextBox 23"/>
          <p:cNvSpPr txBox="1"/>
          <p:nvPr/>
        </p:nvSpPr>
        <p:spPr bwMode="auto">
          <a:xfrm flipH="0" flipV="0">
            <a:off x="368624" y="1232279"/>
            <a:ext cx="11013614" cy="308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965" indent="-349965">
              <a:buAutoNum type="arabicPeriod"/>
              <a:defRPr/>
            </a:pPr>
            <a:r>
              <a:rPr sz="2400"/>
              <a:t>收集客戶/用戶關於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/>
              <a:t>的需求。  </a:t>
            </a:r>
            <a:endParaRPr sz="2400"/>
          </a:p>
          <a:p>
            <a:pPr marL="349965" indent="-349965">
              <a:buAutoNum type="arabicPeriod"/>
              <a:defRPr/>
            </a:pPr>
            <a:r>
              <a:rPr sz="2400"/>
              <a:t>規劃資源，包括時間和人力資源。  </a:t>
            </a:r>
            <a:endParaRPr sz="2400"/>
          </a:p>
          <a:p>
            <a:pPr marL="349965" indent="-349965">
              <a:buAutoNum type="arabicPeriod"/>
              <a:defRPr/>
            </a:pPr>
            <a:r>
              <a:rPr sz="2400"/>
              <a:t>選擇構建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網站的工具：  </a:t>
            </a:r>
            <a:endParaRPr sz="2400"/>
          </a:p>
          <a:p>
            <a:pPr>
              <a:defRPr/>
            </a:pPr>
            <a:r>
              <a:rPr sz="2400"/>
              <a:t>	(a) HTML, CSS, JavaScript, react.js</a:t>
            </a:r>
            <a:endParaRPr sz="2400"/>
          </a:p>
          <a:p>
            <a:pPr>
              <a:defRPr/>
            </a:pPr>
            <a:r>
              <a:rPr sz="2400"/>
              <a:t>	(b) Visual Studio Code  </a:t>
            </a:r>
            <a:endParaRPr sz="2400"/>
          </a:p>
          <a:p>
            <a:pPr>
              <a:defRPr/>
            </a:pPr>
            <a:r>
              <a:rPr sz="2400"/>
              <a:t>	</a:t>
            </a:r>
            <a:r>
              <a:rPr sz="2400"/>
              <a:t>(c) Git 和 GitHub  </a:t>
            </a:r>
            <a:endParaRPr sz="2400"/>
          </a:p>
          <a:p>
            <a:pPr>
              <a:defRPr/>
            </a:pPr>
            <a:r>
              <a:rPr sz="2400"/>
              <a:t>4. 分析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網站的業務邏輯。  </a:t>
            </a:r>
            <a:endParaRPr sz="2400"/>
          </a:p>
          <a:p>
            <a:pPr>
              <a:defRPr/>
            </a:pPr>
            <a:r>
              <a:rPr sz="2400"/>
              <a:t>5. 採用最具成本效益的方法。</a:t>
            </a:r>
            <a:r>
              <a:rPr lang="en-US" sz="2400"/>
              <a:t>	</a:t>
            </a:r>
            <a:endParaRPr sz="2400"/>
          </a:p>
        </p:txBody>
      </p:sp>
      <p:sp>
        <p:nvSpPr>
          <p:cNvPr id="552423305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411656153" name="Google Shape;90;p1"/>
          <p:cNvSpPr txBox="1"/>
          <p:nvPr/>
        </p:nvSpPr>
        <p:spPr bwMode="auto">
          <a:xfrm>
            <a:off x="-89996" y="-35710"/>
            <a:ext cx="1228199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13370307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23030" name="TextBox 20"/>
          <p:cNvSpPr txBox="1"/>
          <p:nvPr/>
        </p:nvSpPr>
        <p:spPr bwMode="auto">
          <a:xfrm flipH="0" flipV="0">
            <a:off x="0" y="646290"/>
            <a:ext cx="4860069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B.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劃書</a:t>
            </a:r>
            <a:r>
              <a:rPr sz="2400"/>
              <a:t>(續)</a:t>
            </a:r>
            <a:endParaRPr sz="2400"/>
          </a:p>
        </p:txBody>
      </p:sp>
      <p:sp>
        <p:nvSpPr>
          <p:cNvPr id="2041646553" name="TextBox 23"/>
          <p:cNvSpPr txBox="1"/>
          <p:nvPr/>
        </p:nvSpPr>
        <p:spPr bwMode="auto">
          <a:xfrm flipH="0" flipV="0">
            <a:off x="333987" y="1062301"/>
            <a:ext cx="5019026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6. 項目開發</a:t>
            </a:r>
            <a:r>
              <a:rPr sz="2400"/>
              <a:t>流程時間表</a:t>
            </a:r>
            <a:endParaRPr sz="2400"/>
          </a:p>
        </p:txBody>
      </p:sp>
      <p:sp>
        <p:nvSpPr>
          <p:cNvPr id="73873084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B0BDB7B7-9856-9F58-E353-686AEB7B2890}" type="slidenum">
              <a:rPr lang="en-US"/>
              <a:t>4</a:t>
            </a:fld>
            <a:endParaRPr lang="en-US"/>
          </a:p>
        </p:txBody>
      </p:sp>
      <p:sp>
        <p:nvSpPr>
          <p:cNvPr id="963197070" name="Google Shape;90;p1"/>
          <p:cNvSpPr txBox="1"/>
          <p:nvPr/>
        </p:nvSpPr>
        <p:spPr bwMode="auto">
          <a:xfrm>
            <a:off x="-89995" y="-35709"/>
            <a:ext cx="1228199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graphicFrame>
        <p:nvGraphicFramePr>
          <p:cNvPr id="899556800" name=""/>
          <p:cNvGraphicFramePr>
            <a:graphicFrameLocks xmlns:a="http://schemas.openxmlformats.org/drawingml/2006/main"/>
          </p:cNvGraphicFramePr>
          <p:nvPr/>
        </p:nvGraphicFramePr>
        <p:xfrm rot="0">
          <a:off x="73090" y="1530267"/>
          <a:ext cx="8553449" cy="397382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376371"/>
                <a:gridCol w="2258228"/>
                <a:gridCol w="833393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</a:tblGrid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起始日:　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0827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0830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0906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0913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0920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0927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1004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1011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1018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1022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(四)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(四)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確定項目主題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編寫用戶需求書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編製網站架構圖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編製線框圖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網站建設及代碼編寫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網站測試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編製屏幕截圖及說明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網站演示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網站發佈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85500376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730277" name="TextBox 20"/>
          <p:cNvSpPr txBox="1"/>
          <p:nvPr/>
        </p:nvSpPr>
        <p:spPr bwMode="auto">
          <a:xfrm>
            <a:off x="0" y="646290"/>
            <a:ext cx="720069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endParaRPr lang="en-US" sz="2400"/>
          </a:p>
        </p:txBody>
      </p:sp>
      <p:sp>
        <p:nvSpPr>
          <p:cNvPr id="690566191" name="TextBox 1"/>
          <p:cNvSpPr txBox="1"/>
          <p:nvPr/>
        </p:nvSpPr>
        <p:spPr bwMode="auto">
          <a:xfrm flipH="0" flipV="0">
            <a:off x="317250" y="1110685"/>
            <a:ext cx="12280113" cy="5320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965" indent="-349965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包含至少十五個網頁。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2.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的每一個網頁</a:t>
            </a:r>
            <a:r>
              <a:rPr sz="2400" u="none"/>
              <a:t>具有相同的頂部設計、底部設計</a:t>
            </a:r>
            <a:r>
              <a:rPr sz="2400" u="none"/>
              <a:t>、顏色、風格。</a:t>
            </a:r>
            <a:endParaRPr sz="2400" u="none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3.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的顏色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走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溫暖、可信、療愈、專業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”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的路線。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b. 以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鼠尾草绿(#8FAF9F)</a:t>
            </a:r>
            <a:r>
              <a:rPr sz="2400" u="none"/>
              <a:t>為主色</a:t>
            </a:r>
            <a:endParaRPr sz="2400" u="none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u="none"/>
              <a:t>    b. 副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色為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豆沙玫瑰(#C98A8A)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對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比色為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深海军蓝(#1F3A5F)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d.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輔助色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分別為雾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蓝(#A9C0CF)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暖金(#D9A066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e.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另有兩個中性色，分別是: 米白(#FAF7F2)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暖灰(#6B6B6B)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4.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</a:t>
            </a:r>
            <a:r>
              <a:rPr sz="2400" u="none"/>
              <a:t>頂部</a:t>
            </a:r>
            <a:r>
              <a:rPr sz="2400" u="none"/>
              <a:t>包含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頂層(一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和頂層(二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。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5.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頂層(一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從左至右展示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內容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: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    a.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 u="none"/>
              <a:t>公司的</a:t>
            </a:r>
            <a:r>
              <a:rPr sz="2400" u="none"/>
              <a:t>標識</a:t>
            </a:r>
            <a:endParaRPr sz="2400" u="none"/>
          </a:p>
          <a:p>
            <a:pPr>
              <a:defRPr/>
            </a:pPr>
            <a:r>
              <a:rPr sz="2400" u="none"/>
              <a:t>   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b.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 u="none"/>
              <a:t>公司的</a:t>
            </a:r>
            <a:r>
              <a:rPr sz="2400" u="none"/>
              <a:t>中英文名稱</a:t>
            </a:r>
            <a:endParaRPr sz="2400" u="none"/>
          </a:p>
          <a:p>
            <a:pPr>
              <a:defRPr/>
            </a:pPr>
            <a:endParaRPr sz="2400" u="none"/>
          </a:p>
        </p:txBody>
      </p:sp>
      <p:sp>
        <p:nvSpPr>
          <p:cNvPr id="1861993365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1292361655" name="Google Shape;90;p1"/>
          <p:cNvSpPr txBox="1"/>
          <p:nvPr/>
        </p:nvSpPr>
        <p:spPr bwMode="auto">
          <a:xfrm>
            <a:off x="58730" y="-35710"/>
            <a:ext cx="1228235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7626794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9312214" name="TextBox 20"/>
          <p:cNvSpPr txBox="1"/>
          <p:nvPr/>
        </p:nvSpPr>
        <p:spPr bwMode="auto">
          <a:xfrm>
            <a:off x="0" y="646290"/>
            <a:ext cx="7201057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711549230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2AD49C9-5C1B-6218-8398-3D7642D7B817}" type="slidenum">
              <a:rPr lang="en-US"/>
              <a:t>6</a:t>
            </a:fld>
            <a:endParaRPr lang="en-US"/>
          </a:p>
        </p:txBody>
      </p:sp>
      <p:sp>
        <p:nvSpPr>
          <p:cNvPr id="236735718" name="Google Shape;90;p1"/>
          <p:cNvSpPr txBox="1"/>
          <p:nvPr/>
        </p:nvSpPr>
        <p:spPr bwMode="auto">
          <a:xfrm>
            <a:off x="58729" y="-35709"/>
            <a:ext cx="1228235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988989123" name="TextBox 1"/>
          <p:cNvSpPr txBox="1"/>
          <p:nvPr/>
        </p:nvSpPr>
        <p:spPr bwMode="auto">
          <a:xfrm flipH="0" flipV="0">
            <a:off x="317250" y="1110685"/>
            <a:ext cx="12268233" cy="5328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頂層(二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內容置中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，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並展示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內容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a. 首頁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性格測試 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    d.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r>
              <a:rPr sz="2400" u="none"/>
              <a:t>安裝</a:t>
            </a:r>
            <a:endParaRPr sz="2400" u="none"/>
          </a:p>
          <a:p>
            <a:pPr>
              <a:defRPr/>
            </a:pPr>
            <a:r>
              <a:rPr sz="2400" u="none"/>
              <a:t>    e. </a:t>
            </a:r>
            <a:r>
              <a:rPr sz="2400" u="none"/>
              <a:t>會員登入</a:t>
            </a:r>
            <a:endParaRPr sz="2400" u="none"/>
          </a:p>
          <a:p>
            <a:pPr>
              <a:defRPr/>
            </a:pPr>
            <a:r>
              <a:rPr sz="2400" u="none"/>
              <a:t>    f. </a:t>
            </a:r>
            <a:r>
              <a:rPr sz="2400" u="none"/>
              <a:t>其他服務</a:t>
            </a:r>
            <a:endParaRPr sz="2400" u="none"/>
          </a:p>
          <a:p>
            <a:pPr>
              <a:defRPr/>
            </a:pPr>
            <a:r>
              <a:rPr sz="2400" u="none"/>
              <a:t>    g.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月刊</a:t>
            </a:r>
            <a:endParaRPr lang="en-US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   h. </a:t>
            </a:r>
            <a:r>
              <a:rPr sz="2400" u="none"/>
              <a:t>關於我們</a:t>
            </a:r>
            <a:endParaRPr sz="2400" u="none"/>
          </a:p>
          <a:p>
            <a:pPr>
              <a:defRPr/>
            </a:pPr>
            <a:r>
              <a:rPr sz="2400" u="none"/>
              <a:t>    i. 付款</a:t>
            </a:r>
            <a:endParaRPr sz="2400" u="none"/>
          </a:p>
          <a:p>
            <a:pPr>
              <a:defRPr/>
            </a:pPr>
            <a:r>
              <a:rPr sz="2400" u="none"/>
              <a:t>    j. </a:t>
            </a:r>
            <a:r>
              <a:rPr sz="2400" u="none"/>
              <a:t>搜尋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7.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底部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內容置中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，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並展示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以下按鈕/內容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a. 版權聲明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20761132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07363" name="TextBox 20"/>
          <p:cNvSpPr txBox="1"/>
          <p:nvPr/>
        </p:nvSpPr>
        <p:spPr bwMode="auto">
          <a:xfrm>
            <a:off x="0" y="646290"/>
            <a:ext cx="7201057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93380828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B3D9380-458A-0A8B-2DA5-A0F693152FFD}" type="slidenum">
              <a:rPr lang="en-US"/>
              <a:t>7</a:t>
            </a:fld>
            <a:endParaRPr lang="en-US"/>
          </a:p>
        </p:txBody>
      </p:sp>
      <p:sp>
        <p:nvSpPr>
          <p:cNvPr id="1151690087" name="Google Shape;90;p1"/>
          <p:cNvSpPr txBox="1"/>
          <p:nvPr/>
        </p:nvSpPr>
        <p:spPr bwMode="auto">
          <a:xfrm>
            <a:off x="58729" y="-35709"/>
            <a:ext cx="1228235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994287166" name="TextBox 1"/>
          <p:cNvSpPr txBox="1"/>
          <p:nvPr/>
        </p:nvSpPr>
        <p:spPr bwMode="auto">
          <a:xfrm flipH="0" flipV="0">
            <a:off x="317250" y="1110685"/>
            <a:ext cx="11688237" cy="5296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d.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e.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 當鼠標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於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按鈕/功能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鍵時，會出現手指標記及所有相關子網頁的連結(若適用)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9.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所有網頁都是回響式的。</a:t>
            </a:r>
            <a:endParaRPr sz="2400" u="none"/>
          </a:p>
          <a:p>
            <a:pPr>
              <a:defRPr/>
            </a:pP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10.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能幫助用戶識別他／她們目前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的網站位置</a:t>
            </a:r>
            <a:r>
              <a:rPr sz="2400" u="none"/>
              <a:t>。</a:t>
            </a:r>
            <a:endParaRPr sz="2400" u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u="none"/>
              <a:t>11.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每一個網頁的內容部份的底色都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是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奶油象牙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#FFF8E7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每一個網頁的內容部份的最底層都隱約顯示以下文字:</a:t>
            </a:r>
            <a:endParaRPr sz="2400" u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《青玉案·元夕》　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宋代　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辛棄疾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Arial"/>
                <a:ea typeface="Arial"/>
                <a:cs typeface="Arial"/>
              </a:rPr>
              <a:t>:</a:t>
            </a:r>
            <a:endParaRPr sz="2400" b="0" i="1" u="none" strike="noStrike" cap="none" spc="0">
              <a:solidFill>
                <a:srgbClr val="152BEB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東風夜放花千樹，更吹落、星如雨。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寶馬雕車香滿路。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鳳簫聲動，玉壺光轉，一夜魚龍舞。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蛾兒雪柳黃金縷，笑語盈盈暗香去。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眾裏尋他千百度，驀然迴首，那人卻在燈火闌珊處。</a:t>
            </a:r>
            <a:endParaRPr lang="en-US" sz="2400" b="0" i="1" u="none" strike="noStrike" cap="none" spc="0">
              <a:solidFill>
                <a:srgbClr val="152BEB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2400" i="1" u="none">
              <a:solidFill>
                <a:srgbClr val="152B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115488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3086167" name="TextBox 20"/>
          <p:cNvSpPr txBox="1"/>
          <p:nvPr/>
        </p:nvSpPr>
        <p:spPr bwMode="auto">
          <a:xfrm>
            <a:off x="0" y="617620"/>
            <a:ext cx="8264120" cy="46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D.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檔案結構圖</a:t>
            </a:r>
            <a:endParaRPr lang="en-US" sz="2400"/>
          </a:p>
        </p:txBody>
      </p:sp>
      <p:sp>
        <p:nvSpPr>
          <p:cNvPr id="147112367" name="Google Shape;90;p1"/>
          <p:cNvSpPr txBox="1"/>
          <p:nvPr/>
        </p:nvSpPr>
        <p:spPr bwMode="auto">
          <a:xfrm>
            <a:off x="0" y="-35709"/>
            <a:ext cx="1228271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126246330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82FDF9C-C537-D17F-23C4-A098CA95D1C8}" type="slidenum">
              <a:rPr lang="en-US"/>
              <a:t>9</a:t>
            </a:fld>
            <a:endParaRPr/>
          </a:p>
        </p:txBody>
      </p:sp>
      <p:sp>
        <p:nvSpPr>
          <p:cNvPr id="1363386757" name=""/>
          <p:cNvSpPr txBox="1"/>
          <p:nvPr/>
        </p:nvSpPr>
        <p:spPr bwMode="auto">
          <a:xfrm rot="0" flipH="0" flipV="0">
            <a:off x="199285" y="1082018"/>
            <a:ext cx="11721297" cy="60925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0" i="0" u="none" strike="noStrike" cap="none" spc="0">
                <a:solidFill/>
                <a:latin typeface="Noto Looped Lao Cond ExBd"/>
                <a:ea typeface="Noto Looped Lao Cond ExBd"/>
                <a:cs typeface="Noto Looped Lao Cond ExBd"/>
              </a:rPr>
              <a:t>/lanshan_</a:t>
            </a:r>
            <a:r>
              <a:rPr lang="en-US" sz="2000" b="0" i="0" u="none" strike="noStrike" cap="none" spc="0">
                <a:solidFill/>
                <a:latin typeface="Noto Looped Lao Cond ExBd"/>
                <a:ea typeface="Noto Looped Lao Cond ExBd"/>
                <a:cs typeface="Noto Looped Lao Cond ExBd"/>
              </a:rPr>
              <a:t>matchmaking</a:t>
            </a:r>
            <a:endParaRPr sz="2000">
              <a:latin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/.git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/audio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css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/docs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12_HoSiuHang_Final_Project_V00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.pdf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...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12_HoSiuHang_Final_Project_V03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.pdf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Noto Looped Lao Cond ExBd"/>
                <a:ea typeface="Noto Looped Lao Cond ExBd"/>
                <a:cs typeface="Noto Looped Lao Cond ExBd"/>
              </a:rPr>
              <a:t>12_HoSiuHang_Final_Project_V03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.pptx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	resources.txt		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/img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/script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/video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.gitignore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e02_00_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MatchRecord.html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...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e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16_00_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LegalNotice.html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index.html</a:t>
            </a:r>
            <a:r>
              <a:rPr sz="2000">
                <a:latin typeface="Noto Looped Lao Cond ExBd"/>
                <a:ea typeface="Noto Looped Lao Cond ExBd"/>
                <a:cs typeface="Noto Looped Lao Cond ExBd"/>
              </a:rPr>
              <a:t>	</a:t>
            </a:r>
            <a:endParaRPr sz="2000">
              <a:latin typeface="Noto Looped Lao Cond ExBd"/>
              <a:ea typeface="Noto Looped Lao Cond ExBd"/>
              <a:cs typeface="Noto Looped Lao Cond ExB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38774793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2886826" name="TextBox 20"/>
          <p:cNvSpPr txBox="1"/>
          <p:nvPr/>
        </p:nvSpPr>
        <p:spPr bwMode="auto">
          <a:xfrm>
            <a:off x="0" y="646290"/>
            <a:ext cx="8252961" cy="469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E.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網站架構圖(Sitemap)</a:t>
            </a:r>
            <a:endParaRPr lang="en-US" sz="2400"/>
          </a:p>
        </p:txBody>
      </p:sp>
      <p:sp>
        <p:nvSpPr>
          <p:cNvPr id="1469533797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1136728463" name="Google Shape;90;p1"/>
          <p:cNvSpPr txBox="1"/>
          <p:nvPr/>
        </p:nvSpPr>
        <p:spPr bwMode="auto">
          <a:xfrm>
            <a:off x="0" y="-7043"/>
            <a:ext cx="1228307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684446689" name=""/>
          <p:cNvSpPr/>
          <p:nvPr/>
        </p:nvSpPr>
        <p:spPr bwMode="auto">
          <a:xfrm rot="0" flipH="0" flipV="0">
            <a:off x="1572708" y="2398008"/>
            <a:ext cx="873639" cy="1078007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2049174850" name=""/>
          <p:cNvSpPr txBox="1"/>
          <p:nvPr/>
        </p:nvSpPr>
        <p:spPr bwMode="auto">
          <a:xfrm rot="0" flipH="0" flipV="0">
            <a:off x="1569828" y="2398008"/>
            <a:ext cx="87723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E2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查冊</a:t>
            </a:r>
            <a:endParaRPr sz="1600"/>
          </a:p>
        </p:txBody>
      </p:sp>
      <p:sp>
        <p:nvSpPr>
          <p:cNvPr id="1920036049" name=""/>
          <p:cNvSpPr/>
          <p:nvPr/>
        </p:nvSpPr>
        <p:spPr bwMode="auto">
          <a:xfrm rot="0" flipH="0" flipV="0">
            <a:off x="2666084" y="2421820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567552869" name=""/>
          <p:cNvSpPr/>
          <p:nvPr/>
        </p:nvSpPr>
        <p:spPr bwMode="auto">
          <a:xfrm rot="0" flipH="0" flipV="0">
            <a:off x="3720603" y="2421820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786310512" name=""/>
          <p:cNvSpPr/>
          <p:nvPr/>
        </p:nvSpPr>
        <p:spPr bwMode="auto">
          <a:xfrm rot="0" flipH="0" flipV="0">
            <a:off x="4771729" y="23946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0909402" name=""/>
          <p:cNvSpPr/>
          <p:nvPr/>
        </p:nvSpPr>
        <p:spPr bwMode="auto">
          <a:xfrm rot="0" flipH="0" flipV="0">
            <a:off x="5854759" y="236419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612083739" name=""/>
          <p:cNvSpPr/>
          <p:nvPr/>
        </p:nvSpPr>
        <p:spPr bwMode="auto">
          <a:xfrm rot="0" flipH="0" flipV="0">
            <a:off x="9637911" y="803872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685240524" name=""/>
          <p:cNvSpPr/>
          <p:nvPr/>
        </p:nvSpPr>
        <p:spPr bwMode="auto">
          <a:xfrm rot="0" flipH="0" flipV="0">
            <a:off x="6977989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36800139" name=""/>
          <p:cNvSpPr/>
          <p:nvPr/>
        </p:nvSpPr>
        <p:spPr bwMode="auto">
          <a:xfrm rot="0" flipH="0" flipV="0">
            <a:off x="8029589" y="2327052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34598073" name=""/>
          <p:cNvSpPr/>
          <p:nvPr/>
        </p:nvSpPr>
        <p:spPr bwMode="auto">
          <a:xfrm rot="0" flipH="0" flipV="0">
            <a:off x="9076950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2110485682" name=""/>
          <p:cNvSpPr/>
          <p:nvPr/>
        </p:nvSpPr>
        <p:spPr bwMode="auto">
          <a:xfrm rot="0" flipH="0" flipV="0">
            <a:off x="10169216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571575816" name=""/>
          <p:cNvSpPr/>
          <p:nvPr/>
        </p:nvSpPr>
        <p:spPr bwMode="auto">
          <a:xfrm rot="0" flipH="0" flipV="0">
            <a:off x="11201560" y="231828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86611435" name=""/>
          <p:cNvSpPr txBox="1"/>
          <p:nvPr/>
        </p:nvSpPr>
        <p:spPr bwMode="auto">
          <a:xfrm rot="0" flipH="0" flipV="0">
            <a:off x="2666084" y="2421820"/>
            <a:ext cx="77837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E3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叙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餐</a:t>
            </a:r>
            <a:endParaRPr/>
          </a:p>
        </p:txBody>
      </p:sp>
      <p:sp>
        <p:nvSpPr>
          <p:cNvPr id="2034960392" name=""/>
          <p:cNvSpPr/>
          <p:nvPr/>
        </p:nvSpPr>
        <p:spPr bwMode="auto">
          <a:xfrm rot="0" flipH="0" flipV="0">
            <a:off x="5166216" y="803872"/>
            <a:ext cx="865917" cy="1005044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10488907" name=""/>
          <p:cNvSpPr txBox="1"/>
          <p:nvPr/>
        </p:nvSpPr>
        <p:spPr bwMode="auto">
          <a:xfrm rot="0" flipH="0" flipV="0">
            <a:off x="5166216" y="803872"/>
            <a:ext cx="1244728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E1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首頁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2106177" name=""/>
          <p:cNvSpPr txBox="1"/>
          <p:nvPr/>
        </p:nvSpPr>
        <p:spPr bwMode="auto">
          <a:xfrm rot="0" flipH="0" flipV="0">
            <a:off x="9645631" y="803872"/>
            <a:ext cx="741197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E7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搜尋</a:t>
            </a:r>
            <a:r>
              <a:rPr sz="1600"/>
              <a:t>結果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088997193" name=""/>
          <p:cNvSpPr txBox="1"/>
          <p:nvPr/>
        </p:nvSpPr>
        <p:spPr bwMode="auto">
          <a:xfrm rot="0" flipH="0" flipV="0">
            <a:off x="3720603" y="2421820"/>
            <a:ext cx="78017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相親旅行</a:t>
            </a:r>
            <a:endParaRPr sz="1600"/>
          </a:p>
        </p:txBody>
      </p:sp>
      <p:sp>
        <p:nvSpPr>
          <p:cNvPr id="1644980429" name=""/>
          <p:cNvSpPr txBox="1"/>
          <p:nvPr/>
        </p:nvSpPr>
        <p:spPr bwMode="auto">
          <a:xfrm rot="0" flipH="0" flipV="0">
            <a:off x="4771729" y="2394679"/>
            <a:ext cx="78161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E5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性格測試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830905645" name=""/>
          <p:cNvSpPr txBox="1"/>
          <p:nvPr/>
        </p:nvSpPr>
        <p:spPr bwMode="auto">
          <a:xfrm rot="0" flipH="0" flipV="0">
            <a:off x="5854759" y="2364199"/>
            <a:ext cx="78341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E6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安裝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67799155" name=""/>
          <p:cNvSpPr txBox="1"/>
          <p:nvPr/>
        </p:nvSpPr>
        <p:spPr bwMode="auto">
          <a:xfrm rot="0" flipH="0" flipV="0">
            <a:off x="6977989" y="2364199"/>
            <a:ext cx="68390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E8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會員登入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38629704" name=""/>
          <p:cNvSpPr txBox="1"/>
          <p:nvPr/>
        </p:nvSpPr>
        <p:spPr bwMode="auto">
          <a:xfrm rot="0" flipH="0" flipV="0">
            <a:off x="8029589" y="2357532"/>
            <a:ext cx="68214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其他服務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24228417" name=""/>
          <p:cNvSpPr txBox="1"/>
          <p:nvPr/>
        </p:nvSpPr>
        <p:spPr bwMode="auto">
          <a:xfrm rot="0" flipH="0" flipV="0">
            <a:off x="9076950" y="2333719"/>
            <a:ext cx="68430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E10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104207299" name=""/>
          <p:cNvSpPr txBox="1"/>
          <p:nvPr/>
        </p:nvSpPr>
        <p:spPr bwMode="auto">
          <a:xfrm rot="0" flipH="0" flipV="0">
            <a:off x="10169216" y="2333719"/>
            <a:ext cx="68502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E11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關於我們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11405312" name=""/>
          <p:cNvSpPr txBox="1"/>
          <p:nvPr/>
        </p:nvSpPr>
        <p:spPr bwMode="auto">
          <a:xfrm rot="0" flipH="0" flipV="0">
            <a:off x="11201560" y="2318289"/>
            <a:ext cx="686466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E12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付款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98317918" name=""/>
          <p:cNvSpPr/>
          <p:nvPr/>
        </p:nvSpPr>
        <p:spPr bwMode="auto">
          <a:xfrm rot="0" flipH="0" flipV="0">
            <a:off x="4751724" y="3946418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903571078" name=""/>
          <p:cNvSpPr txBox="1"/>
          <p:nvPr/>
        </p:nvSpPr>
        <p:spPr bwMode="auto">
          <a:xfrm rot="0" flipH="0" flipV="0">
            <a:off x="4751724" y="3946418"/>
            <a:ext cx="773868" cy="8264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E５.１</a:t>
            </a:r>
            <a:endParaRPr sz="1600" b="0" i="0" u="none" strike="noStrike" cap="none" spc="0">
              <a:solidFill>
                <a:srgbClr val="000000"/>
              </a:solidFill>
              <a:latin typeface="Linux Biolinum O"/>
              <a:cs typeface="Linux Biolinum 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九型人格</a:t>
            </a:r>
            <a:endParaRPr sz="1600" b="0" i="0" u="none" strike="noStrike" cap="none" spc="0">
              <a:solidFill>
                <a:srgbClr val="000000"/>
              </a:solidFill>
              <a:latin typeface="Linux Biolinum O"/>
              <a:cs typeface="Linux Biolinum O"/>
            </a:endParaRPr>
          </a:p>
        </p:txBody>
      </p:sp>
      <p:sp>
        <p:nvSpPr>
          <p:cNvPr id="1116994261" name=""/>
          <p:cNvSpPr/>
          <p:nvPr/>
        </p:nvSpPr>
        <p:spPr bwMode="auto">
          <a:xfrm rot="0" flipH="0" flipV="0">
            <a:off x="3359028" y="3953085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652847006" name=""/>
          <p:cNvSpPr txBox="1"/>
          <p:nvPr/>
        </p:nvSpPr>
        <p:spPr bwMode="auto">
          <a:xfrm rot="0" flipH="0" flipV="0">
            <a:off x="3359028" y="3953085"/>
            <a:ext cx="994591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E５.２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測試結果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77533340" name=""/>
          <p:cNvSpPr/>
          <p:nvPr/>
        </p:nvSpPr>
        <p:spPr bwMode="auto">
          <a:xfrm rot="0" flipH="0" flipV="0">
            <a:off x="5854759" y="496835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768244428" name=""/>
          <p:cNvSpPr/>
          <p:nvPr/>
        </p:nvSpPr>
        <p:spPr bwMode="auto">
          <a:xfrm rot="0" flipH="0" flipV="0">
            <a:off x="6977989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657366258" name=""/>
          <p:cNvSpPr/>
          <p:nvPr/>
        </p:nvSpPr>
        <p:spPr bwMode="auto">
          <a:xfrm rot="0" flipH="0" flipV="0">
            <a:off x="8029589" y="4931203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706653283" name=""/>
          <p:cNvSpPr/>
          <p:nvPr/>
        </p:nvSpPr>
        <p:spPr bwMode="auto">
          <a:xfrm rot="0" flipH="0" flipV="0">
            <a:off x="9076950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739137759" name=""/>
          <p:cNvSpPr/>
          <p:nvPr/>
        </p:nvSpPr>
        <p:spPr bwMode="auto">
          <a:xfrm rot="0" flipH="0" flipV="0">
            <a:off x="10169216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148377155" name=""/>
          <p:cNvSpPr/>
          <p:nvPr/>
        </p:nvSpPr>
        <p:spPr bwMode="auto">
          <a:xfrm rot="0" flipH="0" flipV="0">
            <a:off x="11201560" y="4910433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501727804" name=""/>
          <p:cNvSpPr txBox="1"/>
          <p:nvPr/>
        </p:nvSpPr>
        <p:spPr bwMode="auto">
          <a:xfrm rot="0" flipH="0" flipV="0">
            <a:off x="5854759" y="4968351"/>
            <a:ext cx="78845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E９.１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婚禮籌辦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6762946" name=""/>
          <p:cNvSpPr txBox="1"/>
          <p:nvPr/>
        </p:nvSpPr>
        <p:spPr bwMode="auto">
          <a:xfrm rot="0" flipH="0" flipV="0">
            <a:off x="6977989" y="4968350"/>
            <a:ext cx="789105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E９.２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心理輔導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32932313" name=""/>
          <p:cNvSpPr txBox="1"/>
          <p:nvPr/>
        </p:nvSpPr>
        <p:spPr bwMode="auto">
          <a:xfrm rot="0" flipH="0" flipV="0">
            <a:off x="8029589" y="4961683"/>
            <a:ext cx="785254" cy="830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E９.３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醫療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檢查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15716776" name=""/>
          <p:cNvSpPr txBox="1"/>
          <p:nvPr/>
        </p:nvSpPr>
        <p:spPr bwMode="auto">
          <a:xfrm rot="0" flipH="0" flipV="0">
            <a:off x="9076950" y="4937870"/>
            <a:ext cx="78564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E９.４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親子鑑定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988043747" name=""/>
          <p:cNvSpPr txBox="1"/>
          <p:nvPr/>
        </p:nvSpPr>
        <p:spPr bwMode="auto">
          <a:xfrm rot="0" flipH="0" flipV="0">
            <a:off x="10170026" y="4937870"/>
            <a:ext cx="805258" cy="58848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E９.５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分手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92335537" name=""/>
          <p:cNvSpPr txBox="1"/>
          <p:nvPr/>
        </p:nvSpPr>
        <p:spPr bwMode="auto">
          <a:xfrm rot="0" flipH="0" flipV="0">
            <a:off x="11202460" y="4916648"/>
            <a:ext cx="787383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E９.６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遺產繼承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93475990" name=""/>
          <p:cNvSpPr/>
          <p:nvPr/>
        </p:nvSpPr>
        <p:spPr bwMode="auto">
          <a:xfrm rot="0" flipH="0" flipV="0">
            <a:off x="370104" y="5643466"/>
            <a:ext cx="873639" cy="1078007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396308331" name=""/>
          <p:cNvSpPr txBox="1"/>
          <p:nvPr/>
        </p:nvSpPr>
        <p:spPr bwMode="auto">
          <a:xfrm rot="0" flipH="0" flipV="0">
            <a:off x="367224" y="5643466"/>
            <a:ext cx="732370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E１３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sz="1600"/>
          </a:p>
        </p:txBody>
      </p:sp>
      <p:sp>
        <p:nvSpPr>
          <p:cNvPr id="979542789" name=""/>
          <p:cNvSpPr/>
          <p:nvPr/>
        </p:nvSpPr>
        <p:spPr bwMode="auto">
          <a:xfrm rot="0" flipH="0" flipV="0">
            <a:off x="1463481" y="56672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365317937" name=""/>
          <p:cNvSpPr/>
          <p:nvPr/>
        </p:nvSpPr>
        <p:spPr bwMode="auto">
          <a:xfrm rot="0" flipH="0" flipV="0">
            <a:off x="2518000" y="56672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64139183" name=""/>
          <p:cNvSpPr/>
          <p:nvPr/>
        </p:nvSpPr>
        <p:spPr bwMode="auto">
          <a:xfrm rot="0" flipH="0" flipV="0">
            <a:off x="3569125" y="5640138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71663393" name=""/>
          <p:cNvSpPr txBox="1"/>
          <p:nvPr/>
        </p:nvSpPr>
        <p:spPr bwMode="auto">
          <a:xfrm rot="0" flipH="0" flipV="0">
            <a:off x="1463481" y="5667279"/>
            <a:ext cx="780533" cy="7989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E１４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0449746" name=""/>
          <p:cNvSpPr txBox="1"/>
          <p:nvPr/>
        </p:nvSpPr>
        <p:spPr bwMode="auto">
          <a:xfrm rot="0" flipH="0" flipV="0">
            <a:off x="2518000" y="5667279"/>
            <a:ext cx="781613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E１５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endParaRPr/>
          </a:p>
        </p:txBody>
      </p:sp>
      <p:sp>
        <p:nvSpPr>
          <p:cNvPr id="1998322059" name=""/>
          <p:cNvSpPr txBox="1"/>
          <p:nvPr/>
        </p:nvSpPr>
        <p:spPr bwMode="auto">
          <a:xfrm rot="0" flipH="0" flipV="0">
            <a:off x="3569125" y="5640138"/>
            <a:ext cx="78341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E１６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746891890" name=""/>
          <p:cNvCxnSpPr/>
          <p:nvPr/>
        </p:nvCxnSpPr>
        <p:spPr bwMode="auto">
          <a:xfrm flipH="0" flipV="1">
            <a:off x="2014846" y="1983644"/>
            <a:ext cx="979206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061321" name=""/>
          <p:cNvCxnSpPr>
            <a:endCxn id="1612083739" idx="1"/>
          </p:cNvCxnSpPr>
          <p:nvPr/>
        </p:nvCxnSpPr>
        <p:spPr bwMode="auto">
          <a:xfrm rot="0" flipH="0" flipV="0">
            <a:off x="6032134" y="1312729"/>
            <a:ext cx="3605775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259997" name=""/>
          <p:cNvCxnSpPr/>
          <p:nvPr/>
        </p:nvCxnSpPr>
        <p:spPr bwMode="auto">
          <a:xfrm rot="0" flipH="1" flipV="0">
            <a:off x="5788401" y="1650999"/>
            <a:ext cx="0" cy="332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390539" name=""/>
          <p:cNvCxnSpPr/>
          <p:nvPr/>
        </p:nvCxnSpPr>
        <p:spPr bwMode="auto">
          <a:xfrm rot="0" flipH="1" flipV="0">
            <a:off x="2014846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166854" name=""/>
          <p:cNvCxnSpPr/>
          <p:nvPr/>
        </p:nvCxnSpPr>
        <p:spPr bwMode="auto">
          <a:xfrm rot="0" flipH="1" flipV="0">
            <a:off x="3055091" y="2010785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2357337" name=""/>
          <p:cNvCxnSpPr/>
          <p:nvPr/>
        </p:nvCxnSpPr>
        <p:spPr bwMode="auto">
          <a:xfrm rot="0" flipH="1" flipV="0">
            <a:off x="4110331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5396264" name=""/>
          <p:cNvCxnSpPr/>
          <p:nvPr/>
        </p:nvCxnSpPr>
        <p:spPr bwMode="auto">
          <a:xfrm rot="0" flipH="1" flipV="0">
            <a:off x="5208548" y="2010785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9564383" name=""/>
          <p:cNvCxnSpPr/>
          <p:nvPr/>
        </p:nvCxnSpPr>
        <p:spPr bwMode="auto">
          <a:xfrm rot="0" flipH="1" flipV="0">
            <a:off x="6219977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760301" name=""/>
          <p:cNvCxnSpPr/>
          <p:nvPr/>
        </p:nvCxnSpPr>
        <p:spPr bwMode="auto">
          <a:xfrm rot="0" flipH="1" flipV="0">
            <a:off x="7385979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0911219" name=""/>
          <p:cNvCxnSpPr/>
          <p:nvPr/>
        </p:nvCxnSpPr>
        <p:spPr bwMode="auto">
          <a:xfrm rot="0" flipH="1" flipV="0">
            <a:off x="8437579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661185" name=""/>
          <p:cNvCxnSpPr/>
          <p:nvPr/>
        </p:nvCxnSpPr>
        <p:spPr bwMode="auto">
          <a:xfrm rot="0" flipH="1" flipV="0">
            <a:off x="9484940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477388" name=""/>
          <p:cNvCxnSpPr/>
          <p:nvPr/>
        </p:nvCxnSpPr>
        <p:spPr bwMode="auto">
          <a:xfrm rot="0" flipH="1" flipV="0">
            <a:off x="10606035" y="195316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156027" name=""/>
          <p:cNvCxnSpPr/>
          <p:nvPr/>
        </p:nvCxnSpPr>
        <p:spPr bwMode="auto">
          <a:xfrm rot="0" flipH="1" flipV="0">
            <a:off x="11806909" y="195316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826808" name=""/>
          <p:cNvCxnSpPr/>
          <p:nvPr/>
        </p:nvCxnSpPr>
        <p:spPr bwMode="auto">
          <a:xfrm flipH="0" flipV="1">
            <a:off x="1098874" y="1319064"/>
            <a:ext cx="4075384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375062" name=""/>
          <p:cNvCxnSpPr/>
          <p:nvPr/>
        </p:nvCxnSpPr>
        <p:spPr bwMode="auto">
          <a:xfrm flipH="0" flipV="1">
            <a:off x="694888" y="5270499"/>
            <a:ext cx="3327519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3769133" name=""/>
          <p:cNvCxnSpPr/>
          <p:nvPr/>
        </p:nvCxnSpPr>
        <p:spPr bwMode="auto">
          <a:xfrm rot="0" flipH="1" flipV="0">
            <a:off x="1098874" y="1306395"/>
            <a:ext cx="0" cy="396410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729438" name=""/>
          <p:cNvCxnSpPr/>
          <p:nvPr/>
        </p:nvCxnSpPr>
        <p:spPr bwMode="auto">
          <a:xfrm rot="0" flipH="1" flipV="0">
            <a:off x="694888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1831953" name=""/>
          <p:cNvCxnSpPr/>
          <p:nvPr/>
        </p:nvCxnSpPr>
        <p:spPr bwMode="auto">
          <a:xfrm rot="0" flipH="1" flipV="0">
            <a:off x="1900300" y="5278341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2231058" name=""/>
          <p:cNvCxnSpPr/>
          <p:nvPr/>
        </p:nvCxnSpPr>
        <p:spPr bwMode="auto">
          <a:xfrm rot="0" flipH="1" flipV="0">
            <a:off x="2954820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0986027" name=""/>
          <p:cNvCxnSpPr/>
          <p:nvPr/>
        </p:nvCxnSpPr>
        <p:spPr bwMode="auto">
          <a:xfrm rot="0" flipH="1" flipV="0">
            <a:off x="4005945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305419" name=""/>
          <p:cNvCxnSpPr>
            <a:endCxn id="1903571078" idx="0"/>
          </p:cNvCxnSpPr>
          <p:nvPr/>
        </p:nvCxnSpPr>
        <p:spPr bwMode="auto">
          <a:xfrm rot="5400000" flipH="0" flipV="1">
            <a:off x="4876002" y="3687708"/>
            <a:ext cx="51741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8282759" name=""/>
          <p:cNvCxnSpPr>
            <a:stCxn id="1903571078" idx="1"/>
          </p:cNvCxnSpPr>
          <p:nvPr/>
        </p:nvCxnSpPr>
        <p:spPr bwMode="auto">
          <a:xfrm rot="10800000" flipH="0" flipV="0">
            <a:off x="4273874" y="4354694"/>
            <a:ext cx="477849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708638" name=""/>
          <p:cNvCxnSpPr/>
          <p:nvPr/>
        </p:nvCxnSpPr>
        <p:spPr bwMode="auto">
          <a:xfrm flipH="0" flipV="1">
            <a:off x="6399887" y="4354694"/>
            <a:ext cx="5146526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565903" name=""/>
          <p:cNvCxnSpPr/>
          <p:nvPr/>
        </p:nvCxnSpPr>
        <p:spPr bwMode="auto">
          <a:xfrm rot="5400000" flipH="0" flipV="1">
            <a:off x="7922803" y="3803223"/>
            <a:ext cx="102955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6496364" name=""/>
          <p:cNvCxnSpPr/>
          <p:nvPr/>
        </p:nvCxnSpPr>
        <p:spPr bwMode="auto">
          <a:xfrm rot="0" flipH="1" flipV="0">
            <a:off x="6410585" y="4369249"/>
            <a:ext cx="0" cy="59243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823021" name=""/>
          <p:cNvCxnSpPr/>
          <p:nvPr/>
        </p:nvCxnSpPr>
        <p:spPr bwMode="auto">
          <a:xfrm rot="0" flipH="1" flipV="0">
            <a:off x="7320840" y="4369249"/>
            <a:ext cx="0" cy="54118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688130" name=""/>
          <p:cNvCxnSpPr/>
          <p:nvPr/>
        </p:nvCxnSpPr>
        <p:spPr bwMode="auto">
          <a:xfrm rot="0" flipH="1" flipV="0">
            <a:off x="8437579" y="4317999"/>
            <a:ext cx="0" cy="59243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807468" name=""/>
          <p:cNvCxnSpPr/>
          <p:nvPr/>
        </p:nvCxnSpPr>
        <p:spPr bwMode="auto">
          <a:xfrm rot="5400000" flipH="0" flipV="0">
            <a:off x="9149592" y="4639841"/>
            <a:ext cx="54118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918026" name=""/>
          <p:cNvCxnSpPr/>
          <p:nvPr/>
        </p:nvCxnSpPr>
        <p:spPr bwMode="auto">
          <a:xfrm rot="5400000" flipH="0" flipV="0">
            <a:off x="10228679" y="4653560"/>
            <a:ext cx="56862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675828" name=""/>
          <p:cNvCxnSpPr/>
          <p:nvPr/>
        </p:nvCxnSpPr>
        <p:spPr bwMode="auto">
          <a:xfrm rot="5400000" flipH="0" flipV="1">
            <a:off x="11265436" y="4635671"/>
            <a:ext cx="56195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24725492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3360780" name="TextBox 20"/>
          <p:cNvSpPr txBox="1"/>
          <p:nvPr/>
        </p:nvSpPr>
        <p:spPr bwMode="auto">
          <a:xfrm>
            <a:off x="0" y="646290"/>
            <a:ext cx="8262320" cy="469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endParaRPr lang="en-US" sz="2400"/>
          </a:p>
        </p:txBody>
      </p:sp>
      <p:sp>
        <p:nvSpPr>
          <p:cNvPr id="309078414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sp>
        <p:nvSpPr>
          <p:cNvPr id="1933434486" name="Google Shape;90;p1"/>
          <p:cNvSpPr txBox="1"/>
          <p:nvPr/>
        </p:nvSpPr>
        <p:spPr bwMode="auto">
          <a:xfrm>
            <a:off x="-45718" y="-2891"/>
            <a:ext cx="1228343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864984326" name=""/>
          <p:cNvSpPr txBox="1"/>
          <p:nvPr/>
        </p:nvSpPr>
        <p:spPr bwMode="auto">
          <a:xfrm rot="0" flipH="0" flipV="0">
            <a:off x="9857862" y="662519"/>
            <a:ext cx="1826648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-總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2606997" name=""/>
          <p:cNvSpPr txBox="1"/>
          <p:nvPr/>
        </p:nvSpPr>
        <p:spPr bwMode="auto">
          <a:xfrm rot="0" flipH="0" flipV="0">
            <a:off x="103090" y="1099136"/>
            <a:ext cx="11909128" cy="7013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</a:t>
            </a:r>
            <a:endParaRPr sz="2000"/>
          </a:p>
          <a:p>
            <a:pPr algn="ctr">
              <a:defRPr/>
            </a:pPr>
            <a:endParaRPr sz="2000"/>
          </a:p>
        </p:txBody>
      </p:sp>
      <p:sp>
        <p:nvSpPr>
          <p:cNvPr id="1898523972" name=""/>
          <p:cNvSpPr txBox="1"/>
          <p:nvPr/>
        </p:nvSpPr>
        <p:spPr bwMode="auto">
          <a:xfrm rot="0" flipH="0" flipV="0">
            <a:off x="140355" y="6316203"/>
            <a:ext cx="11915969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底層</a:t>
            </a:r>
            <a:endParaRPr sz="2000"/>
          </a:p>
        </p:txBody>
      </p:sp>
      <p:sp>
        <p:nvSpPr>
          <p:cNvPr id="1628148170" name=""/>
          <p:cNvSpPr txBox="1"/>
          <p:nvPr/>
        </p:nvSpPr>
        <p:spPr bwMode="auto">
          <a:xfrm rot="0" flipH="0" flipV="0">
            <a:off x="94092" y="2159839"/>
            <a:ext cx="11929289" cy="40541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r>
              <a:rPr sz="2000"/>
              <a:t>內容</a:t>
            </a: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3304671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22736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763831564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768922279" name=""/>
          <p:cNvSpPr txBox="1"/>
          <p:nvPr/>
        </p:nvSpPr>
        <p:spPr bwMode="auto">
          <a:xfrm rot="0" flipH="0" flipV="0">
            <a:off x="9789161" y="662518"/>
            <a:ext cx="2227376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頂層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052159" name=""/>
          <p:cNvSpPr txBox="1"/>
          <p:nvPr/>
        </p:nvSpPr>
        <p:spPr bwMode="auto">
          <a:xfrm rot="0" flipH="0" flipV="0">
            <a:off x="103091" y="1115370"/>
            <a:ext cx="11912368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</a:t>
            </a:r>
            <a:endParaRPr sz="2000"/>
          </a:p>
        </p:txBody>
      </p:sp>
      <p:sp>
        <p:nvSpPr>
          <p:cNvPr id="1962530820" name=""/>
          <p:cNvSpPr/>
          <p:nvPr/>
        </p:nvSpPr>
        <p:spPr bwMode="auto">
          <a:xfrm rot="0" flipH="0" flipV="0">
            <a:off x="106693" y="1724599"/>
            <a:ext cx="11908048" cy="1407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945799" name=""/>
          <p:cNvSpPr txBox="1"/>
          <p:nvPr/>
        </p:nvSpPr>
        <p:spPr bwMode="auto">
          <a:xfrm rot="0" flipH="0" flipV="0">
            <a:off x="1277710" y="2423765"/>
            <a:ext cx="8752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首頁</a:t>
            </a:r>
            <a:endParaRPr sz="2400">
              <a:latin typeface="Linux Biolinum O"/>
              <a:cs typeface="Linux Biolinum O"/>
            </a:endParaRPr>
          </a:p>
        </p:txBody>
      </p:sp>
      <p:sp>
        <p:nvSpPr>
          <p:cNvPr id="795775780" name=""/>
          <p:cNvSpPr txBox="1"/>
          <p:nvPr/>
        </p:nvSpPr>
        <p:spPr bwMode="auto">
          <a:xfrm rot="0" flipH="0" flipV="0">
            <a:off x="3459452" y="2076176"/>
            <a:ext cx="823333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性格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測試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7871476" name=""/>
          <p:cNvSpPr txBox="1"/>
          <p:nvPr/>
        </p:nvSpPr>
        <p:spPr bwMode="auto">
          <a:xfrm rot="0" flipH="0" flipV="0">
            <a:off x="4500717" y="2069876"/>
            <a:ext cx="844292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安裝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44095853" name=""/>
          <p:cNvSpPr txBox="1"/>
          <p:nvPr/>
        </p:nvSpPr>
        <p:spPr bwMode="auto">
          <a:xfrm rot="0" flipH="0" flipV="0">
            <a:off x="5537741" y="2056826"/>
            <a:ext cx="815429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會員登入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29769150" name=""/>
          <p:cNvSpPr txBox="1"/>
          <p:nvPr/>
        </p:nvSpPr>
        <p:spPr bwMode="auto">
          <a:xfrm rot="0" flipH="0" flipV="0">
            <a:off x="6624945" y="2043776"/>
            <a:ext cx="829861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04152446" name=""/>
          <p:cNvSpPr txBox="1"/>
          <p:nvPr/>
        </p:nvSpPr>
        <p:spPr bwMode="auto">
          <a:xfrm rot="0" flipH="0" flipV="0">
            <a:off x="7596158" y="2025076"/>
            <a:ext cx="823333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73875979" name=""/>
          <p:cNvSpPr txBox="1"/>
          <p:nvPr/>
        </p:nvSpPr>
        <p:spPr bwMode="auto">
          <a:xfrm rot="0" flipH="0" flipV="0">
            <a:off x="8574323" y="2029627"/>
            <a:ext cx="836924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關於我們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01335311" name=""/>
          <p:cNvSpPr/>
          <p:nvPr/>
        </p:nvSpPr>
        <p:spPr bwMode="auto">
          <a:xfrm rot="0" flipH="0" flipV="0">
            <a:off x="10698807" y="2363635"/>
            <a:ext cx="1011115" cy="457560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0267073" name=""/>
          <p:cNvSpPr txBox="1"/>
          <p:nvPr/>
        </p:nvSpPr>
        <p:spPr bwMode="auto">
          <a:xfrm rot="0" flipH="0" flipV="0">
            <a:off x="1186611" y="3549739"/>
            <a:ext cx="1206016" cy="10855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926777698" name=""/>
          <p:cNvCxnSpPr/>
          <p:nvPr/>
        </p:nvCxnSpPr>
        <p:spPr bwMode="auto">
          <a:xfrm rot="0" flipH="0" flipV="1">
            <a:off x="1711024" y="2895474"/>
            <a:ext cx="0" cy="654265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996199" name=""/>
          <p:cNvCxnSpPr/>
          <p:nvPr/>
        </p:nvCxnSpPr>
        <p:spPr bwMode="auto">
          <a:xfrm rot="0" flipH="0" flipV="1">
            <a:off x="3821949" y="2899496"/>
            <a:ext cx="0" cy="173985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34942" name=""/>
          <p:cNvSpPr txBox="1"/>
          <p:nvPr/>
        </p:nvSpPr>
        <p:spPr bwMode="auto">
          <a:xfrm rot="0" flipH="0" flipV="0">
            <a:off x="3143178" y="4639356"/>
            <a:ext cx="135753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到E5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27985430" name=""/>
          <p:cNvCxnSpPr/>
          <p:nvPr/>
        </p:nvCxnSpPr>
        <p:spPr bwMode="auto">
          <a:xfrm rot="0" flipH="0" flipV="1">
            <a:off x="4858612" y="2907345"/>
            <a:ext cx="0" cy="250153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7739791" name=""/>
          <p:cNvSpPr txBox="1"/>
          <p:nvPr/>
        </p:nvSpPr>
        <p:spPr bwMode="auto">
          <a:xfrm rot="0" flipH="0" flipV="0">
            <a:off x="4179483" y="5381686"/>
            <a:ext cx="135825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到E6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3241153" name=""/>
          <p:cNvCxnSpPr/>
          <p:nvPr/>
        </p:nvCxnSpPr>
        <p:spPr bwMode="auto">
          <a:xfrm rot="16199998" flipH="0" flipV="1">
            <a:off x="4323856" y="4477741"/>
            <a:ext cx="314079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756052" name=""/>
          <p:cNvSpPr txBox="1"/>
          <p:nvPr/>
        </p:nvSpPr>
        <p:spPr bwMode="auto">
          <a:xfrm rot="0" flipH="0" flipV="0">
            <a:off x="5265966" y="6048137"/>
            <a:ext cx="135897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到E8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37258621" name=""/>
          <p:cNvCxnSpPr/>
          <p:nvPr/>
        </p:nvCxnSpPr>
        <p:spPr bwMode="auto">
          <a:xfrm rot="16199998" flipH="0" flipV="1">
            <a:off x="6728008" y="3178964"/>
            <a:ext cx="623736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079896" name=""/>
          <p:cNvSpPr txBox="1"/>
          <p:nvPr/>
        </p:nvSpPr>
        <p:spPr bwMode="auto">
          <a:xfrm rot="0" flipH="0" flipV="0">
            <a:off x="6349793" y="3486249"/>
            <a:ext cx="135969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到E9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76307638" name=""/>
          <p:cNvCxnSpPr/>
          <p:nvPr/>
        </p:nvCxnSpPr>
        <p:spPr bwMode="auto">
          <a:xfrm rot="0" flipH="0" flipV="1">
            <a:off x="8007824" y="2867098"/>
            <a:ext cx="0" cy="173985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86456" name=""/>
          <p:cNvSpPr txBox="1"/>
          <p:nvPr/>
        </p:nvSpPr>
        <p:spPr bwMode="auto">
          <a:xfrm rot="0" flipH="0" flipV="0">
            <a:off x="7327795" y="4606958"/>
            <a:ext cx="136077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到E10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85148524" name=""/>
          <p:cNvCxnSpPr/>
          <p:nvPr/>
        </p:nvCxnSpPr>
        <p:spPr bwMode="auto">
          <a:xfrm rot="0" flipH="0" flipV="1">
            <a:off x="8992785" y="2880145"/>
            <a:ext cx="0" cy="250153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9589899" name=""/>
          <p:cNvSpPr txBox="1"/>
          <p:nvPr/>
        </p:nvSpPr>
        <p:spPr bwMode="auto">
          <a:xfrm rot="0" flipH="0" flipV="0">
            <a:off x="8322263" y="5354487"/>
            <a:ext cx="136149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25595262" name=""/>
          <p:cNvCxnSpPr/>
          <p:nvPr/>
        </p:nvCxnSpPr>
        <p:spPr bwMode="auto">
          <a:xfrm rot="16199998" flipH="0" flipV="1">
            <a:off x="8411802" y="4437493"/>
            <a:ext cx="314079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8100318" name=""/>
          <p:cNvSpPr txBox="1"/>
          <p:nvPr/>
        </p:nvSpPr>
        <p:spPr bwMode="auto">
          <a:xfrm rot="0" flipH="0" flipV="0">
            <a:off x="9411247" y="6007889"/>
            <a:ext cx="136005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到E12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18848554" name=""/>
          <p:cNvCxnSpPr/>
          <p:nvPr/>
        </p:nvCxnSpPr>
        <p:spPr bwMode="auto">
          <a:xfrm rot="0" flipH="0" flipV="1">
            <a:off x="11208128" y="2821196"/>
            <a:ext cx="0" cy="115771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290046" name=""/>
          <p:cNvSpPr txBox="1"/>
          <p:nvPr/>
        </p:nvSpPr>
        <p:spPr bwMode="auto">
          <a:xfrm rot="0" flipH="0" flipV="0">
            <a:off x="10698807" y="4013600"/>
            <a:ext cx="1428283" cy="84175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放大鏡: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到E7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044329" name=""/>
          <p:cNvSpPr txBox="1"/>
          <p:nvPr/>
        </p:nvSpPr>
        <p:spPr bwMode="auto">
          <a:xfrm rot="0" flipH="0" flipV="0">
            <a:off x="2391909" y="2437915"/>
            <a:ext cx="8680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相親</a:t>
            </a:r>
            <a:endParaRPr sz="2400">
              <a:latin typeface="Linux Biolinum O"/>
              <a:cs typeface="Linux Biolinum O"/>
            </a:endParaRPr>
          </a:p>
        </p:txBody>
      </p:sp>
      <p:sp>
        <p:nvSpPr>
          <p:cNvPr id="28729287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8664AEC-9FF1-3148-8A1E-2451772B1BEC}" type="slidenum">
              <a:rPr lang="en-US"/>
              <a:t>12</a:t>
            </a:fld>
            <a:endParaRPr/>
          </a:p>
        </p:txBody>
      </p:sp>
      <p:cxnSp>
        <p:nvCxnSpPr>
          <p:cNvPr id="719887101" name=""/>
          <p:cNvCxnSpPr/>
          <p:nvPr/>
        </p:nvCxnSpPr>
        <p:spPr bwMode="auto">
          <a:xfrm rot="16199998" flipH="0" flipV="0">
            <a:off x="1474152" y="4261416"/>
            <a:ext cx="270358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293864" name=""/>
          <p:cNvSpPr txBox="1"/>
          <p:nvPr/>
        </p:nvSpPr>
        <p:spPr bwMode="auto">
          <a:xfrm rot="0" flipH="0" flipV="0">
            <a:off x="1980306" y="5678363"/>
            <a:ext cx="1567228" cy="10855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:轉手指及顯示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子連結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子連結: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到E2/E3/E4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704072" name=""/>
          <p:cNvSpPr txBox="1"/>
          <p:nvPr/>
        </p:nvSpPr>
        <p:spPr bwMode="auto">
          <a:xfrm rot="0" flipH="0" flipV="0">
            <a:off x="252804" y="2422584"/>
            <a:ext cx="876708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標識</a:t>
            </a:r>
            <a:endParaRPr sz="2400">
              <a:latin typeface="Linux Biolinum O"/>
              <a:cs typeface="Linux Biolinum O"/>
            </a:endParaRPr>
          </a:p>
        </p:txBody>
      </p:sp>
      <p:pic>
        <p:nvPicPr>
          <p:cNvPr id="6456615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950953" y="2363636"/>
            <a:ext cx="514350" cy="400050"/>
          </a:xfrm>
          <a:prstGeom prst="rect">
            <a:avLst/>
          </a:prstGeom>
        </p:spPr>
      </p:pic>
      <p:sp>
        <p:nvSpPr>
          <p:cNvPr id="845414006" name=""/>
          <p:cNvSpPr/>
          <p:nvPr/>
        </p:nvSpPr>
        <p:spPr bwMode="auto">
          <a:xfrm rot="0" flipH="0" flipV="0">
            <a:off x="9527103" y="2363635"/>
            <a:ext cx="1011115" cy="457560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6971830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683760" y="2378103"/>
            <a:ext cx="552449" cy="428625"/>
          </a:xfrm>
          <a:prstGeom prst="rect">
            <a:avLst/>
          </a:prstGeom>
        </p:spPr>
      </p:pic>
      <p:cxnSp>
        <p:nvCxnSpPr>
          <p:cNvPr id="1551965641" name=""/>
          <p:cNvCxnSpPr/>
          <p:nvPr/>
        </p:nvCxnSpPr>
        <p:spPr bwMode="auto">
          <a:xfrm rot="0" flipH="0" flipV="1">
            <a:off x="691157" y="2881323"/>
            <a:ext cx="0" cy="65426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651357" name=""/>
          <p:cNvSpPr txBox="1"/>
          <p:nvPr/>
        </p:nvSpPr>
        <p:spPr bwMode="auto">
          <a:xfrm rot="0" flipH="0" flipV="0">
            <a:off x="106692" y="3549739"/>
            <a:ext cx="1206016" cy="10855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92553503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170774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924163495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602080322" name=""/>
          <p:cNvSpPr txBox="1"/>
          <p:nvPr/>
        </p:nvSpPr>
        <p:spPr bwMode="auto">
          <a:xfrm rot="0" flipH="0" flipV="0">
            <a:off x="9789162" y="662519"/>
            <a:ext cx="223097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底層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4509568" name=""/>
          <p:cNvSpPr txBox="1"/>
          <p:nvPr/>
        </p:nvSpPr>
        <p:spPr bwMode="auto">
          <a:xfrm rot="0" flipH="0" flipV="0">
            <a:off x="103092" y="1115370"/>
            <a:ext cx="11915969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底層</a:t>
            </a:r>
            <a:endParaRPr sz="2000"/>
          </a:p>
        </p:txBody>
      </p:sp>
      <p:sp>
        <p:nvSpPr>
          <p:cNvPr id="1142911192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B416DE0-81D5-C41F-EFFE-30E5F2636F59}" type="slidenum">
              <a:rPr lang="en-US"/>
              <a:t>12</a:t>
            </a:fld>
            <a:endParaRPr/>
          </a:p>
        </p:txBody>
      </p:sp>
      <p:sp>
        <p:nvSpPr>
          <p:cNvPr id="149905361" name=""/>
          <p:cNvSpPr/>
          <p:nvPr/>
        </p:nvSpPr>
        <p:spPr bwMode="auto">
          <a:xfrm rot="0" flipH="0" flipV="0">
            <a:off x="106692" y="1724598"/>
            <a:ext cx="11908048" cy="1407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0360253" name=""/>
          <p:cNvSpPr txBox="1"/>
          <p:nvPr/>
        </p:nvSpPr>
        <p:spPr bwMode="auto">
          <a:xfrm rot="0" flipH="0" flipV="0">
            <a:off x="5879959" y="2166607"/>
            <a:ext cx="1458333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86886812" name=""/>
          <p:cNvSpPr txBox="1"/>
          <p:nvPr/>
        </p:nvSpPr>
        <p:spPr bwMode="auto">
          <a:xfrm rot="0" flipH="0" flipV="0">
            <a:off x="7981457" y="2166607"/>
            <a:ext cx="1807706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裝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78395491" name=""/>
          <p:cNvSpPr txBox="1"/>
          <p:nvPr/>
        </p:nvSpPr>
        <p:spPr bwMode="auto">
          <a:xfrm rot="0" flipH="0" flipV="0">
            <a:off x="10342995" y="2166607"/>
            <a:ext cx="14294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466081542" name=""/>
          <p:cNvCxnSpPr>
            <a:endCxn id="1540360253" idx="2"/>
          </p:cNvCxnSpPr>
          <p:nvPr/>
        </p:nvCxnSpPr>
        <p:spPr bwMode="auto">
          <a:xfrm rot="16199998" flipH="0" flipV="1">
            <a:off x="5624987" y="3608487"/>
            <a:ext cx="196863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5525800" name=""/>
          <p:cNvSpPr txBox="1"/>
          <p:nvPr/>
        </p:nvSpPr>
        <p:spPr bwMode="auto">
          <a:xfrm rot="0" flipH="0" flipV="0">
            <a:off x="5833636" y="4592806"/>
            <a:ext cx="1718106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到E14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952359480" name=""/>
          <p:cNvCxnSpPr/>
          <p:nvPr/>
        </p:nvCxnSpPr>
        <p:spPr bwMode="auto">
          <a:xfrm rot="0" flipH="0" flipV="1">
            <a:off x="8885310" y="2624167"/>
            <a:ext cx="0" cy="250153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305097" name=""/>
          <p:cNvSpPr txBox="1"/>
          <p:nvPr/>
        </p:nvSpPr>
        <p:spPr bwMode="auto">
          <a:xfrm rot="0" flipH="0" flipV="0">
            <a:off x="8094713" y="5125705"/>
            <a:ext cx="1581193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到E15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1241912" name=""/>
          <p:cNvCxnSpPr/>
          <p:nvPr/>
        </p:nvCxnSpPr>
        <p:spPr bwMode="auto">
          <a:xfrm rot="16199998" flipH="0" flipV="1">
            <a:off x="9487333" y="4218888"/>
            <a:ext cx="3140791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693376" name=""/>
          <p:cNvSpPr txBox="1"/>
          <p:nvPr/>
        </p:nvSpPr>
        <p:spPr bwMode="auto">
          <a:xfrm rot="0" flipH="0" flipV="0">
            <a:off x="10342995" y="5789284"/>
            <a:ext cx="1552724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到E16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0499745" name=""/>
          <p:cNvSpPr txBox="1"/>
          <p:nvPr/>
        </p:nvSpPr>
        <p:spPr bwMode="auto">
          <a:xfrm rot="0" flipH="0" flipV="0">
            <a:off x="3760093" y="2190933"/>
            <a:ext cx="1480798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sz="2400">
              <a:latin typeface="Linux Biolinum O"/>
              <a:cs typeface="Linux Biolinum O"/>
            </a:endParaRPr>
          </a:p>
        </p:txBody>
      </p:sp>
      <p:cxnSp>
        <p:nvCxnSpPr>
          <p:cNvPr id="1711674014" name=""/>
          <p:cNvCxnSpPr/>
          <p:nvPr/>
        </p:nvCxnSpPr>
        <p:spPr bwMode="auto">
          <a:xfrm rot="16199998" flipH="0" flipV="0">
            <a:off x="3148701" y="4024609"/>
            <a:ext cx="270358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9606492" name=""/>
          <p:cNvSpPr txBox="1"/>
          <p:nvPr/>
        </p:nvSpPr>
        <p:spPr bwMode="auto">
          <a:xfrm rot="0" flipH="0" flipV="0">
            <a:off x="3760093" y="5322927"/>
            <a:ext cx="1719546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到E13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9719730" name=""/>
          <p:cNvSpPr/>
          <p:nvPr/>
        </p:nvSpPr>
        <p:spPr bwMode="auto">
          <a:xfrm rot="0" flipH="0" flipV="0">
            <a:off x="160818" y="1976653"/>
            <a:ext cx="3306718" cy="837468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5622666" name=""/>
          <p:cNvSpPr txBox="1"/>
          <p:nvPr/>
        </p:nvSpPr>
        <p:spPr bwMode="auto">
          <a:xfrm rot="0" flipH="0" flipV="0">
            <a:off x="160818" y="2104086"/>
            <a:ext cx="3306718" cy="58260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r>
              <a:rPr sz="1600" b="0" i="0" u="none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版權所有 © </a:t>
            </a:r>
            <a:r>
              <a:rPr sz="1600" b="0" i="0" u="none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2026</a:t>
            </a:r>
            <a:endParaRPr sz="1600" b="0" i="0" u="none" strike="noStrike" cap="none" spc="0">
              <a:solidFill>
                <a:schemeClr val="tx1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30974652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497156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178069110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538635497" name=""/>
          <p:cNvSpPr txBox="1"/>
          <p:nvPr/>
        </p:nvSpPr>
        <p:spPr bwMode="auto">
          <a:xfrm rot="0" flipH="0" flipV="0">
            <a:off x="9789162" y="662519"/>
            <a:ext cx="223889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3041926" name=""/>
          <p:cNvSpPr txBox="1"/>
          <p:nvPr/>
        </p:nvSpPr>
        <p:spPr bwMode="auto">
          <a:xfrm rot="0" flipH="0" flipV="0">
            <a:off x="103091" y="1115370"/>
            <a:ext cx="1195124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</a:t>
            </a:r>
            <a:endParaRPr sz="20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6568538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75BB4A2-B600-4895-8758-58A00E116D33}" type="slidenum">
              <a:rPr lang="en-US"/>
              <a:t>14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70872854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982769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450082276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054084321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1180206" name=""/>
          <p:cNvSpPr txBox="1"/>
          <p:nvPr/>
        </p:nvSpPr>
        <p:spPr bwMode="auto">
          <a:xfrm rot="0" flipH="0" flipV="0">
            <a:off x="103091" y="1115370"/>
            <a:ext cx="1196924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E2 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- E</a:t>
            </a:r>
            <a:r>
              <a:rPr sz="280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6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56154659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1BD1F43-1DAE-CAC1-FD46-9C9AD027F01C}" type="slidenum">
              <a:rPr lang="en-US"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66692050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004320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938986820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934061129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6425147" name=""/>
          <p:cNvSpPr txBox="1"/>
          <p:nvPr/>
        </p:nvSpPr>
        <p:spPr bwMode="auto">
          <a:xfrm rot="0" flipH="0" flipV="0">
            <a:off x="103091" y="1115370"/>
            <a:ext cx="1197248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E5.1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86981742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436FBEE-982A-BCD4-7B86-88C726B09943}" type="slidenum">
              <a:rPr lang="en-US"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73651980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28710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294134419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64897849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8870240" name=""/>
          <p:cNvSpPr txBox="1"/>
          <p:nvPr/>
        </p:nvSpPr>
        <p:spPr bwMode="auto">
          <a:xfrm rot="0" flipH="0" flipV="0">
            <a:off x="103091" y="1115370"/>
            <a:ext cx="1197320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E5.2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0227684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201AE3A-65B9-13D1-2C39-04A41120F2B1}" type="slidenum">
              <a:rPr lang="en-US"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4018243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218520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482665221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587659436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8456300" name=""/>
          <p:cNvSpPr txBox="1"/>
          <p:nvPr/>
        </p:nvSpPr>
        <p:spPr bwMode="auto">
          <a:xfrm rot="0" flipH="0" flipV="0">
            <a:off x="103091" y="1115370"/>
            <a:ext cx="11971407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E7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30203353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37F407E-7894-4C99-D73C-F63D6AB20C23}" type="slidenum">
              <a:rPr lang="en-US"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38145094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675261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893777204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480865954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436310" name=""/>
          <p:cNvSpPr txBox="1"/>
          <p:nvPr/>
        </p:nvSpPr>
        <p:spPr bwMode="auto">
          <a:xfrm rot="0" flipH="0" flipV="0">
            <a:off x="103091" y="1115370"/>
            <a:ext cx="1197068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E8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85861758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1E9223D-B4F5-208C-310E-B4125B237C13}" type="slidenum">
              <a:rPr lang="en-US"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78172332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244053" name="TextBox 20"/>
          <p:cNvSpPr txBox="1"/>
          <p:nvPr/>
        </p:nvSpPr>
        <p:spPr bwMode="auto">
          <a:xfrm>
            <a:off x="0" y="646290"/>
            <a:ext cx="825583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endParaRPr lang="en-US" sz="2400"/>
          </a:p>
        </p:txBody>
      </p:sp>
      <p:sp>
        <p:nvSpPr>
          <p:cNvPr id="233685715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596965402" name=""/>
          <p:cNvSpPr txBox="1"/>
          <p:nvPr/>
        </p:nvSpPr>
        <p:spPr bwMode="auto">
          <a:xfrm rot="0" flipH="0" flipV="0">
            <a:off x="10047726" y="713008"/>
            <a:ext cx="2053179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E1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首頁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975837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72CAAD6-3277-CC55-59BF-133F44F7EF34}" type="slidenum">
              <a:rPr lang="en-US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55033147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381830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787549255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55B94CD-C29A-9E96-5ECE-87DBEE3C2E09}" type="slidenum">
              <a:rPr lang="en-US"/>
              <a:t>9</a:t>
            </a:fld>
            <a:endParaRPr lang="en-US"/>
          </a:p>
        </p:txBody>
      </p:sp>
      <p:sp>
        <p:nvSpPr>
          <p:cNvPr id="880261489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843159608" name=""/>
          <p:cNvSpPr txBox="1"/>
          <p:nvPr/>
        </p:nvSpPr>
        <p:spPr bwMode="auto">
          <a:xfrm rot="0" flipH="0" flipV="0">
            <a:off x="9470453" y="713007"/>
            <a:ext cx="2544220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E2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相親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查冊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4139554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9272656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78608831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D2E57D1-62C7-A38D-FCC8-B07544DA7891}" type="slidenum">
              <a:rPr lang="en-US"/>
              <a:t>9</a:t>
            </a:fld>
            <a:endParaRPr lang="en-US"/>
          </a:p>
        </p:txBody>
      </p:sp>
      <p:sp>
        <p:nvSpPr>
          <p:cNvPr id="1605028609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0197480" name=""/>
          <p:cNvSpPr txBox="1"/>
          <p:nvPr/>
        </p:nvSpPr>
        <p:spPr bwMode="auto">
          <a:xfrm rot="0" flipH="0" flipV="0">
            <a:off x="9499316" y="713007"/>
            <a:ext cx="260158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E3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相親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叙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餐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4905168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084867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472372574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DBF4CA7-1C73-D6F2-E514-34C25DB88F39}" type="slidenum">
              <a:rPr lang="en-US"/>
              <a:t>10</a:t>
            </a:fld>
            <a:endParaRPr lang="en-US"/>
          </a:p>
        </p:txBody>
      </p:sp>
      <p:sp>
        <p:nvSpPr>
          <p:cNvPr id="8730101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40287537" name=""/>
          <p:cNvSpPr txBox="1"/>
          <p:nvPr/>
        </p:nvSpPr>
        <p:spPr bwMode="auto">
          <a:xfrm rot="0" flipH="0" flipV="0">
            <a:off x="9730226" y="713007"/>
            <a:ext cx="236995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4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相親旅行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0073619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945765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76803542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0E0AF78-D249-6ED3-500A-D5189F4DB1B9}" type="slidenum">
              <a:rPr lang="en-US"/>
              <a:t>9</a:t>
            </a:fld>
            <a:endParaRPr lang="en-US"/>
          </a:p>
        </p:txBody>
      </p:sp>
      <p:sp>
        <p:nvSpPr>
          <p:cNvPr id="553205813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790390796" name=""/>
          <p:cNvSpPr txBox="1"/>
          <p:nvPr/>
        </p:nvSpPr>
        <p:spPr bwMode="auto">
          <a:xfrm rot="0" flipH="0" flipV="0">
            <a:off x="9643635" y="713007"/>
            <a:ext cx="2457268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E5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性格測試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43822236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35743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18989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67A392B-1777-A9CA-EED6-3A8453220C64}" type="slidenum">
              <a:rPr lang="en-US"/>
              <a:t>13</a:t>
            </a:fld>
            <a:endParaRPr lang="en-US"/>
          </a:p>
        </p:txBody>
      </p:sp>
      <p:sp>
        <p:nvSpPr>
          <p:cNvPr id="1571681924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696470303" name=""/>
          <p:cNvSpPr txBox="1"/>
          <p:nvPr/>
        </p:nvSpPr>
        <p:spPr bwMode="auto">
          <a:xfrm rot="0" flipH="0" flipV="0">
            <a:off x="9095226" y="713007"/>
            <a:ext cx="3009278" cy="43137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Linux Biolinum O"/>
                <a:ea typeface="Linux Biolinum O"/>
                <a:cs typeface="Linux Biolinum O"/>
              </a:rPr>
              <a:t>E５.１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Linux Biolinum O"/>
                <a:ea typeface="Linux Biolinum O"/>
                <a:cs typeface="Linux Biolinum O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Linux Biolinum O"/>
                <a:ea typeface="Linux Biolinum O"/>
                <a:cs typeface="Linux Biolinum O"/>
              </a:rPr>
              <a:t>九型人格</a:t>
            </a:r>
            <a:endParaRPr sz="2200" b="0" i="0" u="none" strike="noStrike" cap="none" spc="0">
              <a:solidFill>
                <a:srgbClr val="C00000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1600441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12917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56400946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E20D12F-6C8E-F212-650D-EADEB6281A46}" type="slidenum">
              <a:rPr lang="en-US"/>
              <a:t>14</a:t>
            </a:fld>
            <a:endParaRPr lang="en-US"/>
          </a:p>
        </p:txBody>
      </p:sp>
      <p:sp>
        <p:nvSpPr>
          <p:cNvPr id="4150421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849066731" name=""/>
          <p:cNvSpPr txBox="1"/>
          <p:nvPr/>
        </p:nvSpPr>
        <p:spPr bwMode="auto">
          <a:xfrm rot="0" flipH="0" flipV="0">
            <a:off x="8691135" y="713007"/>
            <a:ext cx="3411567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E５.２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測試結果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063848818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173747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08901302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CC19A87-9750-DA35-A6EC-3A46DE040463}" type="slidenum">
              <a:rPr lang="en-US"/>
              <a:t>10</a:t>
            </a:fld>
            <a:endParaRPr lang="en-US"/>
          </a:p>
        </p:txBody>
      </p:sp>
      <p:sp>
        <p:nvSpPr>
          <p:cNvPr id="115554785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33612296" name=""/>
          <p:cNvSpPr txBox="1"/>
          <p:nvPr/>
        </p:nvSpPr>
        <p:spPr bwMode="auto">
          <a:xfrm rot="0" flipH="0" flipV="0">
            <a:off x="9383862" y="713007"/>
            <a:ext cx="2715962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E6 </a:t>
            </a:r>
            <a:r>
              <a:rPr lang="zh-TW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訊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安裝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29866882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226852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74792148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D9DB6B8-DA47-77F7-45D4-6A29CE5A2E01}" type="slidenum">
              <a:rPr lang="en-US"/>
              <a:t>11</a:t>
            </a:fld>
            <a:endParaRPr lang="en-US"/>
          </a:p>
        </p:txBody>
      </p:sp>
      <p:sp>
        <p:nvSpPr>
          <p:cNvPr id="1589045405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666796996" name=""/>
          <p:cNvSpPr txBox="1"/>
          <p:nvPr/>
        </p:nvSpPr>
        <p:spPr bwMode="auto">
          <a:xfrm rot="0" flipH="0" flipV="0">
            <a:off x="9427158" y="713007"/>
            <a:ext cx="267266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E7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搜尋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結果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1483914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651807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03802345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E2BF517-10D4-E6E7-9929-71B41A3BC587}" type="slidenum">
              <a:rPr lang="en-US"/>
              <a:t>12</a:t>
            </a:fld>
            <a:endParaRPr lang="en-US"/>
          </a:p>
        </p:txBody>
      </p:sp>
      <p:sp>
        <p:nvSpPr>
          <p:cNvPr id="1407799586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96138444" name=""/>
          <p:cNvSpPr txBox="1"/>
          <p:nvPr/>
        </p:nvSpPr>
        <p:spPr bwMode="auto">
          <a:xfrm rot="0" flipH="0" flipV="0">
            <a:off x="9470453" y="713007"/>
            <a:ext cx="2629371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E8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會員登入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01692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50300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29801517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38E97F4-BE96-C93E-35EF-F50F45053744}" type="slidenum">
              <a:rPr lang="en-US"/>
              <a:t>9</a:t>
            </a:fld>
            <a:endParaRPr lang="en-US"/>
          </a:p>
        </p:txBody>
      </p:sp>
      <p:sp>
        <p:nvSpPr>
          <p:cNvPr id="1741951766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78488736" name=""/>
          <p:cNvSpPr txBox="1"/>
          <p:nvPr/>
        </p:nvSpPr>
        <p:spPr bwMode="auto">
          <a:xfrm rot="0" flipH="0" flipV="0">
            <a:off x="9326135" y="713007"/>
            <a:ext cx="2774049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9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其他服務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0954350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35206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907160696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3CA66D3-423D-B78A-FA33-ED1773C2BA2A}" type="slidenum">
              <a:rPr lang="en-US"/>
              <a:t>10</a:t>
            </a:fld>
            <a:endParaRPr lang="en-US"/>
          </a:p>
        </p:txBody>
      </p:sp>
      <p:sp>
        <p:nvSpPr>
          <p:cNvPr id="176796791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68413523" name=""/>
          <p:cNvSpPr txBox="1"/>
          <p:nvPr/>
        </p:nvSpPr>
        <p:spPr bwMode="auto">
          <a:xfrm rot="0" flipH="0" flipV="0">
            <a:off x="9152953" y="713007"/>
            <a:ext cx="2946510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E９.１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婚禮籌辦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4983753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692537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5310317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072F0AD-C954-EB8A-0610-D1526B10C2CF}" type="slidenum">
              <a:rPr lang="en-US"/>
              <a:t>11</a:t>
            </a:fld>
            <a:endParaRPr lang="en-US"/>
          </a:p>
        </p:txBody>
      </p:sp>
      <p:sp>
        <p:nvSpPr>
          <p:cNvPr id="1286221001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525106815" name=""/>
          <p:cNvSpPr txBox="1"/>
          <p:nvPr/>
        </p:nvSpPr>
        <p:spPr bwMode="auto">
          <a:xfrm rot="0" flipH="0" flipV="0">
            <a:off x="8994204" y="713007"/>
            <a:ext cx="3105981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E９.２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心理輔導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3565534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98479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403819727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ED896CB-D3FB-78E0-0693-BB2E84BAE14C}" type="slidenum">
              <a:rPr lang="en-US"/>
              <a:t>12</a:t>
            </a:fld>
            <a:endParaRPr lang="en-US"/>
          </a:p>
        </p:txBody>
      </p:sp>
      <p:sp>
        <p:nvSpPr>
          <p:cNvPr id="534519431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584845447" name=""/>
          <p:cNvSpPr txBox="1"/>
          <p:nvPr/>
        </p:nvSpPr>
        <p:spPr bwMode="auto">
          <a:xfrm rot="0" flipH="0" flipV="0">
            <a:off x="9080794" y="713007"/>
            <a:ext cx="3019749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E９.３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醫療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檢查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64614863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931833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28333354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ABE8BCE-DAD1-E2FD-45D6-092F7CCF6AAF}" type="slidenum">
              <a:rPr lang="en-US"/>
              <a:t>13</a:t>
            </a:fld>
            <a:endParaRPr lang="en-US"/>
          </a:p>
        </p:txBody>
      </p:sp>
      <p:sp>
        <p:nvSpPr>
          <p:cNvPr id="78416361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269384460" name=""/>
          <p:cNvSpPr txBox="1"/>
          <p:nvPr/>
        </p:nvSpPr>
        <p:spPr bwMode="auto">
          <a:xfrm rot="0" flipH="0" flipV="0">
            <a:off x="9253976" y="713007"/>
            <a:ext cx="2845847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E９.４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親子鑑定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11096390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417255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22485995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E815401-E295-61CD-D697-847AF45102A2}" type="slidenum">
              <a:rPr lang="en-US"/>
              <a:t>14</a:t>
            </a:fld>
            <a:endParaRPr lang="en-US"/>
          </a:p>
        </p:txBody>
      </p:sp>
      <p:sp>
        <p:nvSpPr>
          <p:cNvPr id="801769920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707220722" name=""/>
          <p:cNvSpPr txBox="1"/>
          <p:nvPr/>
        </p:nvSpPr>
        <p:spPr bwMode="auto">
          <a:xfrm rot="0" flipH="0" flipV="0">
            <a:off x="9369430" y="713007"/>
            <a:ext cx="2730754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E９.５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分手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5220233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613047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872587087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2EDE457-7909-0CBB-B921-9B87A4B610F5}" type="slidenum">
              <a:rPr lang="en-US"/>
              <a:t>15</a:t>
            </a:fld>
            <a:endParaRPr lang="en-US"/>
          </a:p>
        </p:txBody>
      </p:sp>
      <p:sp>
        <p:nvSpPr>
          <p:cNvPr id="19856824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73778919" name=""/>
          <p:cNvSpPr txBox="1"/>
          <p:nvPr/>
        </p:nvSpPr>
        <p:spPr bwMode="auto">
          <a:xfrm rot="0" flipH="0" flipV="0">
            <a:off x="9066362" y="713007"/>
            <a:ext cx="3034541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E９.６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遺產繼承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0944468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8084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6134607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6690C1F-135C-3C43-7F8A-4A2195BBF3FA}" type="slidenum">
              <a:rPr lang="en-US"/>
              <a:t>16</a:t>
            </a:fld>
            <a:endParaRPr lang="en-US"/>
          </a:p>
        </p:txBody>
      </p:sp>
      <p:sp>
        <p:nvSpPr>
          <p:cNvPr id="1132574760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480701554" name=""/>
          <p:cNvSpPr txBox="1"/>
          <p:nvPr/>
        </p:nvSpPr>
        <p:spPr bwMode="auto">
          <a:xfrm rot="0" flipH="0" flipV="0">
            <a:off x="8965339" y="713007"/>
            <a:ext cx="3135564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E10 </a:t>
            </a:r>
            <a:r>
              <a:rPr lang="zh-TW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7317437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68436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705565704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1729224-30AA-A2C7-84D3-01C49BAA8EE6}" type="slidenum">
              <a:rPr lang="en-US"/>
              <a:t>9</a:t>
            </a:fld>
            <a:endParaRPr lang="en-US"/>
          </a:p>
        </p:txBody>
      </p:sp>
      <p:sp>
        <p:nvSpPr>
          <p:cNvPr id="244306452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942682977" name=""/>
          <p:cNvSpPr txBox="1"/>
          <p:nvPr/>
        </p:nvSpPr>
        <p:spPr bwMode="auto">
          <a:xfrm rot="0" flipH="0" flipV="0">
            <a:off x="9354998" y="713007"/>
            <a:ext cx="2745904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E11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關於我們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7694548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1362253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491980946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EC350BE-6C62-CFC3-B0DD-752BCDFB8136}" type="slidenum">
              <a:rPr lang="en-US"/>
              <a:t>10</a:t>
            </a:fld>
            <a:endParaRPr lang="en-US"/>
          </a:p>
        </p:txBody>
      </p:sp>
      <p:sp>
        <p:nvSpPr>
          <p:cNvPr id="10832632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534966770" name=""/>
          <p:cNvSpPr txBox="1"/>
          <p:nvPr/>
        </p:nvSpPr>
        <p:spPr bwMode="auto">
          <a:xfrm rot="0" flipH="0" flipV="0">
            <a:off x="9571475" y="713007"/>
            <a:ext cx="2528348" cy="4320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E12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付款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9597303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0298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74387278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F77E510-09D5-AB39-0BB9-E4EBF2B5E259}" type="slidenum">
              <a:rPr lang="en-US"/>
              <a:t>11</a:t>
            </a:fld>
            <a:endParaRPr lang="en-US"/>
          </a:p>
        </p:txBody>
      </p:sp>
      <p:sp>
        <p:nvSpPr>
          <p:cNvPr id="243168660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024046140" name=""/>
          <p:cNvSpPr txBox="1"/>
          <p:nvPr/>
        </p:nvSpPr>
        <p:spPr bwMode="auto">
          <a:xfrm rot="0" flipH="0" flipV="0">
            <a:off x="8893180" y="713007"/>
            <a:ext cx="3208443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E１３</a:t>
            </a:r>
            <a:r>
              <a:rPr sz="2200">
                <a:solidFill>
                  <a:srgbClr val="C00000"/>
                </a:solidFill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私隱政策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28371019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8648009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861529023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8B8F343-67DB-50A1-AF9C-BD904DE632EC}" type="slidenum">
              <a:rPr lang="en-US"/>
              <a:t>12</a:t>
            </a:fld>
            <a:endParaRPr lang="en-US"/>
          </a:p>
        </p:txBody>
      </p:sp>
      <p:sp>
        <p:nvSpPr>
          <p:cNvPr id="146104181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314545875" name=""/>
          <p:cNvSpPr txBox="1"/>
          <p:nvPr/>
        </p:nvSpPr>
        <p:spPr bwMode="auto">
          <a:xfrm rot="0" flipH="0" flipV="0">
            <a:off x="9124089" y="679977"/>
            <a:ext cx="2976814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E１４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使用條款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41401273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5186159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10298710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2818D18-1F6E-48C5-BE22-D042662B41C0}" type="slidenum">
              <a:rPr lang="en-US"/>
              <a:t>13</a:t>
            </a:fld>
            <a:endParaRPr lang="en-US"/>
          </a:p>
        </p:txBody>
      </p:sp>
      <p:sp>
        <p:nvSpPr>
          <p:cNvPr id="1601101536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39929557" name=""/>
          <p:cNvSpPr txBox="1"/>
          <p:nvPr/>
        </p:nvSpPr>
        <p:spPr bwMode="auto">
          <a:xfrm rot="0" flipH="0" flipV="0">
            <a:off x="9138521" y="713007"/>
            <a:ext cx="2961303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E１５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服務條款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6413404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3417576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31855843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112232D-491F-922D-C342-769BED2DEC37}" type="slidenum">
              <a:rPr lang="en-US"/>
              <a:t>14</a:t>
            </a:fld>
            <a:endParaRPr lang="en-US"/>
          </a:p>
        </p:txBody>
      </p:sp>
      <p:sp>
        <p:nvSpPr>
          <p:cNvPr id="52686974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896408561" name=""/>
          <p:cNvSpPr txBox="1"/>
          <p:nvPr/>
        </p:nvSpPr>
        <p:spPr bwMode="auto">
          <a:xfrm rot="0" flipH="0" flipV="0">
            <a:off x="9326135" y="713007"/>
            <a:ext cx="2773329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E１６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法律聲明</a:t>
            </a:r>
            <a:endParaRPr sz="220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074521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5364469" name="TextBox 20"/>
          <p:cNvSpPr txBox="1"/>
          <p:nvPr/>
        </p:nvSpPr>
        <p:spPr bwMode="auto">
          <a:xfrm>
            <a:off x="0" y="646290"/>
            <a:ext cx="8268080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H.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網站測試</a:t>
            </a:r>
            <a:r>
              <a:rPr lang="en-US" sz="2400">
                <a:solidFill>
                  <a:schemeClr val="dk1"/>
                </a:solidFill>
                <a:ea typeface="Times New Roman"/>
                <a:cs typeface="Times New Roman"/>
              </a:rPr>
              <a:t> </a:t>
            </a:r>
            <a:endParaRPr lang="en-US" sz="2400"/>
          </a:p>
        </p:txBody>
      </p:sp>
      <p:sp>
        <p:nvSpPr>
          <p:cNvPr id="1436562502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762138622" name="Google Shape;90;p1"/>
          <p:cNvSpPr txBox="1"/>
          <p:nvPr/>
        </p:nvSpPr>
        <p:spPr bwMode="auto">
          <a:xfrm>
            <a:off x="0" y="-2890"/>
            <a:ext cx="12284155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1203454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303952" name="TextBox 20"/>
          <p:cNvSpPr txBox="1"/>
          <p:nvPr/>
        </p:nvSpPr>
        <p:spPr bwMode="auto">
          <a:xfrm>
            <a:off x="0" y="646290"/>
            <a:ext cx="825727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I.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屏幕截圖及說明</a:t>
            </a:r>
            <a:endParaRPr lang="en-US" sz="2400"/>
          </a:p>
        </p:txBody>
      </p:sp>
      <p:sp>
        <p:nvSpPr>
          <p:cNvPr id="318312732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31</a:t>
            </a:fld>
            <a:endParaRPr lang="en-US"/>
          </a:p>
        </p:txBody>
      </p:sp>
      <p:sp>
        <p:nvSpPr>
          <p:cNvPr id="1298428916" name="Google Shape;90;p1"/>
          <p:cNvSpPr txBox="1"/>
          <p:nvPr/>
        </p:nvSpPr>
        <p:spPr bwMode="auto">
          <a:xfrm>
            <a:off x="0" y="-2890"/>
            <a:ext cx="12284515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24995503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816566" name="TextBox 20"/>
          <p:cNvSpPr txBox="1"/>
          <p:nvPr/>
        </p:nvSpPr>
        <p:spPr bwMode="auto">
          <a:xfrm>
            <a:off x="0" y="646290"/>
            <a:ext cx="825907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J.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網站發佈</a:t>
            </a:r>
            <a:r>
              <a:rPr lang="en-US" sz="2400">
                <a:solidFill>
                  <a:schemeClr val="dk1"/>
                </a:solidFill>
                <a:ea typeface="Times New Roman"/>
                <a:cs typeface="Times New Roman"/>
              </a:rPr>
              <a:t> </a:t>
            </a:r>
            <a:endParaRPr lang="en-US" sz="2400"/>
          </a:p>
        </p:txBody>
      </p:sp>
      <p:sp>
        <p:nvSpPr>
          <p:cNvPr id="1917617696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72E1F56-60A2-575F-DF32-6B968770F372}" type="slidenum">
              <a:rPr lang="en-US"/>
              <a:t>12</a:t>
            </a:fld>
            <a:endParaRPr lang="en-US"/>
          </a:p>
        </p:txBody>
      </p:sp>
      <p:sp>
        <p:nvSpPr>
          <p:cNvPr id="453603138" name="Google Shape;90;p1"/>
          <p:cNvSpPr txBox="1"/>
          <p:nvPr/>
        </p:nvSpPr>
        <p:spPr bwMode="auto">
          <a:xfrm>
            <a:off x="0" y="-2889"/>
            <a:ext cx="1228451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34976990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875436" name="TextBox 20"/>
          <p:cNvSpPr txBox="1"/>
          <p:nvPr/>
        </p:nvSpPr>
        <p:spPr bwMode="auto">
          <a:xfrm>
            <a:off x="0" y="646290"/>
            <a:ext cx="300439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K.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總結</a:t>
            </a:r>
            <a:endParaRPr/>
          </a:p>
        </p:txBody>
      </p:sp>
      <p:sp>
        <p:nvSpPr>
          <p:cNvPr id="1802402246" name="TextBox 23"/>
          <p:cNvSpPr txBox="1"/>
          <p:nvPr/>
        </p:nvSpPr>
        <p:spPr bwMode="auto">
          <a:xfrm flipH="0" flipV="0">
            <a:off x="447999" y="1107954"/>
            <a:ext cx="11653067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/>
              <a:t>XXXXX</a:t>
            </a:r>
            <a:endParaRPr sz="2400"/>
          </a:p>
        </p:txBody>
      </p:sp>
      <p:sp>
        <p:nvSpPr>
          <p:cNvPr id="177900873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42</a:t>
            </a:fld>
            <a:endParaRPr lang="en-US"/>
          </a:p>
        </p:txBody>
      </p:sp>
      <p:sp>
        <p:nvSpPr>
          <p:cNvPr id="910214988" name="Google Shape;90;p1"/>
          <p:cNvSpPr txBox="1"/>
          <p:nvPr/>
        </p:nvSpPr>
        <p:spPr bwMode="auto">
          <a:xfrm>
            <a:off x="0" y="-2890"/>
            <a:ext cx="12284874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39327255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783378" name="TextBox 2"/>
          <p:cNvSpPr txBox="1"/>
          <p:nvPr/>
        </p:nvSpPr>
        <p:spPr bwMode="auto">
          <a:xfrm>
            <a:off x="3778249" y="2613391"/>
            <a:ext cx="4639819" cy="165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000">
                <a:solidFill>
                  <a:srgbClr val="C00000"/>
                </a:solidFill>
              </a:rPr>
              <a:t>- 完 -</a:t>
            </a:r>
            <a:endParaRPr/>
          </a:p>
        </p:txBody>
      </p:sp>
      <p:sp>
        <p:nvSpPr>
          <p:cNvPr id="1959235123" name="Google Shape;90;p1"/>
          <p:cNvSpPr txBox="1"/>
          <p:nvPr/>
        </p:nvSpPr>
        <p:spPr bwMode="auto">
          <a:xfrm>
            <a:off x="0" y="-2890"/>
            <a:ext cx="12285234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6051372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F1603AB-9131-92B1-2216-B4C8D0C598C3}" type="slidenum">
              <a:rPr lang="en-US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48</Slides>
  <Notes>48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JACKHO</dc:creator>
  <cp:lastModifiedBy/>
  <cp:revision>525</cp:revision>
  <dcterms:created xsi:type="dcterms:W3CDTF">2025-03-08T03:49:38Z</dcterms:created>
  <dcterms:modified xsi:type="dcterms:W3CDTF">2026-09-21T14:58:46Z</dcterms:modified>
</cp:coreProperties>
</file>