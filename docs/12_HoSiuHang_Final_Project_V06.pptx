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75" y="14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488568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1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35482322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50444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7686806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6574329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20615178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1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66823367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 ftr="0" hdr="0" sldNum="1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46928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942382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35841820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5514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10629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52629250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59214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902543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583823907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57302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91891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5563621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66596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396371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0506987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0005CA7B-64A5-499F-1117-3332D9FC274B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1223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230167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1964213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83963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080312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45663802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80F1C9C-D72B-BA43-C5BD-73F3898D06C5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61562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808984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8094908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0463679-56FA-677F-6B60-E86EB0C34269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5033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773746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62903893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C158FCB2-BADB-BB48-974B-075ECA6AAAE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764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173394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994273226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41415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4313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2085057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875749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254415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91704719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AF1660C-8514-AAAC-6E00-8A8AF1B10B1A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62568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916989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114811757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CDE84A84-8C45-A2F9-A60F-588A469A914E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42493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604281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8147821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0A360341-ADFE-903A-DBF1-B78BF1B23F3B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99084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30390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693973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81ECB21A-61B4-4ED8-44FF-DBB2A8F5CD41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67754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660132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36900522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0053F27C-34DC-1BE8-853D-20850850514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970411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74930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5263507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8847E5DD-D1AE-4154-6C1E-23F2B76193AF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907276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83827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4356609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240926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561322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41156881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95862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174599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52792846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7822F58-97A6-F56A-E2D3-5013802357A5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12529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19743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9473041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52345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5827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87766859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投影片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882475" name="Google Shape;16;p18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1865777" name="Google Shape;17;p18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544648087" name="Google Shape;18;p1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0202292" name="Google Shape;19;p1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3968478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及物件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797789" name="Google Shape;22;p19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093013" name="Google Shape;23;p19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6527906" name="Google Shape;24;p1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8371871" name="Google Shape;25;p1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7811314" name="Google Shape;26;p1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章節標題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564756" name="Google Shape;28;p20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4854286" name="Google Shape;29;p20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56486874" name="Google Shape;30;p2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6872144" name="Google Shape;31;p2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4530166" name="Google Shape;32;p2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兩項物件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40548" name="Google Shape;34;p2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2520585" name="Google Shape;35;p2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590620" name="Google Shape;36;p21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8919299" name="Google Shape;37;p2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2956169" name="Google Shape;38;p2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1807423" name="Google Shape;39;p2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比對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311880" name="Google Shape;41;p22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3312008" name="Google Shape;42;p22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976624491" name="Google Shape;43;p22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2674953" name="Google Shape;44;p22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853339348" name="Google Shape;45;p22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58849990" name="Google Shape;46;p2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6543666" name="Google Shape;47;p2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8691573" name="Google Shape;48;p2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只有標題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370717" name="Google Shape;50;p2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9451963" name="Google Shape;51;p2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4958638" name="Google Shape;52;p2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7848930" name="Google Shape;53;p2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空白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9812" name="Google Shape;55;p2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8630037" name="Google Shape;56;p2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4022240" name="Google Shape;57;p2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含標題的內容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611966" name="Google Shape;59;p25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8653500" name="Google Shape;60;p25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060883670" name="Google Shape;61;p25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940508612" name="Google Shape;62;p2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888561" name="Google Shape;63;p2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283318" name="Google Shape;64;p2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含標題的圖片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407633" name="Google Shape;66;p26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8327379" name="Google Shape;67;p26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65383368" name="Google Shape;68;p26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2012319708" name="Google Shape;69;p2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3262031" name="Google Shape;70;p2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4632242" name="Google Shape;71;p2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及直排文字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679401" name="Google Shape;73;p2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0248546" name="Google Shape;74;p27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7924639" name="Google Shape;75;p2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4506177" name="Google Shape;76;p2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1293673" name="Google Shape;77;p2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直排標題及文字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814826" name="Google Shape;79;p28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0895610" name="Google Shape;80;p28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6504033" name="Google Shape;81;p2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3181909" name="Google Shape;82;p2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095912" name="Google Shape;83;p2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085593" name="Google Shape;10;p1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911153568" name="Google Shape;11;p17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72953229" name="Google Shape;12;p1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22032179" name="Google Shape;13;p1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02694572" name="Google Shape;14;p1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370205" name="Google Shape;90;p1"/>
          <p:cNvSpPr txBox="1"/>
          <p:nvPr/>
        </p:nvSpPr>
        <p:spPr bwMode="auto">
          <a:xfrm flipH="0" flipV="0">
            <a:off x="1130859" y="1667053"/>
            <a:ext cx="6705362" cy="192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zh-TW" sz="300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endParaRPr lang="en-US" sz="3000" b="0" i="0" u="none" strike="noStrike" cap="none">
              <a:solidFill>
                <a:schemeClr val="tx1"/>
              </a:solidFill>
              <a:latin typeface="Arial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(Lanshan</a:t>
            </a: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 Matchmaking and Marriage &amp; Family Services Co</a:t>
            </a: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 Ltd</a:t>
            </a:r>
            <a:r>
              <a:rPr sz="3000"/>
              <a:t>)</a:t>
            </a:r>
            <a:endParaRPr/>
          </a:p>
          <a:p>
            <a:pPr algn="l">
              <a:defRPr/>
            </a:pPr>
            <a:endParaRPr sz="3000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972809275" name="Google Shape;90;p1"/>
          <p:cNvSpPr txBox="1"/>
          <p:nvPr/>
        </p:nvSpPr>
        <p:spPr bwMode="auto">
          <a:xfrm flipH="0" flipV="0">
            <a:off x="1162900" y="4285849"/>
            <a:ext cx="5737602" cy="7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en-US" sz="2200">
                <a:latin typeface="+mj-lt"/>
                <a:ea typeface="Times New Roman"/>
                <a:cs typeface="Times New Roman"/>
              </a:rPr>
              <a:t>前端網站開發人員證書</a:t>
            </a:r>
            <a:endParaRPr lang="en-US" sz="2200">
              <a:latin typeface="Arial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2200">
                <a:latin typeface="Arial"/>
                <a:ea typeface="Times New Roman"/>
                <a:cs typeface="Times New Roman"/>
              </a:rPr>
              <a:t>(CT288DS006)</a:t>
            </a:r>
            <a:endParaRPr sz="2200"/>
          </a:p>
        </p:txBody>
      </p:sp>
      <p:sp>
        <p:nvSpPr>
          <p:cNvPr id="1146820431" name="Google Shape;90;p1"/>
          <p:cNvSpPr txBox="1"/>
          <p:nvPr/>
        </p:nvSpPr>
        <p:spPr bwMode="auto">
          <a:xfrm flipH="0" flipV="0">
            <a:off x="1162901" y="3324576"/>
            <a:ext cx="5726802" cy="77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開發者</a:t>
            </a:r>
            <a:r>
              <a:rPr lang="en-US" sz="22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: </a:t>
            </a:r>
            <a:r>
              <a:rPr lang="en-US" sz="22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HO Siu Hang</a:t>
            </a:r>
            <a:r>
              <a:rPr lang="en-US" sz="22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 (Desmond)</a:t>
            </a:r>
            <a:endParaRPr lang="en-US" sz="2200" b="0" i="0" u="none" strike="noStrike" cap="none">
              <a:solidFill>
                <a:schemeClr val="dk1"/>
              </a:solidFill>
              <a:latin typeface="Arial"/>
              <a:ea typeface="Times New Roman"/>
              <a:cs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學生編號: </a:t>
            </a:r>
            <a:r>
              <a:rPr lang="en-US" sz="2200">
                <a:solidFill>
                  <a:srgbClr val="0000FF"/>
                </a:solidFill>
                <a:latin typeface="Arial"/>
                <a:cs typeface="Times New Roman"/>
              </a:rPr>
              <a:t>12</a:t>
            </a:r>
            <a:endParaRPr sz="2200">
              <a:solidFill>
                <a:srgbClr val="0000FF"/>
              </a:solidFill>
              <a:latin typeface="Arial"/>
              <a:cs typeface="Times New Roman"/>
            </a:endParaRPr>
          </a:p>
        </p:txBody>
      </p:sp>
      <p:sp>
        <p:nvSpPr>
          <p:cNvPr id="157349369" name="Google Shape;90;p1"/>
          <p:cNvSpPr txBox="1"/>
          <p:nvPr/>
        </p:nvSpPr>
        <p:spPr bwMode="auto">
          <a:xfrm flipH="0" flipV="0">
            <a:off x="1162899" y="5254507"/>
            <a:ext cx="5698355" cy="43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en-US" sz="2200">
                <a:solidFill>
                  <a:srgbClr val="C00000"/>
                </a:solidFill>
                <a:latin typeface="+mj-lt"/>
                <a:ea typeface="Times New Roman"/>
                <a:cs typeface="Times New Roman"/>
              </a:rPr>
              <a:t>版本 06</a:t>
            </a:r>
            <a:endParaRPr sz="22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34016013" name="Slide Number Placeholder 1"/>
          <p:cNvSpPr>
            <a:spLocks noGrp="1"/>
          </p:cNvSpPr>
          <p:nvPr>
            <p:ph type="sldNum" idx="12"/>
          </p:nvPr>
        </p:nvSpPr>
        <p:spPr bwMode="auto">
          <a:xfrm>
            <a:off x="8532828" y="5878671"/>
            <a:ext cx="274320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931737874" name="Google Shape;90;p1"/>
          <p:cNvSpPr txBox="1"/>
          <p:nvPr/>
        </p:nvSpPr>
        <p:spPr bwMode="auto">
          <a:xfrm flipH="0" flipV="0">
            <a:off x="1162901" y="694678"/>
            <a:ext cx="4503561" cy="91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algn="l">
              <a:defRPr/>
            </a:pPr>
            <a:r>
              <a:rPr lang="en-US" sz="5400">
                <a:solidFill>
                  <a:schemeClr val="tx1"/>
                </a:solidFill>
                <a:latin typeface="+mj-lt"/>
                <a:ea typeface="Times New Roman"/>
                <a:cs typeface="Times New Roman"/>
              </a:rPr>
              <a:t>網站開發專案</a:t>
            </a:r>
            <a:endParaRPr sz="5400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2093949879" name="Google Shape;90;p1"/>
          <p:cNvSpPr txBox="1"/>
          <p:nvPr/>
        </p:nvSpPr>
        <p:spPr bwMode="auto">
          <a:xfrm flipH="0" flipV="0">
            <a:off x="1162900" y="5857868"/>
            <a:ext cx="8610319" cy="77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 algn="l">
              <a:defRPr/>
            </a:pPr>
            <a:r>
              <a:rPr sz="2200"/>
              <a:t>GitHub連結:</a:t>
            </a:r>
            <a:endParaRPr sz="2200"/>
          </a:p>
          <a:p>
            <a:pPr algn="l">
              <a:defRPr/>
            </a:pPr>
            <a:r>
              <a:rPr lang="en-US" sz="2200" b="0" i="0" u="none" strike="noStrike" cap="none" spc="0">
                <a:solidFill>
                  <a:srgbClr val="152BEB"/>
                </a:solidFill>
                <a:latin typeface="Arial"/>
                <a:ea typeface="Arial"/>
                <a:cs typeface="Arial"/>
              </a:rPr>
              <a:t>https://github.com/hosiuhangdesmond/lanshan_matchmaking</a:t>
            </a:r>
            <a:r>
              <a:rPr lang="en-US" sz="220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/main</a:t>
            </a:r>
            <a:endParaRPr lang="en-US" sz="2200">
              <a:latin typeface="Arial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755012" name="Google Shape;90;p1"/>
          <p:cNvSpPr txBox="1"/>
          <p:nvPr/>
        </p:nvSpPr>
        <p:spPr bwMode="auto">
          <a:xfrm>
            <a:off x="-44818" y="-35710"/>
            <a:ext cx="12281637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87299581" name="Google Shape;91;p1"/>
          <p:cNvSpPr txBox="1"/>
          <p:nvPr/>
        </p:nvSpPr>
        <p:spPr bwMode="auto">
          <a:xfrm flipH="0" flipV="0">
            <a:off x="580412" y="795015"/>
            <a:ext cx="9715339" cy="453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u="sng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目錄:</a:t>
            </a:r>
            <a:endParaRPr lang="en-US" sz="2400" u="sng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客戶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簡介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 —————————————————-———————————————-</a:t>
            </a: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項目計劃書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用戶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需求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書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檔案結構圖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網站架構圖(Sitemap) ——————————————————————————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樣板(Template) —————————————————————————————-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網站測試 —————————————————————————————————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屏幕截圖及說明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網站發佈</a:t>
            </a:r>
            <a:r>
              <a:rPr sz="2400">
                <a:latin typeface="Linux Biolinum O"/>
                <a:ea typeface="Linux Biolinum O"/>
                <a:cs typeface="Linux Biolinum O"/>
              </a:rPr>
              <a:t>—————————————————————————————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————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總結 ———————————————————————————————————-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</p:txBody>
      </p:sp>
      <p:cxnSp>
        <p:nvCxnSpPr>
          <p:cNvPr id="364733135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1551599" name="Slide Number Placeholder 7"/>
          <p:cNvSpPr>
            <a:spLocks noGrp="1"/>
          </p:cNvSpPr>
          <p:nvPr>
            <p:ph type="sldNum" idx="12"/>
          </p:nvPr>
        </p:nvSpPr>
        <p:spPr bwMode="auto">
          <a:xfrm>
            <a:off x="8393768" y="6037490"/>
            <a:ext cx="274320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749265898" name="Google Shape;91;p1"/>
          <p:cNvSpPr txBox="1"/>
          <p:nvPr/>
        </p:nvSpPr>
        <p:spPr bwMode="auto">
          <a:xfrm flipH="0" flipV="0">
            <a:off x="9765363" y="795015"/>
            <a:ext cx="987093" cy="44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u="sng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頁數</a:t>
            </a:r>
            <a:endParaRPr lang="en-US" sz="2400" u="sng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ea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941593280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106939" name="TextBox 20"/>
          <p:cNvSpPr txBox="1"/>
          <p:nvPr/>
        </p:nvSpPr>
        <p:spPr bwMode="auto">
          <a:xfrm>
            <a:off x="0" y="646290"/>
            <a:ext cx="300907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A.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客戶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簡介</a:t>
            </a:r>
            <a:endParaRPr/>
          </a:p>
        </p:txBody>
      </p:sp>
      <p:sp>
        <p:nvSpPr>
          <p:cNvPr id="2050215085" name="TextBox 23"/>
          <p:cNvSpPr txBox="1"/>
          <p:nvPr/>
        </p:nvSpPr>
        <p:spPr bwMode="auto">
          <a:xfrm flipH="0" flipV="0">
            <a:off x="326961" y="1110686"/>
            <a:ext cx="11806161" cy="481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(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簡稱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，下同</a:t>
            </a:r>
            <a:r>
              <a:rPr sz="2400"/>
              <a:t>)為本地一間有二十多年歷史的中小型企業。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的“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”</a:t>
            </a:r>
            <a:r>
              <a:rPr sz="2400"/>
              <a:t>兩字來</a:t>
            </a:r>
            <a:r>
              <a:rPr sz="2400"/>
              <a:t>自中國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宋代著名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詞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人辛棄疾的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經典名篇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《青玉案·元夕》(註)。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的主營業務</a:t>
            </a:r>
            <a:r>
              <a:rPr sz="2400"/>
              <a:t>為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相親</a:t>
            </a:r>
            <a:r>
              <a:rPr sz="2400"/>
              <a:t>對象介紹，包括: 提供相親對象查冊服務、相親午餐／晚餐安排</a:t>
            </a:r>
            <a:r>
              <a:rPr sz="2400"/>
              <a:t>服務</a:t>
            </a:r>
            <a:r>
              <a:rPr sz="2400"/>
              <a:t>、大型相親旅行、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通訊軟件服務、性格類型測試服務等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等</a:t>
            </a:r>
            <a:r>
              <a:rPr sz="2400"/>
              <a:t>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亦同時經營一些與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婚姻家庭</a:t>
            </a:r>
            <a:r>
              <a:rPr sz="2400"/>
              <a:t>事宜有關的業務，包括: 婚禮籌辦、婚前婚後心理輔導、產前產後醫療</a:t>
            </a:r>
            <a:r>
              <a:rPr sz="2400"/>
              <a:t>檢查、親子鑑定、分手服務、遺產分配與繼承</a:t>
            </a:r>
            <a:r>
              <a:rPr sz="2400"/>
              <a:t>等。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也定期參予不同社會慈善活動，以回饋社會。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目前的員工總數約十五人，包括八名全職</a:t>
            </a:r>
            <a:r>
              <a:rPr sz="2400"/>
              <a:t>員工</a:t>
            </a:r>
            <a:r>
              <a:rPr sz="2400"/>
              <a:t>及七名兼職</a:t>
            </a:r>
            <a:r>
              <a:rPr sz="2400"/>
              <a:t>員工</a:t>
            </a:r>
            <a:r>
              <a:rPr sz="2400"/>
              <a:t>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sz="2400"/>
              <a:t>為了提供更優質的服務，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決定建立一個全新的網站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(簡稱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</a:t>
            </a:r>
            <a:r>
              <a:rPr sz="2400"/>
              <a:t>，下同</a:t>
            </a:r>
            <a:r>
              <a:rPr sz="2400"/>
              <a:t>)</a:t>
            </a:r>
            <a:r>
              <a:rPr sz="2400"/>
              <a:t>。</a:t>
            </a: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r>
              <a:rPr sz="2000"/>
              <a:t>(註)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《青玉案·元夕》</a:t>
            </a:r>
            <a:r>
              <a:rPr sz="2000"/>
              <a:t>原文:　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東風夜放花千樹，更吹落、星如雨。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寶馬雕車香滿路。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鳳簫聲動，玉壺光轉，一夜魚龍舞。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蛾兒雪柳黃金縷，笑語盈盈暗香去。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眾裏尋他千百度，驀然迴首，那人卻在燈火闌珊處。</a:t>
            </a:r>
            <a:endParaRPr sz="2000"/>
          </a:p>
        </p:txBody>
      </p:sp>
      <p:sp>
        <p:nvSpPr>
          <p:cNvPr id="591288349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229718656" name="Google Shape;90;p1"/>
          <p:cNvSpPr txBox="1"/>
          <p:nvPr/>
        </p:nvSpPr>
        <p:spPr bwMode="auto">
          <a:xfrm>
            <a:off x="-44817" y="0"/>
            <a:ext cx="1228199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077523640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939735" name="TextBox 20"/>
          <p:cNvSpPr txBox="1"/>
          <p:nvPr/>
        </p:nvSpPr>
        <p:spPr bwMode="auto">
          <a:xfrm flipH="0" flipV="0">
            <a:off x="0" y="646290"/>
            <a:ext cx="4853589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B.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項目計劃書</a:t>
            </a:r>
            <a:endParaRPr/>
          </a:p>
        </p:txBody>
      </p:sp>
      <p:sp>
        <p:nvSpPr>
          <p:cNvPr id="590778718" name="TextBox 23"/>
          <p:cNvSpPr txBox="1"/>
          <p:nvPr/>
        </p:nvSpPr>
        <p:spPr bwMode="auto">
          <a:xfrm flipH="0" flipV="0">
            <a:off x="368624" y="1232279"/>
            <a:ext cx="11013614" cy="3086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965" indent="-349965">
              <a:buAutoNum type="arabicPeriod"/>
              <a:defRPr/>
            </a:pPr>
            <a:r>
              <a:rPr sz="2400"/>
              <a:t>收集客戶/用戶關於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/>
              <a:t>的需求。  </a:t>
            </a:r>
            <a:endParaRPr sz="2400"/>
          </a:p>
          <a:p>
            <a:pPr marL="349965" indent="-349965">
              <a:buAutoNum type="arabicPeriod"/>
              <a:defRPr/>
            </a:pPr>
            <a:r>
              <a:rPr sz="2400"/>
              <a:t>規劃資源，包括時間和人力資源。  </a:t>
            </a:r>
            <a:endParaRPr sz="2400"/>
          </a:p>
          <a:p>
            <a:pPr marL="349965" indent="-349965">
              <a:buAutoNum type="arabicPeriod"/>
              <a:defRPr/>
            </a:pPr>
            <a:r>
              <a:rPr sz="2400"/>
              <a:t>選擇構建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網站的工具：  </a:t>
            </a:r>
            <a:endParaRPr sz="2400"/>
          </a:p>
          <a:p>
            <a:pPr>
              <a:defRPr/>
            </a:pPr>
            <a:r>
              <a:rPr sz="2400"/>
              <a:t>	(a) HTML, CSS, JavaScript, react.js</a:t>
            </a:r>
            <a:endParaRPr sz="2400"/>
          </a:p>
          <a:p>
            <a:pPr>
              <a:defRPr/>
            </a:pPr>
            <a:r>
              <a:rPr sz="2400"/>
              <a:t>	(b) Visual Studio Code  </a:t>
            </a:r>
            <a:endParaRPr sz="2400"/>
          </a:p>
          <a:p>
            <a:pPr>
              <a:defRPr/>
            </a:pPr>
            <a:r>
              <a:rPr sz="2400"/>
              <a:t>	</a:t>
            </a:r>
            <a:r>
              <a:rPr sz="2400"/>
              <a:t>(c) Git 和 GitHub  </a:t>
            </a:r>
            <a:endParaRPr sz="2400"/>
          </a:p>
          <a:p>
            <a:pPr>
              <a:defRPr/>
            </a:pPr>
            <a:r>
              <a:rPr sz="2400"/>
              <a:t>4. 分析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網站的業務邏輯。  </a:t>
            </a:r>
            <a:endParaRPr sz="2400"/>
          </a:p>
          <a:p>
            <a:pPr>
              <a:defRPr/>
            </a:pPr>
            <a:r>
              <a:rPr sz="2400"/>
              <a:t>5. 採用最具成本效益的方法。</a:t>
            </a:r>
            <a:r>
              <a:rPr lang="en-US" sz="2400"/>
              <a:t>	</a:t>
            </a:r>
            <a:endParaRPr sz="2400"/>
          </a:p>
        </p:txBody>
      </p:sp>
      <p:sp>
        <p:nvSpPr>
          <p:cNvPr id="67427754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1243534006" name="Google Shape;90;p1"/>
          <p:cNvSpPr txBox="1"/>
          <p:nvPr/>
        </p:nvSpPr>
        <p:spPr bwMode="auto">
          <a:xfrm>
            <a:off x="-89996" y="-35710"/>
            <a:ext cx="1228199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28947748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0990189" name="TextBox 20"/>
          <p:cNvSpPr txBox="1"/>
          <p:nvPr/>
        </p:nvSpPr>
        <p:spPr bwMode="auto">
          <a:xfrm flipH="0" flipV="0">
            <a:off x="0" y="646290"/>
            <a:ext cx="4860069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B.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劃書</a:t>
            </a:r>
            <a:r>
              <a:rPr sz="2400"/>
              <a:t>(續)</a:t>
            </a:r>
            <a:endParaRPr sz="2400"/>
          </a:p>
        </p:txBody>
      </p:sp>
      <p:sp>
        <p:nvSpPr>
          <p:cNvPr id="1879580121" name="TextBox 23"/>
          <p:cNvSpPr txBox="1"/>
          <p:nvPr/>
        </p:nvSpPr>
        <p:spPr bwMode="auto">
          <a:xfrm flipH="0" flipV="0">
            <a:off x="333987" y="1062301"/>
            <a:ext cx="5019026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6. 項目開發</a:t>
            </a:r>
            <a:r>
              <a:rPr sz="2400"/>
              <a:t>流程時間表</a:t>
            </a:r>
            <a:endParaRPr sz="2400"/>
          </a:p>
        </p:txBody>
      </p:sp>
      <p:sp>
        <p:nvSpPr>
          <p:cNvPr id="1213174117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B0BDB7B7-9856-9F58-E353-686AEB7B2890}" type="slidenum">
              <a:rPr lang="en-US"/>
              <a:t>4</a:t>
            </a:fld>
            <a:endParaRPr lang="en-US"/>
          </a:p>
        </p:txBody>
      </p:sp>
      <p:sp>
        <p:nvSpPr>
          <p:cNvPr id="1517799919" name="Google Shape;90;p1"/>
          <p:cNvSpPr txBox="1"/>
          <p:nvPr/>
        </p:nvSpPr>
        <p:spPr bwMode="auto">
          <a:xfrm>
            <a:off x="-89995" y="-35709"/>
            <a:ext cx="1228199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graphicFrame>
        <p:nvGraphicFramePr>
          <p:cNvPr id="1714948409" name=""/>
          <p:cNvGraphicFramePr>
            <a:graphicFrameLocks xmlns:a="http://schemas.openxmlformats.org/drawingml/2006/main"/>
          </p:cNvGraphicFramePr>
          <p:nvPr/>
        </p:nvGraphicFramePr>
        <p:xfrm rot="0">
          <a:off x="73090" y="1530267"/>
          <a:ext cx="8553449" cy="397382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376371"/>
                <a:gridCol w="2258228"/>
                <a:gridCol w="833393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</a:tblGrid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起始日:　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0827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0830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0906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0913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0920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0927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1004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1011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1018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1022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(四)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(四)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確定項目主題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編寫用戶需求書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編製網站架構圖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編製線框圖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網站建設及代碼編寫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網站測試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編製屏幕截圖及說明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網站演示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網站發佈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64464966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4233989" name="TextBox 20"/>
          <p:cNvSpPr txBox="1"/>
          <p:nvPr/>
        </p:nvSpPr>
        <p:spPr bwMode="auto">
          <a:xfrm>
            <a:off x="0" y="646290"/>
            <a:ext cx="720069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endParaRPr lang="en-US" sz="2400"/>
          </a:p>
        </p:txBody>
      </p:sp>
      <p:sp>
        <p:nvSpPr>
          <p:cNvPr id="1418244002" name="TextBox 1"/>
          <p:cNvSpPr txBox="1"/>
          <p:nvPr/>
        </p:nvSpPr>
        <p:spPr bwMode="auto">
          <a:xfrm flipH="0" flipV="0">
            <a:off x="317250" y="1110684"/>
            <a:ext cx="12324392" cy="5703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965" indent="-349965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包含至少十五個網頁。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2.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的每一個網頁</a:t>
            </a:r>
            <a:r>
              <a:rPr sz="2400" u="none"/>
              <a:t>具有相同的頂部設計、底部設計</a:t>
            </a:r>
            <a:r>
              <a:rPr sz="2400" u="none"/>
              <a:t>、顏色、風格。</a:t>
            </a:r>
            <a:endParaRPr sz="2400" u="none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3.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的顏色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a.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走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溫暖、可信、療愈、專業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”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的路線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b. 以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鼠尾草绿(#8FAF9F)</a:t>
            </a:r>
            <a:r>
              <a:rPr sz="2400" u="none"/>
              <a:t>為主色</a:t>
            </a:r>
            <a:endParaRPr sz="2400" u="none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u="none"/>
              <a:t>    b. 副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色為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豆沙玫瑰(#C98A8A)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c. 對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比色為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深海军蓝(#1F3A5F)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d.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輔助色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分別為雾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蓝(#A9C0CF)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暖金(#D9A066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e.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另有兩個中性色，分別是: 米白(#FAF7F2)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暖灰(#6B6B6B)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4.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</a:t>
            </a:r>
            <a:r>
              <a:rPr sz="2400" u="none"/>
              <a:t>頂部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稱為頂層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。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5.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頂層整體置中，並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從左至右展示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以下按鈕/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內容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: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    a.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 u="none"/>
              <a:t>公司的</a:t>
            </a:r>
            <a:r>
              <a:rPr sz="2400" u="none"/>
              <a:t>標識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b. 首頁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d. 性格測試</a:t>
            </a:r>
            <a:endParaRPr sz="2400" u="none"/>
          </a:p>
        </p:txBody>
      </p:sp>
      <p:sp>
        <p:nvSpPr>
          <p:cNvPr id="1219440425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240578130" name="Google Shape;90;p1"/>
          <p:cNvSpPr txBox="1"/>
          <p:nvPr/>
        </p:nvSpPr>
        <p:spPr bwMode="auto">
          <a:xfrm>
            <a:off x="58730" y="-35710"/>
            <a:ext cx="1228235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pic>
        <p:nvPicPr>
          <p:cNvPr id="16080107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227892" y="5225142"/>
            <a:ext cx="489857" cy="462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21582192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292453" name="TextBox 20"/>
          <p:cNvSpPr txBox="1"/>
          <p:nvPr/>
        </p:nvSpPr>
        <p:spPr bwMode="auto">
          <a:xfrm>
            <a:off x="0" y="646290"/>
            <a:ext cx="7201057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030254101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2AD49C9-5C1B-6218-8398-3D7642D7B817}" type="slidenum">
              <a:rPr lang="en-US"/>
              <a:t>6</a:t>
            </a:fld>
            <a:endParaRPr lang="en-US"/>
          </a:p>
        </p:txBody>
      </p:sp>
      <p:sp>
        <p:nvSpPr>
          <p:cNvPr id="307585651" name="Google Shape;90;p1"/>
          <p:cNvSpPr txBox="1"/>
          <p:nvPr/>
        </p:nvSpPr>
        <p:spPr bwMode="auto">
          <a:xfrm>
            <a:off x="58729" y="-35709"/>
            <a:ext cx="1228235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534755706" name="TextBox 1"/>
          <p:cNvSpPr txBox="1"/>
          <p:nvPr/>
        </p:nvSpPr>
        <p:spPr bwMode="auto">
          <a:xfrm flipH="0" flipV="0">
            <a:off x="329571" y="1114254"/>
            <a:ext cx="10605364" cy="53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    e.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r>
              <a:rPr sz="2400" u="none"/>
              <a:t>安裝</a:t>
            </a:r>
            <a:endParaRPr sz="2400" u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u="none"/>
              <a:t>    f.</a:t>
            </a: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 </a:t>
            </a: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會員登入</a:t>
            </a:r>
            <a:endParaRPr sz="2400" b="0" i="0" u="none" strike="noStrike" cap="none" spc="0">
              <a:solidFill>
                <a:schemeClr val="tx1"/>
              </a:solidFill>
              <a:latin typeface="undefined"/>
              <a:cs typeface="undefine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    g. </a:t>
            </a: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其他服務</a:t>
            </a:r>
            <a:endParaRPr sz="2400" b="0" i="0" u="none" strike="noStrike" cap="none" spc="0">
              <a:solidFill>
                <a:schemeClr val="tx1"/>
              </a:solidFill>
              <a:latin typeface="undefined"/>
              <a:cs typeface="undefine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    h. </a:t>
            </a: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闌珊</a:t>
            </a: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月刊</a:t>
            </a:r>
            <a:endParaRPr sz="2400" b="0" i="0" u="none" strike="noStrike" cap="none" spc="0">
              <a:solidFill>
                <a:schemeClr val="tx1"/>
              </a:solidFill>
              <a:latin typeface="undefined"/>
              <a:cs typeface="undefine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    i. </a:t>
            </a: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關於我們</a:t>
            </a:r>
            <a:endParaRPr sz="2400" b="0" i="0" u="none" strike="noStrike" cap="none" spc="0">
              <a:solidFill>
                <a:schemeClr val="tx1"/>
              </a:solidFill>
              <a:latin typeface="undefined"/>
              <a:cs typeface="undefine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chemeClr val="tx1"/>
                </a:solidFill>
                <a:latin typeface="undefined"/>
                <a:ea typeface="undefined"/>
                <a:cs typeface="undefined"/>
              </a:rPr>
              <a:t>    j. 付款</a:t>
            </a:r>
            <a:endParaRPr sz="2400" b="0" i="0" u="none" strike="noStrike" cap="none" spc="0">
              <a:solidFill>
                <a:schemeClr val="tx1"/>
              </a:solidFill>
              <a:latin typeface="undefined"/>
              <a:cs typeface="undefined"/>
            </a:endParaRPr>
          </a:p>
          <a:p>
            <a:pPr>
              <a:defRPr/>
            </a:pPr>
            <a:r>
              <a:rPr sz="2400" u="none"/>
              <a:t>    k. </a:t>
            </a:r>
            <a:r>
              <a:rPr sz="2400" u="none"/>
              <a:t>搜尋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6.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底部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內容置中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，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並展示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以下按鈕/內容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a. 版權聲明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b.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c.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d.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e.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網頁主題左則加一個頁面圖示(favicon)     。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78567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391677" y="5975556"/>
            <a:ext cx="489856" cy="4626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65564500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737691" name="TextBox 20"/>
          <p:cNvSpPr txBox="1"/>
          <p:nvPr/>
        </p:nvSpPr>
        <p:spPr bwMode="auto">
          <a:xfrm>
            <a:off x="0" y="646290"/>
            <a:ext cx="7201057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906086590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B3D9380-458A-0A8B-2DA5-A0F693152FFD}" type="slidenum">
              <a:rPr lang="en-US"/>
              <a:t>7</a:t>
            </a:fld>
            <a:endParaRPr lang="en-US"/>
          </a:p>
        </p:txBody>
      </p:sp>
      <p:sp>
        <p:nvSpPr>
          <p:cNvPr id="604611177" name="Google Shape;90;p1"/>
          <p:cNvSpPr txBox="1"/>
          <p:nvPr/>
        </p:nvSpPr>
        <p:spPr bwMode="auto">
          <a:xfrm>
            <a:off x="58729" y="-35709"/>
            <a:ext cx="1228235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83583655" name="TextBox 1"/>
          <p:cNvSpPr txBox="1"/>
          <p:nvPr/>
        </p:nvSpPr>
        <p:spPr bwMode="auto">
          <a:xfrm flipH="0" flipV="0">
            <a:off x="317250" y="1110684"/>
            <a:ext cx="11697236" cy="3816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 當鼠標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於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按鈕/功能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鍵時，會出現手指標記及所有相關子網頁的連結(若適用)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9.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所有網頁都是回響式的。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10.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能幫助用戶識別他／她們目前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的網站位置</a:t>
            </a:r>
            <a:r>
              <a:rPr sz="2400" u="none"/>
              <a:t>。</a:t>
            </a:r>
            <a:endParaRPr sz="2400" u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u="none"/>
              <a:t>11.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每一個網頁的內容部份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的底色都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是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米白(#FAF7F2)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每一個網頁的內容部份的最底層都隱約顯示以下文字:</a:t>
            </a:r>
            <a:endParaRPr sz="2400" u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《青玉案·元夕》　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宋代　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辛棄疾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Arial"/>
                <a:ea typeface="Arial"/>
                <a:cs typeface="Arial"/>
              </a:rPr>
              <a:t>:</a:t>
            </a:r>
            <a:endParaRPr sz="2400" b="0" i="1" u="none" strike="noStrike" cap="none" spc="0">
              <a:solidFill>
                <a:srgbClr val="152BEB"/>
              </a:solidFill>
              <a:latin typeface="Times New Roman"/>
              <a:cs typeface="Times New Roman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東風夜放花千樹，更吹落、星如雨。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寶馬雕車香滿路。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鳳簫聲動，玉壺光轉，一夜魚龍舞。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蛾兒雪柳黃金縷，笑語盈盈暗香去。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眾裏尋他千百度，驀然迴首，那人卻在燈火闌珊處。</a:t>
            </a:r>
            <a:endParaRPr lang="en-US" sz="2400" b="0" i="1" u="none" strike="noStrike" cap="none" spc="0">
              <a:solidFill>
                <a:srgbClr val="152BEB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2400" i="1" u="none">
              <a:solidFill>
                <a:srgbClr val="152B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3084797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3792035" name="TextBox 20"/>
          <p:cNvSpPr txBox="1"/>
          <p:nvPr/>
        </p:nvSpPr>
        <p:spPr bwMode="auto">
          <a:xfrm>
            <a:off x="0" y="617620"/>
            <a:ext cx="8264120" cy="46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D.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檔案結構圖</a:t>
            </a:r>
            <a:endParaRPr lang="en-US" sz="2400"/>
          </a:p>
        </p:txBody>
      </p:sp>
      <p:sp>
        <p:nvSpPr>
          <p:cNvPr id="1793422852" name="Google Shape;90;p1"/>
          <p:cNvSpPr txBox="1"/>
          <p:nvPr/>
        </p:nvSpPr>
        <p:spPr bwMode="auto">
          <a:xfrm>
            <a:off x="0" y="-35709"/>
            <a:ext cx="1228271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791037271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82FDF9C-C537-D17F-23C4-A098CA95D1C8}" type="slidenum">
              <a:rPr lang="en-US"/>
              <a:t>9</a:t>
            </a:fld>
            <a:endParaRPr/>
          </a:p>
        </p:txBody>
      </p:sp>
      <p:sp>
        <p:nvSpPr>
          <p:cNvPr id="1244716865" name=""/>
          <p:cNvSpPr txBox="1"/>
          <p:nvPr/>
        </p:nvSpPr>
        <p:spPr bwMode="auto">
          <a:xfrm rot="0" flipH="0" flipV="0">
            <a:off x="199285" y="1082018"/>
            <a:ext cx="11721297" cy="60925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0" i="0" u="none" strike="noStrike" cap="none" spc="0">
                <a:solidFill/>
                <a:latin typeface="Noto Looped Lao Cond ExBd"/>
                <a:ea typeface="Noto Looped Lao Cond ExBd"/>
                <a:cs typeface="Noto Looped Lao Cond ExBd"/>
              </a:rPr>
              <a:t>/lanshan_</a:t>
            </a:r>
            <a:r>
              <a:rPr lang="en-US" sz="2000" b="0" i="0" u="none" strike="noStrike" cap="none" spc="0">
                <a:solidFill/>
                <a:latin typeface="Noto Looped Lao Cond ExBd"/>
                <a:ea typeface="Noto Looped Lao Cond ExBd"/>
                <a:cs typeface="Noto Looped Lao Cond ExBd"/>
              </a:rPr>
              <a:t>matchmaking</a:t>
            </a:r>
            <a:endParaRPr sz="2000">
              <a:latin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/.git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/audio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css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/docs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Noto Looped Lao Cond ExBd"/>
                <a:ea typeface="Noto Looped Lao Cond ExBd"/>
                <a:cs typeface="Noto Looped Lao Cond ExBd"/>
              </a:rPr>
              <a:t>12_HoSiuHang_Final_Project_V00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.pdf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...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Noto Looped Lao Cond ExBd"/>
                <a:ea typeface="Noto Looped Lao Cond ExBd"/>
                <a:cs typeface="Noto Looped Lao Cond ExBd"/>
              </a:rPr>
              <a:t>12_HoSiuHang_Final_Project_V03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Noto Looped Lao Cond ExBd"/>
                <a:ea typeface="Noto Looped Lao Cond ExBd"/>
                <a:cs typeface="Noto Looped Lao Cond ExBd"/>
              </a:rPr>
              <a:t>.pdf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Noto Looped Lao Cond ExBd"/>
                <a:ea typeface="Noto Looped Lao Cond ExBd"/>
                <a:cs typeface="Noto Looped Lao Cond ExBd"/>
              </a:rPr>
              <a:t>12_HoSiuHang_Final_Project_V03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.pptx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resources.txt		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/img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/script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/video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.gitignore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e02_00_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MatchRecord.html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...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e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16_00_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LegalNotice.html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index.html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18270654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8345356" name="TextBox 20"/>
          <p:cNvSpPr txBox="1"/>
          <p:nvPr/>
        </p:nvSpPr>
        <p:spPr bwMode="auto">
          <a:xfrm>
            <a:off x="0" y="646290"/>
            <a:ext cx="8252961" cy="469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E.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網站架構圖(Sitemap)</a:t>
            </a:r>
            <a:endParaRPr lang="en-US" sz="2400"/>
          </a:p>
        </p:txBody>
      </p:sp>
      <p:sp>
        <p:nvSpPr>
          <p:cNvPr id="157883532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71469510" name="Google Shape;90;p1"/>
          <p:cNvSpPr txBox="1"/>
          <p:nvPr/>
        </p:nvSpPr>
        <p:spPr bwMode="auto">
          <a:xfrm>
            <a:off x="0" y="-7043"/>
            <a:ext cx="1228307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852652901" name=""/>
          <p:cNvSpPr/>
          <p:nvPr/>
        </p:nvSpPr>
        <p:spPr bwMode="auto">
          <a:xfrm rot="0" flipH="0" flipV="0">
            <a:off x="1572708" y="2398008"/>
            <a:ext cx="873639" cy="1078007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860202896" name=""/>
          <p:cNvSpPr txBox="1"/>
          <p:nvPr/>
        </p:nvSpPr>
        <p:spPr bwMode="auto">
          <a:xfrm rot="0" flipH="0" flipV="0">
            <a:off x="1569828" y="2398008"/>
            <a:ext cx="877239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E2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查冊</a:t>
            </a:r>
            <a:endParaRPr sz="1600"/>
          </a:p>
        </p:txBody>
      </p:sp>
      <p:sp>
        <p:nvSpPr>
          <p:cNvPr id="117428855" name=""/>
          <p:cNvSpPr/>
          <p:nvPr/>
        </p:nvSpPr>
        <p:spPr bwMode="auto">
          <a:xfrm rot="0" flipH="0" flipV="0">
            <a:off x="2666084" y="2421820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43250211" name=""/>
          <p:cNvSpPr/>
          <p:nvPr/>
        </p:nvSpPr>
        <p:spPr bwMode="auto">
          <a:xfrm rot="0" flipH="0" flipV="0">
            <a:off x="3720603" y="2421820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83094884" name=""/>
          <p:cNvSpPr/>
          <p:nvPr/>
        </p:nvSpPr>
        <p:spPr bwMode="auto">
          <a:xfrm rot="0" flipH="0" flipV="0">
            <a:off x="4771729" y="23946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186734264" name=""/>
          <p:cNvSpPr/>
          <p:nvPr/>
        </p:nvSpPr>
        <p:spPr bwMode="auto">
          <a:xfrm rot="0" flipH="0" flipV="0">
            <a:off x="5854759" y="236419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828873214" name=""/>
          <p:cNvSpPr/>
          <p:nvPr/>
        </p:nvSpPr>
        <p:spPr bwMode="auto">
          <a:xfrm rot="0" flipH="0" flipV="0">
            <a:off x="9637911" y="803872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710248959" name=""/>
          <p:cNvSpPr/>
          <p:nvPr/>
        </p:nvSpPr>
        <p:spPr bwMode="auto">
          <a:xfrm rot="0" flipH="0" flipV="0">
            <a:off x="6977989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653206980" name=""/>
          <p:cNvSpPr/>
          <p:nvPr/>
        </p:nvSpPr>
        <p:spPr bwMode="auto">
          <a:xfrm rot="0" flipH="0" flipV="0">
            <a:off x="8029589" y="2327052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05181833" name=""/>
          <p:cNvSpPr/>
          <p:nvPr/>
        </p:nvSpPr>
        <p:spPr bwMode="auto">
          <a:xfrm rot="0" flipH="0" flipV="0">
            <a:off x="9076950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04720659" name=""/>
          <p:cNvSpPr/>
          <p:nvPr/>
        </p:nvSpPr>
        <p:spPr bwMode="auto">
          <a:xfrm rot="0" flipH="0" flipV="0">
            <a:off x="10169216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76874698" name=""/>
          <p:cNvSpPr/>
          <p:nvPr/>
        </p:nvSpPr>
        <p:spPr bwMode="auto">
          <a:xfrm rot="0" flipH="0" flipV="0">
            <a:off x="11201560" y="231828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2008250446" name=""/>
          <p:cNvSpPr txBox="1"/>
          <p:nvPr/>
        </p:nvSpPr>
        <p:spPr bwMode="auto">
          <a:xfrm rot="0" flipH="0" flipV="0">
            <a:off x="2666084" y="2421820"/>
            <a:ext cx="77837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E3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叙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餐</a:t>
            </a:r>
            <a:endParaRPr/>
          </a:p>
        </p:txBody>
      </p:sp>
      <p:sp>
        <p:nvSpPr>
          <p:cNvPr id="1649376319" name=""/>
          <p:cNvSpPr/>
          <p:nvPr/>
        </p:nvSpPr>
        <p:spPr bwMode="auto">
          <a:xfrm rot="0" flipH="0" flipV="0">
            <a:off x="5166216" y="803872"/>
            <a:ext cx="865917" cy="1005044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81027417" name=""/>
          <p:cNvSpPr txBox="1"/>
          <p:nvPr/>
        </p:nvSpPr>
        <p:spPr bwMode="auto">
          <a:xfrm rot="0" flipH="0" flipV="0">
            <a:off x="5166216" y="803872"/>
            <a:ext cx="1244728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E1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首頁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664908190" name=""/>
          <p:cNvSpPr txBox="1"/>
          <p:nvPr/>
        </p:nvSpPr>
        <p:spPr bwMode="auto">
          <a:xfrm rot="0" flipH="0" flipV="0">
            <a:off x="9645631" y="803872"/>
            <a:ext cx="741197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E7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搜尋</a:t>
            </a:r>
            <a:r>
              <a:rPr sz="1600"/>
              <a:t>結果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03534782" name=""/>
          <p:cNvSpPr txBox="1"/>
          <p:nvPr/>
        </p:nvSpPr>
        <p:spPr bwMode="auto">
          <a:xfrm rot="0" flipH="0" flipV="0">
            <a:off x="3720603" y="2421820"/>
            <a:ext cx="78017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E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相親旅行</a:t>
            </a:r>
            <a:endParaRPr sz="1600"/>
          </a:p>
        </p:txBody>
      </p:sp>
      <p:sp>
        <p:nvSpPr>
          <p:cNvPr id="810151423" name=""/>
          <p:cNvSpPr txBox="1"/>
          <p:nvPr/>
        </p:nvSpPr>
        <p:spPr bwMode="auto">
          <a:xfrm rot="0" flipH="0" flipV="0">
            <a:off x="4771729" y="2394679"/>
            <a:ext cx="78161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E5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性格測試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13590126" name=""/>
          <p:cNvSpPr txBox="1"/>
          <p:nvPr/>
        </p:nvSpPr>
        <p:spPr bwMode="auto">
          <a:xfrm rot="0" flipH="0" flipV="0">
            <a:off x="5854759" y="2364199"/>
            <a:ext cx="78341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E6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安裝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92822632" name=""/>
          <p:cNvSpPr txBox="1"/>
          <p:nvPr/>
        </p:nvSpPr>
        <p:spPr bwMode="auto">
          <a:xfrm rot="0" flipH="0" flipV="0">
            <a:off x="6977989" y="2364199"/>
            <a:ext cx="68390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E8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會員登入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71049064" name=""/>
          <p:cNvSpPr txBox="1"/>
          <p:nvPr/>
        </p:nvSpPr>
        <p:spPr bwMode="auto">
          <a:xfrm rot="0" flipH="0" flipV="0">
            <a:off x="8029589" y="2357532"/>
            <a:ext cx="68214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E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其他服務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24453498" name=""/>
          <p:cNvSpPr txBox="1"/>
          <p:nvPr/>
        </p:nvSpPr>
        <p:spPr bwMode="auto">
          <a:xfrm rot="0" flipH="0" flipV="0">
            <a:off x="9076950" y="2333719"/>
            <a:ext cx="68430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E10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月刊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818062938" name=""/>
          <p:cNvSpPr txBox="1"/>
          <p:nvPr/>
        </p:nvSpPr>
        <p:spPr bwMode="auto">
          <a:xfrm rot="0" flipH="0" flipV="0">
            <a:off x="10169216" y="2333719"/>
            <a:ext cx="68502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E11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關於我們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25684738" name=""/>
          <p:cNvSpPr txBox="1"/>
          <p:nvPr/>
        </p:nvSpPr>
        <p:spPr bwMode="auto">
          <a:xfrm rot="0" flipH="0" flipV="0">
            <a:off x="11201560" y="2318289"/>
            <a:ext cx="686466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E12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付款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21560229" name=""/>
          <p:cNvSpPr/>
          <p:nvPr/>
        </p:nvSpPr>
        <p:spPr bwMode="auto">
          <a:xfrm rot="0" flipH="0" flipV="0">
            <a:off x="4751724" y="3946418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33140272" name=""/>
          <p:cNvSpPr txBox="1"/>
          <p:nvPr/>
        </p:nvSpPr>
        <p:spPr bwMode="auto">
          <a:xfrm rot="0" flipH="0" flipV="0">
            <a:off x="4751724" y="3946418"/>
            <a:ext cx="773868" cy="8264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E５.１</a:t>
            </a:r>
            <a:endParaRPr sz="1600" b="0" i="0" u="none" strike="noStrike" cap="none" spc="0">
              <a:solidFill>
                <a:srgbClr val="000000"/>
              </a:solidFill>
              <a:latin typeface="Linux Biolinum O"/>
              <a:cs typeface="Linux Biolinum O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九型人格</a:t>
            </a:r>
            <a:endParaRPr sz="1600" b="0" i="0" u="none" strike="noStrike" cap="none" spc="0">
              <a:solidFill>
                <a:srgbClr val="000000"/>
              </a:solidFill>
              <a:latin typeface="Linux Biolinum O"/>
              <a:cs typeface="Linux Biolinum O"/>
            </a:endParaRPr>
          </a:p>
        </p:txBody>
      </p:sp>
      <p:sp>
        <p:nvSpPr>
          <p:cNvPr id="2030908318" name=""/>
          <p:cNvSpPr/>
          <p:nvPr/>
        </p:nvSpPr>
        <p:spPr bwMode="auto">
          <a:xfrm rot="0" flipH="0" flipV="0">
            <a:off x="3359028" y="3953085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635549984" name=""/>
          <p:cNvSpPr txBox="1"/>
          <p:nvPr/>
        </p:nvSpPr>
        <p:spPr bwMode="auto">
          <a:xfrm rot="0" flipH="0" flipV="0">
            <a:off x="3359028" y="3953085"/>
            <a:ext cx="994591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E５.２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測試結果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739069284" name=""/>
          <p:cNvSpPr/>
          <p:nvPr/>
        </p:nvSpPr>
        <p:spPr bwMode="auto">
          <a:xfrm rot="0" flipH="0" flipV="0">
            <a:off x="5854759" y="496835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410173633" name=""/>
          <p:cNvSpPr/>
          <p:nvPr/>
        </p:nvSpPr>
        <p:spPr bwMode="auto">
          <a:xfrm rot="0" flipH="0" flipV="0">
            <a:off x="6977989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37024984" name=""/>
          <p:cNvSpPr/>
          <p:nvPr/>
        </p:nvSpPr>
        <p:spPr bwMode="auto">
          <a:xfrm rot="0" flipH="0" flipV="0">
            <a:off x="8029589" y="4931203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486872306" name=""/>
          <p:cNvSpPr/>
          <p:nvPr/>
        </p:nvSpPr>
        <p:spPr bwMode="auto">
          <a:xfrm rot="0" flipH="0" flipV="0">
            <a:off x="9076950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39806537" name=""/>
          <p:cNvSpPr/>
          <p:nvPr/>
        </p:nvSpPr>
        <p:spPr bwMode="auto">
          <a:xfrm rot="0" flipH="0" flipV="0">
            <a:off x="10169216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039379128" name=""/>
          <p:cNvSpPr/>
          <p:nvPr/>
        </p:nvSpPr>
        <p:spPr bwMode="auto">
          <a:xfrm rot="0" flipH="0" flipV="0">
            <a:off x="11201560" y="4910433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859733199" name=""/>
          <p:cNvSpPr txBox="1"/>
          <p:nvPr/>
        </p:nvSpPr>
        <p:spPr bwMode="auto">
          <a:xfrm rot="0" flipH="0" flipV="0">
            <a:off x="5854759" y="4968351"/>
            <a:ext cx="78845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E９.１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婚禮籌辦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745719711" name=""/>
          <p:cNvSpPr txBox="1"/>
          <p:nvPr/>
        </p:nvSpPr>
        <p:spPr bwMode="auto">
          <a:xfrm rot="0" flipH="0" flipV="0">
            <a:off x="6977989" y="4968350"/>
            <a:ext cx="789105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E９.２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心理輔導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74216967" name=""/>
          <p:cNvSpPr txBox="1"/>
          <p:nvPr/>
        </p:nvSpPr>
        <p:spPr bwMode="auto">
          <a:xfrm rot="0" flipH="0" flipV="0">
            <a:off x="8029589" y="4961683"/>
            <a:ext cx="785254" cy="830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E９.３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醫療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檢查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861165954" name=""/>
          <p:cNvSpPr txBox="1"/>
          <p:nvPr/>
        </p:nvSpPr>
        <p:spPr bwMode="auto">
          <a:xfrm rot="0" flipH="0" flipV="0">
            <a:off x="9076950" y="4937870"/>
            <a:ext cx="78564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E９.４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親子鑑定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83260213" name=""/>
          <p:cNvSpPr txBox="1"/>
          <p:nvPr/>
        </p:nvSpPr>
        <p:spPr bwMode="auto">
          <a:xfrm rot="0" flipH="0" flipV="0">
            <a:off x="10170026" y="4937870"/>
            <a:ext cx="805258" cy="58848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E９.５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分手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26267438" name=""/>
          <p:cNvSpPr txBox="1"/>
          <p:nvPr/>
        </p:nvSpPr>
        <p:spPr bwMode="auto">
          <a:xfrm rot="0" flipH="0" flipV="0">
            <a:off x="11202460" y="4916648"/>
            <a:ext cx="787383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E９.６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遺產繼承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28389697" name=""/>
          <p:cNvSpPr/>
          <p:nvPr/>
        </p:nvSpPr>
        <p:spPr bwMode="auto">
          <a:xfrm rot="0" flipH="0" flipV="0">
            <a:off x="370104" y="5643466"/>
            <a:ext cx="873639" cy="1078007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2093119849" name=""/>
          <p:cNvSpPr txBox="1"/>
          <p:nvPr/>
        </p:nvSpPr>
        <p:spPr bwMode="auto">
          <a:xfrm rot="0" flipH="0" flipV="0">
            <a:off x="367224" y="5643466"/>
            <a:ext cx="732370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E１３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sz="1600"/>
          </a:p>
        </p:txBody>
      </p:sp>
      <p:sp>
        <p:nvSpPr>
          <p:cNvPr id="1310595053" name=""/>
          <p:cNvSpPr/>
          <p:nvPr/>
        </p:nvSpPr>
        <p:spPr bwMode="auto">
          <a:xfrm rot="0" flipH="0" flipV="0">
            <a:off x="1463481" y="56672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84183509" name=""/>
          <p:cNvSpPr/>
          <p:nvPr/>
        </p:nvSpPr>
        <p:spPr bwMode="auto">
          <a:xfrm rot="0" flipH="0" flipV="0">
            <a:off x="2518000" y="56672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2033892720" name=""/>
          <p:cNvSpPr/>
          <p:nvPr/>
        </p:nvSpPr>
        <p:spPr bwMode="auto">
          <a:xfrm rot="0" flipH="0" flipV="0">
            <a:off x="3569125" y="5640138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86825136" name=""/>
          <p:cNvSpPr txBox="1"/>
          <p:nvPr/>
        </p:nvSpPr>
        <p:spPr bwMode="auto">
          <a:xfrm rot="0" flipH="0" flipV="0">
            <a:off x="1463481" y="5667279"/>
            <a:ext cx="780533" cy="7989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E１４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885889375" name=""/>
          <p:cNvSpPr txBox="1"/>
          <p:nvPr/>
        </p:nvSpPr>
        <p:spPr bwMode="auto">
          <a:xfrm rot="0" flipH="0" flipV="0">
            <a:off x="2518000" y="5667279"/>
            <a:ext cx="781613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E１５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endParaRPr/>
          </a:p>
        </p:txBody>
      </p:sp>
      <p:sp>
        <p:nvSpPr>
          <p:cNvPr id="1796620451" name=""/>
          <p:cNvSpPr txBox="1"/>
          <p:nvPr/>
        </p:nvSpPr>
        <p:spPr bwMode="auto">
          <a:xfrm rot="0" flipH="0" flipV="0">
            <a:off x="3569125" y="5640138"/>
            <a:ext cx="78341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E１６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1186219123" name=""/>
          <p:cNvCxnSpPr/>
          <p:nvPr/>
        </p:nvCxnSpPr>
        <p:spPr bwMode="auto">
          <a:xfrm flipH="0" flipV="1">
            <a:off x="2014846" y="1983644"/>
            <a:ext cx="979206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007465" name=""/>
          <p:cNvCxnSpPr>
            <a:endCxn id="1828873214" idx="1"/>
          </p:cNvCxnSpPr>
          <p:nvPr/>
        </p:nvCxnSpPr>
        <p:spPr bwMode="auto">
          <a:xfrm rot="0" flipH="0" flipV="0">
            <a:off x="6032134" y="1312729"/>
            <a:ext cx="3605775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384525" name=""/>
          <p:cNvCxnSpPr/>
          <p:nvPr/>
        </p:nvCxnSpPr>
        <p:spPr bwMode="auto">
          <a:xfrm rot="0" flipH="1" flipV="0">
            <a:off x="5788401" y="1650999"/>
            <a:ext cx="0" cy="332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9033238" name=""/>
          <p:cNvCxnSpPr/>
          <p:nvPr/>
        </p:nvCxnSpPr>
        <p:spPr bwMode="auto">
          <a:xfrm rot="0" flipH="1" flipV="0">
            <a:off x="2014846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1271063" name=""/>
          <p:cNvCxnSpPr/>
          <p:nvPr/>
        </p:nvCxnSpPr>
        <p:spPr bwMode="auto">
          <a:xfrm rot="0" flipH="1" flipV="0">
            <a:off x="3055091" y="2010785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617896" name=""/>
          <p:cNvCxnSpPr/>
          <p:nvPr/>
        </p:nvCxnSpPr>
        <p:spPr bwMode="auto">
          <a:xfrm rot="0" flipH="1" flipV="0">
            <a:off x="4110331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105238" name=""/>
          <p:cNvCxnSpPr/>
          <p:nvPr/>
        </p:nvCxnSpPr>
        <p:spPr bwMode="auto">
          <a:xfrm rot="0" flipH="1" flipV="0">
            <a:off x="5208548" y="2010785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518418" name=""/>
          <p:cNvCxnSpPr/>
          <p:nvPr/>
        </p:nvCxnSpPr>
        <p:spPr bwMode="auto">
          <a:xfrm rot="0" flipH="1" flipV="0">
            <a:off x="6219977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931277" name=""/>
          <p:cNvCxnSpPr/>
          <p:nvPr/>
        </p:nvCxnSpPr>
        <p:spPr bwMode="auto">
          <a:xfrm rot="0" flipH="1" flipV="0">
            <a:off x="7385979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733542" name=""/>
          <p:cNvCxnSpPr/>
          <p:nvPr/>
        </p:nvCxnSpPr>
        <p:spPr bwMode="auto">
          <a:xfrm rot="0" flipH="1" flipV="0">
            <a:off x="8437579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12121" name=""/>
          <p:cNvCxnSpPr/>
          <p:nvPr/>
        </p:nvCxnSpPr>
        <p:spPr bwMode="auto">
          <a:xfrm rot="0" flipH="1" flipV="0">
            <a:off x="9484940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785191" name=""/>
          <p:cNvCxnSpPr/>
          <p:nvPr/>
        </p:nvCxnSpPr>
        <p:spPr bwMode="auto">
          <a:xfrm rot="0" flipH="1" flipV="0">
            <a:off x="10606035" y="195316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4822868" name=""/>
          <p:cNvCxnSpPr/>
          <p:nvPr/>
        </p:nvCxnSpPr>
        <p:spPr bwMode="auto">
          <a:xfrm rot="0" flipH="1" flipV="0">
            <a:off x="11806909" y="195316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145925" name=""/>
          <p:cNvCxnSpPr/>
          <p:nvPr/>
        </p:nvCxnSpPr>
        <p:spPr bwMode="auto">
          <a:xfrm flipH="0" flipV="1">
            <a:off x="1098874" y="1319064"/>
            <a:ext cx="4075384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0131702" name=""/>
          <p:cNvCxnSpPr/>
          <p:nvPr/>
        </p:nvCxnSpPr>
        <p:spPr bwMode="auto">
          <a:xfrm flipH="0" flipV="1">
            <a:off x="694888" y="5270499"/>
            <a:ext cx="3327519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313532" name=""/>
          <p:cNvCxnSpPr/>
          <p:nvPr/>
        </p:nvCxnSpPr>
        <p:spPr bwMode="auto">
          <a:xfrm rot="0" flipH="1" flipV="0">
            <a:off x="1098874" y="1306395"/>
            <a:ext cx="0" cy="396410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6476356" name=""/>
          <p:cNvCxnSpPr/>
          <p:nvPr/>
        </p:nvCxnSpPr>
        <p:spPr bwMode="auto">
          <a:xfrm rot="0" flipH="1" flipV="0">
            <a:off x="694888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2379665" name=""/>
          <p:cNvCxnSpPr/>
          <p:nvPr/>
        </p:nvCxnSpPr>
        <p:spPr bwMode="auto">
          <a:xfrm rot="0" flipH="1" flipV="0">
            <a:off x="1900300" y="5278341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843613" name=""/>
          <p:cNvCxnSpPr/>
          <p:nvPr/>
        </p:nvCxnSpPr>
        <p:spPr bwMode="auto">
          <a:xfrm rot="0" flipH="1" flipV="0">
            <a:off x="2954820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922815" name=""/>
          <p:cNvCxnSpPr/>
          <p:nvPr/>
        </p:nvCxnSpPr>
        <p:spPr bwMode="auto">
          <a:xfrm rot="0" flipH="1" flipV="0">
            <a:off x="4005945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034200" name=""/>
          <p:cNvCxnSpPr>
            <a:endCxn id="333140272" idx="0"/>
          </p:cNvCxnSpPr>
          <p:nvPr/>
        </p:nvCxnSpPr>
        <p:spPr bwMode="auto">
          <a:xfrm rot="5400000" flipH="0" flipV="1">
            <a:off x="4876002" y="3687708"/>
            <a:ext cx="517418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107809" name=""/>
          <p:cNvCxnSpPr>
            <a:stCxn id="333140272" idx="1"/>
          </p:cNvCxnSpPr>
          <p:nvPr/>
        </p:nvCxnSpPr>
        <p:spPr bwMode="auto">
          <a:xfrm rot="10800000" flipH="0" flipV="0">
            <a:off x="4273874" y="4354694"/>
            <a:ext cx="477849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2678413" name=""/>
          <p:cNvCxnSpPr/>
          <p:nvPr/>
        </p:nvCxnSpPr>
        <p:spPr bwMode="auto">
          <a:xfrm flipH="0" flipV="1">
            <a:off x="6399887" y="4354694"/>
            <a:ext cx="5146526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520704" name=""/>
          <p:cNvCxnSpPr/>
          <p:nvPr/>
        </p:nvCxnSpPr>
        <p:spPr bwMode="auto">
          <a:xfrm rot="5400000" flipH="0" flipV="1">
            <a:off x="7922803" y="3803223"/>
            <a:ext cx="102955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6199990" name=""/>
          <p:cNvCxnSpPr/>
          <p:nvPr/>
        </p:nvCxnSpPr>
        <p:spPr bwMode="auto">
          <a:xfrm rot="0" flipH="1" flipV="0">
            <a:off x="6410585" y="4369249"/>
            <a:ext cx="0" cy="59243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647331" name=""/>
          <p:cNvCxnSpPr/>
          <p:nvPr/>
        </p:nvCxnSpPr>
        <p:spPr bwMode="auto">
          <a:xfrm rot="0" flipH="1" flipV="0">
            <a:off x="7320840" y="4369249"/>
            <a:ext cx="0" cy="54118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363884" name=""/>
          <p:cNvCxnSpPr/>
          <p:nvPr/>
        </p:nvCxnSpPr>
        <p:spPr bwMode="auto">
          <a:xfrm rot="0" flipH="1" flipV="0">
            <a:off x="8437579" y="4317999"/>
            <a:ext cx="0" cy="59243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5948114" name=""/>
          <p:cNvCxnSpPr/>
          <p:nvPr/>
        </p:nvCxnSpPr>
        <p:spPr bwMode="auto">
          <a:xfrm rot="5400000" flipH="0" flipV="0">
            <a:off x="9149592" y="4639841"/>
            <a:ext cx="54118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737563" name=""/>
          <p:cNvCxnSpPr/>
          <p:nvPr/>
        </p:nvCxnSpPr>
        <p:spPr bwMode="auto">
          <a:xfrm rot="5400000" flipH="0" flipV="0">
            <a:off x="10228679" y="4653560"/>
            <a:ext cx="56862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278260" name=""/>
          <p:cNvCxnSpPr/>
          <p:nvPr/>
        </p:nvCxnSpPr>
        <p:spPr bwMode="auto">
          <a:xfrm rot="5400000" flipH="0" flipV="1">
            <a:off x="11265436" y="4635671"/>
            <a:ext cx="56195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13092811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3105492" name="TextBox 20"/>
          <p:cNvSpPr txBox="1"/>
          <p:nvPr/>
        </p:nvSpPr>
        <p:spPr bwMode="auto">
          <a:xfrm>
            <a:off x="0" y="646290"/>
            <a:ext cx="8262320" cy="469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endParaRPr lang="en-US" sz="2400"/>
          </a:p>
        </p:txBody>
      </p:sp>
      <p:sp>
        <p:nvSpPr>
          <p:cNvPr id="217842287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  <p:sp>
        <p:nvSpPr>
          <p:cNvPr id="1235865954" name="Google Shape;90;p1"/>
          <p:cNvSpPr txBox="1"/>
          <p:nvPr/>
        </p:nvSpPr>
        <p:spPr bwMode="auto">
          <a:xfrm>
            <a:off x="-45718" y="-2891"/>
            <a:ext cx="1228343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141654192" name=""/>
          <p:cNvSpPr txBox="1"/>
          <p:nvPr/>
        </p:nvSpPr>
        <p:spPr bwMode="auto">
          <a:xfrm rot="0" flipH="0" flipV="0">
            <a:off x="9857862" y="662519"/>
            <a:ext cx="1826648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-總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7142035" name=""/>
          <p:cNvSpPr txBox="1"/>
          <p:nvPr/>
        </p:nvSpPr>
        <p:spPr bwMode="auto">
          <a:xfrm rot="0" flipH="0" flipV="0">
            <a:off x="103090" y="1099136"/>
            <a:ext cx="11909128" cy="7013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頂層</a:t>
            </a:r>
            <a:endParaRPr sz="2000"/>
          </a:p>
          <a:p>
            <a:pPr algn="ctr">
              <a:defRPr/>
            </a:pPr>
            <a:endParaRPr sz="2000"/>
          </a:p>
        </p:txBody>
      </p:sp>
      <p:sp>
        <p:nvSpPr>
          <p:cNvPr id="460353106" name=""/>
          <p:cNvSpPr txBox="1"/>
          <p:nvPr/>
        </p:nvSpPr>
        <p:spPr bwMode="auto">
          <a:xfrm rot="0" flipH="0" flipV="0">
            <a:off x="140355" y="6316203"/>
            <a:ext cx="11915969" cy="396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底層</a:t>
            </a:r>
            <a:endParaRPr sz="2000"/>
          </a:p>
        </p:txBody>
      </p:sp>
      <p:sp>
        <p:nvSpPr>
          <p:cNvPr id="1957564565" name=""/>
          <p:cNvSpPr txBox="1"/>
          <p:nvPr/>
        </p:nvSpPr>
        <p:spPr bwMode="auto">
          <a:xfrm rot="0" flipH="0" flipV="0">
            <a:off x="94092" y="2159839"/>
            <a:ext cx="11929289" cy="40541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r>
              <a:rPr sz="2000"/>
              <a:t>內容</a:t>
            </a: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28151432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5693738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03197537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302303193" name=""/>
          <p:cNvSpPr txBox="1"/>
          <p:nvPr/>
        </p:nvSpPr>
        <p:spPr bwMode="auto">
          <a:xfrm rot="0" flipH="0" flipV="0">
            <a:off x="9789161" y="662518"/>
            <a:ext cx="2227376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頂層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258221" name=""/>
          <p:cNvSpPr txBox="1"/>
          <p:nvPr/>
        </p:nvSpPr>
        <p:spPr bwMode="auto">
          <a:xfrm rot="0" flipH="0" flipV="0">
            <a:off x="103091" y="1115370"/>
            <a:ext cx="11912368" cy="396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頂層</a:t>
            </a:r>
            <a:endParaRPr sz="2000"/>
          </a:p>
        </p:txBody>
      </p:sp>
      <p:sp>
        <p:nvSpPr>
          <p:cNvPr id="1564702574" name=""/>
          <p:cNvSpPr/>
          <p:nvPr/>
        </p:nvSpPr>
        <p:spPr bwMode="auto">
          <a:xfrm rot="0" flipH="0" flipV="0">
            <a:off x="106693" y="1724599"/>
            <a:ext cx="11908048" cy="1407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1884201" name=""/>
          <p:cNvSpPr txBox="1"/>
          <p:nvPr/>
        </p:nvSpPr>
        <p:spPr bwMode="auto">
          <a:xfrm rot="0" flipH="0" flipV="0">
            <a:off x="1277710" y="2423765"/>
            <a:ext cx="8752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首頁</a:t>
            </a:r>
            <a:endParaRPr sz="2400">
              <a:latin typeface="Linux Biolinum O"/>
              <a:cs typeface="Linux Biolinum O"/>
            </a:endParaRPr>
          </a:p>
        </p:txBody>
      </p:sp>
      <p:sp>
        <p:nvSpPr>
          <p:cNvPr id="1515206304" name=""/>
          <p:cNvSpPr txBox="1"/>
          <p:nvPr/>
        </p:nvSpPr>
        <p:spPr bwMode="auto">
          <a:xfrm rot="0" flipH="0" flipV="0">
            <a:off x="3459452" y="2076176"/>
            <a:ext cx="823333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性格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測試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64349382" name=""/>
          <p:cNvSpPr txBox="1"/>
          <p:nvPr/>
        </p:nvSpPr>
        <p:spPr bwMode="auto">
          <a:xfrm rot="0" flipH="0" flipV="0">
            <a:off x="4500717" y="2069876"/>
            <a:ext cx="844292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安裝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82930226" name=""/>
          <p:cNvSpPr txBox="1"/>
          <p:nvPr/>
        </p:nvSpPr>
        <p:spPr bwMode="auto">
          <a:xfrm rot="0" flipH="0" flipV="0">
            <a:off x="5537741" y="2056826"/>
            <a:ext cx="815429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會員登入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27467136" name=""/>
          <p:cNvSpPr txBox="1"/>
          <p:nvPr/>
        </p:nvSpPr>
        <p:spPr bwMode="auto">
          <a:xfrm rot="0" flipH="0" flipV="0">
            <a:off x="6624945" y="2043776"/>
            <a:ext cx="829861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97217034" name=""/>
          <p:cNvSpPr txBox="1"/>
          <p:nvPr/>
        </p:nvSpPr>
        <p:spPr bwMode="auto">
          <a:xfrm rot="0" flipH="0" flipV="0">
            <a:off x="7596158" y="2025076"/>
            <a:ext cx="823333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月刊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43303132" name=""/>
          <p:cNvSpPr txBox="1"/>
          <p:nvPr/>
        </p:nvSpPr>
        <p:spPr bwMode="auto">
          <a:xfrm rot="0" flipH="0" flipV="0">
            <a:off x="8574323" y="2029627"/>
            <a:ext cx="836924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關於我們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86953428" name=""/>
          <p:cNvSpPr/>
          <p:nvPr/>
        </p:nvSpPr>
        <p:spPr bwMode="auto">
          <a:xfrm rot="0" flipH="0" flipV="0">
            <a:off x="10698807" y="2363635"/>
            <a:ext cx="1011115" cy="457560"/>
          </a:xfrm>
          <a:prstGeom prst="rect">
            <a:avLst/>
          </a:prstGeom>
          <a:noFill/>
          <a:ln w="25400" cap="flat" cmpd="sng" algn="ctr">
            <a:solidFill>
              <a:srgbClr val="152BE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7552236" name=""/>
          <p:cNvSpPr txBox="1"/>
          <p:nvPr/>
        </p:nvSpPr>
        <p:spPr bwMode="auto">
          <a:xfrm rot="0" flipH="0" flipV="0">
            <a:off x="1186611" y="3549739"/>
            <a:ext cx="1206016" cy="10855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74843112" name=""/>
          <p:cNvCxnSpPr/>
          <p:nvPr/>
        </p:nvCxnSpPr>
        <p:spPr bwMode="auto">
          <a:xfrm rot="0" flipH="0" flipV="1">
            <a:off x="1711024" y="2895474"/>
            <a:ext cx="0" cy="654265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028782" name=""/>
          <p:cNvCxnSpPr/>
          <p:nvPr/>
        </p:nvCxnSpPr>
        <p:spPr bwMode="auto">
          <a:xfrm rot="0" flipH="0" flipV="1">
            <a:off x="3821949" y="2899496"/>
            <a:ext cx="0" cy="173985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339202" name=""/>
          <p:cNvSpPr txBox="1"/>
          <p:nvPr/>
        </p:nvSpPr>
        <p:spPr bwMode="auto">
          <a:xfrm rot="0" flipH="0" flipV="0">
            <a:off x="3143178" y="4639356"/>
            <a:ext cx="135753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到E5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0860348" name=""/>
          <p:cNvCxnSpPr/>
          <p:nvPr/>
        </p:nvCxnSpPr>
        <p:spPr bwMode="auto">
          <a:xfrm rot="0" flipH="0" flipV="1">
            <a:off x="4858612" y="2907345"/>
            <a:ext cx="0" cy="250153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227695" name=""/>
          <p:cNvSpPr txBox="1"/>
          <p:nvPr/>
        </p:nvSpPr>
        <p:spPr bwMode="auto">
          <a:xfrm rot="0" flipH="0" flipV="0">
            <a:off x="4179483" y="5381686"/>
            <a:ext cx="135825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到E6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26208789" name=""/>
          <p:cNvCxnSpPr/>
          <p:nvPr/>
        </p:nvCxnSpPr>
        <p:spPr bwMode="auto">
          <a:xfrm rot="16199998" flipH="0" flipV="1">
            <a:off x="4323856" y="4477741"/>
            <a:ext cx="314079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6041660" name=""/>
          <p:cNvSpPr txBox="1"/>
          <p:nvPr/>
        </p:nvSpPr>
        <p:spPr bwMode="auto">
          <a:xfrm rot="0" flipH="0" flipV="0">
            <a:off x="5265966" y="6048137"/>
            <a:ext cx="135897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到E8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33713172" name=""/>
          <p:cNvCxnSpPr/>
          <p:nvPr/>
        </p:nvCxnSpPr>
        <p:spPr bwMode="auto">
          <a:xfrm rot="16199998" flipH="0" flipV="1">
            <a:off x="6728008" y="3178964"/>
            <a:ext cx="623736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8197833" name=""/>
          <p:cNvSpPr txBox="1"/>
          <p:nvPr/>
        </p:nvSpPr>
        <p:spPr bwMode="auto">
          <a:xfrm rot="0" flipH="0" flipV="0">
            <a:off x="6349793" y="3486249"/>
            <a:ext cx="135969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到E9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59192532" name=""/>
          <p:cNvCxnSpPr/>
          <p:nvPr/>
        </p:nvCxnSpPr>
        <p:spPr bwMode="auto">
          <a:xfrm rot="0" flipH="0" flipV="1">
            <a:off x="8007824" y="2867098"/>
            <a:ext cx="0" cy="173985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128117" name=""/>
          <p:cNvSpPr txBox="1"/>
          <p:nvPr/>
        </p:nvSpPr>
        <p:spPr bwMode="auto">
          <a:xfrm rot="0" flipH="0" flipV="0">
            <a:off x="7327795" y="4606958"/>
            <a:ext cx="136077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到E10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05082821" name=""/>
          <p:cNvCxnSpPr/>
          <p:nvPr/>
        </p:nvCxnSpPr>
        <p:spPr bwMode="auto">
          <a:xfrm rot="0" flipH="0" flipV="1">
            <a:off x="8992785" y="2880145"/>
            <a:ext cx="0" cy="250153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8545789" name=""/>
          <p:cNvSpPr txBox="1"/>
          <p:nvPr/>
        </p:nvSpPr>
        <p:spPr bwMode="auto">
          <a:xfrm rot="0" flipH="0" flipV="0">
            <a:off x="8322263" y="5354487"/>
            <a:ext cx="136149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到E11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02210547" name=""/>
          <p:cNvCxnSpPr/>
          <p:nvPr/>
        </p:nvCxnSpPr>
        <p:spPr bwMode="auto">
          <a:xfrm rot="16199998" flipH="0" flipV="1">
            <a:off x="8411802" y="4437493"/>
            <a:ext cx="314079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7979176" name=""/>
          <p:cNvSpPr txBox="1"/>
          <p:nvPr/>
        </p:nvSpPr>
        <p:spPr bwMode="auto">
          <a:xfrm rot="0" flipH="0" flipV="0">
            <a:off x="9411247" y="6007889"/>
            <a:ext cx="136005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到E12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61229491" name=""/>
          <p:cNvCxnSpPr/>
          <p:nvPr/>
        </p:nvCxnSpPr>
        <p:spPr bwMode="auto">
          <a:xfrm rot="0" flipH="0" flipV="1">
            <a:off x="11208128" y="2821196"/>
            <a:ext cx="0" cy="115771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3564100" name=""/>
          <p:cNvSpPr txBox="1"/>
          <p:nvPr/>
        </p:nvSpPr>
        <p:spPr bwMode="auto">
          <a:xfrm rot="0" flipH="0" flipV="0">
            <a:off x="10698807" y="4013600"/>
            <a:ext cx="1428283" cy="84175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放大鏡: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到E7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2152532" name=""/>
          <p:cNvSpPr txBox="1"/>
          <p:nvPr/>
        </p:nvSpPr>
        <p:spPr bwMode="auto">
          <a:xfrm rot="0" flipH="0" flipV="0">
            <a:off x="2391909" y="2437915"/>
            <a:ext cx="8680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相親</a:t>
            </a:r>
            <a:endParaRPr sz="2400">
              <a:latin typeface="Linux Biolinum O"/>
              <a:cs typeface="Linux Biolinum O"/>
            </a:endParaRPr>
          </a:p>
        </p:txBody>
      </p:sp>
      <p:sp>
        <p:nvSpPr>
          <p:cNvPr id="152329394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8664AEC-9FF1-3148-8A1E-2451772B1BEC}" type="slidenum">
              <a:rPr lang="en-US"/>
              <a:t>12</a:t>
            </a:fld>
            <a:endParaRPr/>
          </a:p>
        </p:txBody>
      </p:sp>
      <p:cxnSp>
        <p:nvCxnSpPr>
          <p:cNvPr id="1696449948" name=""/>
          <p:cNvCxnSpPr/>
          <p:nvPr/>
        </p:nvCxnSpPr>
        <p:spPr bwMode="auto">
          <a:xfrm rot="16199998" flipH="0" flipV="0">
            <a:off x="1474152" y="4261416"/>
            <a:ext cx="270358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1466917" name=""/>
          <p:cNvSpPr txBox="1"/>
          <p:nvPr/>
        </p:nvSpPr>
        <p:spPr bwMode="auto">
          <a:xfrm rot="0" flipH="0" flipV="0">
            <a:off x="1980306" y="5678363"/>
            <a:ext cx="1567228" cy="10855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:轉手指及顯示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子連結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子連結: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到E2/E3/E4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7733173" name=""/>
          <p:cNvSpPr txBox="1"/>
          <p:nvPr/>
        </p:nvSpPr>
        <p:spPr bwMode="auto">
          <a:xfrm rot="0" flipH="0" flipV="0">
            <a:off x="252804" y="2422584"/>
            <a:ext cx="876708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標識</a:t>
            </a:r>
            <a:endParaRPr sz="2400">
              <a:latin typeface="Linux Biolinum O"/>
              <a:cs typeface="Linux Biolinum O"/>
            </a:endParaRPr>
          </a:p>
        </p:txBody>
      </p:sp>
      <p:pic>
        <p:nvPicPr>
          <p:cNvPr id="34838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950953" y="2363636"/>
            <a:ext cx="514350" cy="400050"/>
          </a:xfrm>
          <a:prstGeom prst="rect">
            <a:avLst/>
          </a:prstGeom>
        </p:spPr>
      </p:pic>
      <p:sp>
        <p:nvSpPr>
          <p:cNvPr id="992129621" name=""/>
          <p:cNvSpPr/>
          <p:nvPr/>
        </p:nvSpPr>
        <p:spPr bwMode="auto">
          <a:xfrm rot="0" flipH="0" flipV="0">
            <a:off x="9527103" y="2363635"/>
            <a:ext cx="1011115" cy="457560"/>
          </a:xfrm>
          <a:prstGeom prst="rect">
            <a:avLst/>
          </a:prstGeom>
          <a:noFill/>
          <a:ln w="25400" cap="flat" cmpd="sng" algn="ctr">
            <a:solidFill>
              <a:srgbClr val="152BE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4411238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683760" y="2378103"/>
            <a:ext cx="552449" cy="428625"/>
          </a:xfrm>
          <a:prstGeom prst="rect">
            <a:avLst/>
          </a:prstGeom>
        </p:spPr>
      </p:pic>
      <p:cxnSp>
        <p:nvCxnSpPr>
          <p:cNvPr id="1245330731" name=""/>
          <p:cNvCxnSpPr/>
          <p:nvPr/>
        </p:nvCxnSpPr>
        <p:spPr bwMode="auto">
          <a:xfrm rot="0" flipH="0" flipV="1">
            <a:off x="691157" y="2881323"/>
            <a:ext cx="0" cy="65426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2543042" name=""/>
          <p:cNvSpPr txBox="1"/>
          <p:nvPr/>
        </p:nvSpPr>
        <p:spPr bwMode="auto">
          <a:xfrm rot="0" flipH="0" flipV="0">
            <a:off x="106692" y="3549739"/>
            <a:ext cx="1206016" cy="10855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488610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46229" y="1915461"/>
            <a:ext cx="489856" cy="4626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6471409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0062805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36446957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07076567" name=""/>
          <p:cNvSpPr txBox="1"/>
          <p:nvPr/>
        </p:nvSpPr>
        <p:spPr bwMode="auto">
          <a:xfrm rot="0" flipH="0" flipV="0">
            <a:off x="9789162" y="662519"/>
            <a:ext cx="223097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底層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2251245" name=""/>
          <p:cNvSpPr txBox="1"/>
          <p:nvPr/>
        </p:nvSpPr>
        <p:spPr bwMode="auto">
          <a:xfrm rot="0" flipH="0" flipV="0">
            <a:off x="103092" y="1115370"/>
            <a:ext cx="11915969" cy="396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底層</a:t>
            </a:r>
            <a:endParaRPr sz="2000"/>
          </a:p>
        </p:txBody>
      </p:sp>
      <p:sp>
        <p:nvSpPr>
          <p:cNvPr id="19886836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B416DE0-81D5-C41F-EFFE-30E5F2636F59}" type="slidenum">
              <a:rPr lang="en-US"/>
              <a:t>12</a:t>
            </a:fld>
            <a:endParaRPr/>
          </a:p>
        </p:txBody>
      </p:sp>
      <p:sp>
        <p:nvSpPr>
          <p:cNvPr id="129973519" name=""/>
          <p:cNvSpPr/>
          <p:nvPr/>
        </p:nvSpPr>
        <p:spPr bwMode="auto">
          <a:xfrm rot="0" flipH="0" flipV="0">
            <a:off x="106692" y="1724598"/>
            <a:ext cx="11908048" cy="1407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5239087" name=""/>
          <p:cNvSpPr txBox="1"/>
          <p:nvPr/>
        </p:nvSpPr>
        <p:spPr bwMode="auto">
          <a:xfrm rot="0" flipH="0" flipV="0">
            <a:off x="5879959" y="2166607"/>
            <a:ext cx="1458333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132897466" name=""/>
          <p:cNvSpPr txBox="1"/>
          <p:nvPr/>
        </p:nvSpPr>
        <p:spPr bwMode="auto">
          <a:xfrm rot="0" flipH="0" flipV="0">
            <a:off x="8094712" y="2166606"/>
            <a:ext cx="1446064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38664095" name=""/>
          <p:cNvSpPr txBox="1"/>
          <p:nvPr/>
        </p:nvSpPr>
        <p:spPr bwMode="auto">
          <a:xfrm rot="0" flipH="0" flipV="0">
            <a:off x="10342995" y="2166607"/>
            <a:ext cx="14294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653663773" name=""/>
          <p:cNvCxnSpPr>
            <a:endCxn id="1785239087" idx="2"/>
          </p:cNvCxnSpPr>
          <p:nvPr/>
        </p:nvCxnSpPr>
        <p:spPr bwMode="auto">
          <a:xfrm rot="16199998" flipH="0" flipV="1">
            <a:off x="5624987" y="3608487"/>
            <a:ext cx="1968638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7464062" name=""/>
          <p:cNvSpPr txBox="1"/>
          <p:nvPr/>
        </p:nvSpPr>
        <p:spPr bwMode="auto">
          <a:xfrm rot="0" flipH="0" flipV="0">
            <a:off x="5833636" y="4592806"/>
            <a:ext cx="1718106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到E14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83551584" name=""/>
          <p:cNvCxnSpPr/>
          <p:nvPr/>
        </p:nvCxnSpPr>
        <p:spPr bwMode="auto">
          <a:xfrm rot="0" flipH="0" flipV="1">
            <a:off x="8885310" y="2624167"/>
            <a:ext cx="0" cy="250153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9404132" name=""/>
          <p:cNvSpPr txBox="1"/>
          <p:nvPr/>
        </p:nvSpPr>
        <p:spPr bwMode="auto">
          <a:xfrm rot="0" flipH="0" flipV="0">
            <a:off x="8094713" y="5125705"/>
            <a:ext cx="1581193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到E15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20162070" name=""/>
          <p:cNvCxnSpPr/>
          <p:nvPr/>
        </p:nvCxnSpPr>
        <p:spPr bwMode="auto">
          <a:xfrm rot="16199998" flipH="0" flipV="1">
            <a:off x="9487333" y="4218888"/>
            <a:ext cx="3140791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5151836" name=""/>
          <p:cNvSpPr txBox="1"/>
          <p:nvPr/>
        </p:nvSpPr>
        <p:spPr bwMode="auto">
          <a:xfrm rot="0" flipH="0" flipV="0">
            <a:off x="10342995" y="5789284"/>
            <a:ext cx="1552724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到E16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0133994" name=""/>
          <p:cNvSpPr txBox="1"/>
          <p:nvPr/>
        </p:nvSpPr>
        <p:spPr bwMode="auto">
          <a:xfrm rot="0" flipH="0" flipV="0">
            <a:off x="3760093" y="2190933"/>
            <a:ext cx="1480798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sz="2400">
              <a:latin typeface="Linux Biolinum O"/>
              <a:cs typeface="Linux Biolinum O"/>
            </a:endParaRPr>
          </a:p>
        </p:txBody>
      </p:sp>
      <p:cxnSp>
        <p:nvCxnSpPr>
          <p:cNvPr id="869350101" name=""/>
          <p:cNvCxnSpPr/>
          <p:nvPr/>
        </p:nvCxnSpPr>
        <p:spPr bwMode="auto">
          <a:xfrm rot="16199998" flipH="0" flipV="0">
            <a:off x="3148701" y="4024609"/>
            <a:ext cx="270358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3171493" name=""/>
          <p:cNvSpPr txBox="1"/>
          <p:nvPr/>
        </p:nvSpPr>
        <p:spPr bwMode="auto">
          <a:xfrm rot="0" flipH="0" flipV="0">
            <a:off x="3760093" y="5322927"/>
            <a:ext cx="1719546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到E13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2285038" name=""/>
          <p:cNvSpPr/>
          <p:nvPr/>
        </p:nvSpPr>
        <p:spPr bwMode="auto">
          <a:xfrm rot="0" flipH="0" flipV="0">
            <a:off x="160818" y="1976653"/>
            <a:ext cx="3306718" cy="837468"/>
          </a:xfrm>
          <a:prstGeom prst="rect">
            <a:avLst/>
          </a:prstGeom>
          <a:noFill/>
          <a:ln w="25400" cap="flat" cmpd="sng" algn="ctr">
            <a:solidFill>
              <a:srgbClr val="152BE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3731029" name=""/>
          <p:cNvSpPr txBox="1"/>
          <p:nvPr/>
        </p:nvSpPr>
        <p:spPr bwMode="auto">
          <a:xfrm rot="0" flipH="0" flipV="0">
            <a:off x="160818" y="2104086"/>
            <a:ext cx="3306718" cy="58260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r>
              <a:rPr sz="1600" b="0" i="0" u="none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版權所有 © </a:t>
            </a:r>
            <a:r>
              <a:rPr sz="1600" b="0" i="0" u="none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2026</a:t>
            </a:r>
            <a:endParaRPr sz="1600" b="0" i="0" u="none" strike="noStrike" cap="none" spc="0">
              <a:solidFill>
                <a:schemeClr val="tx1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12417691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7401853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583513399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030236016" name=""/>
          <p:cNvSpPr txBox="1"/>
          <p:nvPr/>
        </p:nvSpPr>
        <p:spPr bwMode="auto">
          <a:xfrm rot="0" flipH="0" flipV="0">
            <a:off x="9789162" y="662519"/>
            <a:ext cx="223889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9746813" name=""/>
          <p:cNvSpPr txBox="1"/>
          <p:nvPr/>
        </p:nvSpPr>
        <p:spPr bwMode="auto">
          <a:xfrm rot="0" flipH="0" flipV="0">
            <a:off x="103090" y="1115370"/>
            <a:ext cx="11975367" cy="525728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E1、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E2、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E3、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E4、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E5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E5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.2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E6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E9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E9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.1-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E9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.6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E10</a:t>
            </a:r>
            <a:endParaRPr sz="20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178704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75BB4A2-B600-4895-8758-58A00E116D33}" type="slidenum">
              <a:rPr lang="en-US"/>
              <a:t>14</a:t>
            </a:fld>
            <a:endParaRPr/>
          </a:p>
        </p:txBody>
      </p:sp>
      <p:sp>
        <p:nvSpPr>
          <p:cNvPr id="1812009381" name=""/>
          <p:cNvSpPr/>
          <p:nvPr/>
        </p:nvSpPr>
        <p:spPr bwMode="auto">
          <a:xfrm rot="0" flipH="0" flipV="0">
            <a:off x="161706" y="1802422"/>
            <a:ext cx="5818562" cy="4553925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2471750" name=""/>
          <p:cNvSpPr/>
          <p:nvPr/>
        </p:nvSpPr>
        <p:spPr bwMode="auto">
          <a:xfrm rot="0" flipH="0" flipV="0">
            <a:off x="6163332" y="1802422"/>
            <a:ext cx="5818562" cy="4553925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937020" name=""/>
          <p:cNvSpPr txBox="1"/>
          <p:nvPr/>
        </p:nvSpPr>
        <p:spPr bwMode="auto">
          <a:xfrm rot="0" flipH="0" flipV="0">
            <a:off x="1414203" y="3531576"/>
            <a:ext cx="3313568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latin typeface="Linux Biolinum O"/>
                <a:ea typeface="Linux Biolinum O"/>
                <a:cs typeface="Linux Biolinum O"/>
              </a:rPr>
              <a:t>相片／文字</a:t>
            </a:r>
            <a:endParaRPr sz="4800">
              <a:latin typeface="Linux Biolinum O"/>
              <a:cs typeface="Linux Biolinum O"/>
            </a:endParaRPr>
          </a:p>
        </p:txBody>
      </p:sp>
      <p:sp>
        <p:nvSpPr>
          <p:cNvPr id="2127259641" name=""/>
          <p:cNvSpPr txBox="1"/>
          <p:nvPr/>
        </p:nvSpPr>
        <p:spPr bwMode="auto">
          <a:xfrm rot="0" flipH="0" flipV="0">
            <a:off x="7595040" y="3531576"/>
            <a:ext cx="3315008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文字</a:t>
            </a:r>
            <a:r>
              <a:rPr sz="4800">
                <a:latin typeface="Linux Biolinum O"/>
                <a:ea typeface="Linux Biolinum O"/>
                <a:cs typeface="Linux Biolinum O"/>
              </a:rPr>
              <a:t>／</a:t>
            </a:r>
            <a:r>
              <a:rPr lang="en-US" sz="48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相片</a:t>
            </a:r>
            <a:endParaRPr sz="4800"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21614482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9547260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308532530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376993971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5560023" name=""/>
          <p:cNvSpPr txBox="1"/>
          <p:nvPr/>
        </p:nvSpPr>
        <p:spPr bwMode="auto">
          <a:xfrm rot="0" flipH="0" flipV="0">
            <a:off x="103090" y="1115370"/>
            <a:ext cx="11979687" cy="525728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E7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E12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E13-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E16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0098758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1BD1F43-1DAE-CAC1-FD46-9C9AD027F01C}" type="slidenum">
              <a:rPr lang="en-US"/>
              <a:t>15</a:t>
            </a:fld>
            <a:endParaRPr/>
          </a:p>
        </p:txBody>
      </p:sp>
      <p:sp>
        <p:nvSpPr>
          <p:cNvPr id="572758235" name=""/>
          <p:cNvSpPr/>
          <p:nvPr/>
        </p:nvSpPr>
        <p:spPr bwMode="auto">
          <a:xfrm rot="0" flipH="0" flipV="0">
            <a:off x="161705" y="1802422"/>
            <a:ext cx="11871032" cy="4553924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782543" name=""/>
          <p:cNvSpPr txBox="1"/>
          <p:nvPr/>
        </p:nvSpPr>
        <p:spPr bwMode="auto">
          <a:xfrm rot="0" flipH="0" flipV="0">
            <a:off x="3181384" y="3531575"/>
            <a:ext cx="4996777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latin typeface="Linux Biolinum O"/>
                <a:ea typeface="Linux Biolinum O"/>
                <a:cs typeface="Linux Biolinum O"/>
              </a:rPr>
              <a:t>文字</a:t>
            </a:r>
            <a:endParaRPr sz="4800"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5269134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09192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500317299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052596209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1586708" name=""/>
          <p:cNvSpPr txBox="1"/>
          <p:nvPr/>
        </p:nvSpPr>
        <p:spPr bwMode="auto">
          <a:xfrm rot="0" flipH="0" flipV="0">
            <a:off x="103090" y="1115370"/>
            <a:ext cx="11978967" cy="525728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E5.1、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E8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6229273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436FBEE-982A-BCD4-7B86-88C726B09943}" type="slidenum">
              <a:rPr lang="en-US"/>
              <a:t>16</a:t>
            </a:fld>
            <a:endParaRPr/>
          </a:p>
        </p:txBody>
      </p:sp>
      <p:sp>
        <p:nvSpPr>
          <p:cNvPr id="1256548729" name=""/>
          <p:cNvSpPr/>
          <p:nvPr/>
        </p:nvSpPr>
        <p:spPr bwMode="auto">
          <a:xfrm rot="0" flipH="0" flipV="0">
            <a:off x="161705" y="1802421"/>
            <a:ext cx="11871032" cy="4553924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532163" name=""/>
          <p:cNvSpPr txBox="1"/>
          <p:nvPr/>
        </p:nvSpPr>
        <p:spPr bwMode="auto">
          <a:xfrm rot="0" flipH="0" flipV="0">
            <a:off x="3181383" y="3531575"/>
            <a:ext cx="500505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latin typeface="Linux Biolinum O"/>
                <a:ea typeface="Linux Biolinum O"/>
                <a:cs typeface="Linux Biolinum O"/>
              </a:rPr>
              <a:t>表格</a:t>
            </a:r>
            <a:endParaRPr sz="4800"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73643926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139146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945388526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54682763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9602413" name=""/>
          <p:cNvSpPr txBox="1"/>
          <p:nvPr/>
        </p:nvSpPr>
        <p:spPr bwMode="auto">
          <a:xfrm rot="0" flipH="0" flipV="0">
            <a:off x="103090" y="1115370"/>
            <a:ext cx="11975007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E11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9602461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201AE3A-65B9-13D1-2C39-04A41120F2B1}" type="slidenum">
              <a:rPr lang="en-US"/>
              <a:t>17</a:t>
            </a:fld>
            <a:endParaRPr/>
          </a:p>
        </p:txBody>
      </p:sp>
      <p:sp>
        <p:nvSpPr>
          <p:cNvPr id="791392520" name=""/>
          <p:cNvSpPr/>
          <p:nvPr/>
        </p:nvSpPr>
        <p:spPr bwMode="auto">
          <a:xfrm rot="0" flipH="0" flipV="0">
            <a:off x="161705" y="2754921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238737" name=""/>
          <p:cNvSpPr txBox="1"/>
          <p:nvPr/>
        </p:nvSpPr>
        <p:spPr bwMode="auto">
          <a:xfrm rot="0" flipH="0" flipV="0">
            <a:off x="1414202" y="2754921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相片</a:t>
            </a:r>
            <a:endParaRPr sz="4800">
              <a:latin typeface="Linux Biolinum O"/>
              <a:cs typeface="Linux Biolinum O"/>
            </a:endParaRPr>
          </a:p>
        </p:txBody>
      </p:sp>
      <p:sp>
        <p:nvSpPr>
          <p:cNvPr id="828001206" name=""/>
          <p:cNvSpPr/>
          <p:nvPr/>
        </p:nvSpPr>
        <p:spPr bwMode="auto">
          <a:xfrm rot="0" flipH="0" flipV="0">
            <a:off x="6214176" y="2754921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147017" name=""/>
          <p:cNvSpPr txBox="1"/>
          <p:nvPr/>
        </p:nvSpPr>
        <p:spPr bwMode="auto">
          <a:xfrm rot="0" flipH="0" flipV="0">
            <a:off x="7597021" y="2754921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文字</a:t>
            </a:r>
            <a:endParaRPr sz="3600">
              <a:latin typeface="Linux Biolinum O"/>
              <a:cs typeface="Linux Biolinum O"/>
            </a:endParaRPr>
          </a:p>
        </p:txBody>
      </p:sp>
      <p:sp>
        <p:nvSpPr>
          <p:cNvPr id="611463584" name=""/>
          <p:cNvSpPr/>
          <p:nvPr/>
        </p:nvSpPr>
        <p:spPr bwMode="auto">
          <a:xfrm rot="0" flipH="0" flipV="0">
            <a:off x="161705" y="1802422"/>
            <a:ext cx="11871032" cy="703385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2434810" name=""/>
          <p:cNvSpPr txBox="1"/>
          <p:nvPr/>
        </p:nvSpPr>
        <p:spPr bwMode="auto">
          <a:xfrm rot="0" flipH="0" flipV="0">
            <a:off x="4200185" y="1742454"/>
            <a:ext cx="35616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latin typeface="Linux Biolinum O"/>
                <a:ea typeface="Linux Biolinum O"/>
                <a:cs typeface="Linux Biolinum O"/>
              </a:rPr>
              <a:t>文字</a:t>
            </a:r>
            <a:endParaRPr sz="4800">
              <a:latin typeface="Linux Biolinum O"/>
              <a:cs typeface="Linux Biolinum O"/>
            </a:endParaRPr>
          </a:p>
        </p:txBody>
      </p:sp>
      <p:sp>
        <p:nvSpPr>
          <p:cNvPr id="804278279" name=""/>
          <p:cNvSpPr/>
          <p:nvPr/>
        </p:nvSpPr>
        <p:spPr bwMode="auto">
          <a:xfrm rot="0" flipH="0" flipV="0">
            <a:off x="161705" y="3546229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5096146" name=""/>
          <p:cNvSpPr txBox="1"/>
          <p:nvPr/>
        </p:nvSpPr>
        <p:spPr bwMode="auto">
          <a:xfrm rot="0" flipH="0" flipV="0">
            <a:off x="1414202" y="3546229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相片</a:t>
            </a:r>
            <a:endParaRPr sz="4800">
              <a:latin typeface="Linux Biolinum O"/>
              <a:cs typeface="Linux Biolinum O"/>
            </a:endParaRPr>
          </a:p>
        </p:txBody>
      </p:sp>
      <p:sp>
        <p:nvSpPr>
          <p:cNvPr id="1933607119" name=""/>
          <p:cNvSpPr/>
          <p:nvPr/>
        </p:nvSpPr>
        <p:spPr bwMode="auto">
          <a:xfrm rot="0" flipH="0" flipV="0">
            <a:off x="6214176" y="3546229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3884771" name=""/>
          <p:cNvSpPr txBox="1"/>
          <p:nvPr/>
        </p:nvSpPr>
        <p:spPr bwMode="auto">
          <a:xfrm rot="0" flipH="0" flipV="0">
            <a:off x="7597021" y="3546229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文字</a:t>
            </a:r>
            <a:endParaRPr sz="3600">
              <a:latin typeface="Linux Biolinum O"/>
              <a:cs typeface="Linux Biolinum O"/>
            </a:endParaRPr>
          </a:p>
        </p:txBody>
      </p:sp>
      <p:sp>
        <p:nvSpPr>
          <p:cNvPr id="1617742456" name=""/>
          <p:cNvSpPr/>
          <p:nvPr/>
        </p:nvSpPr>
        <p:spPr bwMode="auto">
          <a:xfrm rot="0" flipH="0" flipV="0">
            <a:off x="161705" y="4322883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5175914" name=""/>
          <p:cNvSpPr txBox="1"/>
          <p:nvPr/>
        </p:nvSpPr>
        <p:spPr bwMode="auto">
          <a:xfrm rot="0" flipH="0" flipV="0">
            <a:off x="1414202" y="4322883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相片</a:t>
            </a:r>
            <a:endParaRPr sz="4800">
              <a:latin typeface="Linux Biolinum O"/>
              <a:cs typeface="Linux Biolinum O"/>
            </a:endParaRPr>
          </a:p>
        </p:txBody>
      </p:sp>
      <p:sp>
        <p:nvSpPr>
          <p:cNvPr id="792880751" name=""/>
          <p:cNvSpPr/>
          <p:nvPr/>
        </p:nvSpPr>
        <p:spPr bwMode="auto">
          <a:xfrm rot="0" flipH="0" flipV="0">
            <a:off x="6214176" y="4322883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879241" name=""/>
          <p:cNvSpPr txBox="1"/>
          <p:nvPr/>
        </p:nvSpPr>
        <p:spPr bwMode="auto">
          <a:xfrm rot="0" flipH="0" flipV="0">
            <a:off x="7597021" y="4322883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文字</a:t>
            </a:r>
            <a:endParaRPr sz="3600">
              <a:latin typeface="Linux Biolinum O"/>
              <a:cs typeface="Linux Biolinum O"/>
            </a:endParaRPr>
          </a:p>
        </p:txBody>
      </p:sp>
      <p:sp>
        <p:nvSpPr>
          <p:cNvPr id="1979298306" name=""/>
          <p:cNvSpPr/>
          <p:nvPr/>
        </p:nvSpPr>
        <p:spPr bwMode="auto">
          <a:xfrm rot="0" flipH="0" flipV="0">
            <a:off x="161705" y="5114191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9648346" name=""/>
          <p:cNvSpPr txBox="1"/>
          <p:nvPr/>
        </p:nvSpPr>
        <p:spPr bwMode="auto">
          <a:xfrm rot="0" flipH="0" flipV="0">
            <a:off x="1414202" y="5114191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相片</a:t>
            </a:r>
            <a:endParaRPr sz="4800">
              <a:latin typeface="Linux Biolinum O"/>
              <a:cs typeface="Linux Biolinum O"/>
            </a:endParaRPr>
          </a:p>
        </p:txBody>
      </p:sp>
      <p:sp>
        <p:nvSpPr>
          <p:cNvPr id="758033655" name=""/>
          <p:cNvSpPr/>
          <p:nvPr/>
        </p:nvSpPr>
        <p:spPr bwMode="auto">
          <a:xfrm rot="0" flipH="0" flipV="0">
            <a:off x="6214176" y="5114191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4620536" name=""/>
          <p:cNvSpPr txBox="1"/>
          <p:nvPr/>
        </p:nvSpPr>
        <p:spPr bwMode="auto">
          <a:xfrm rot="0" flipH="0" flipV="0">
            <a:off x="7597021" y="5114191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文字</a:t>
            </a:r>
            <a:endParaRPr sz="3600">
              <a:latin typeface="Linux Biolinum O"/>
              <a:cs typeface="Linux Biolinum O"/>
            </a:endParaRPr>
          </a:p>
        </p:txBody>
      </p:sp>
      <p:sp>
        <p:nvSpPr>
          <p:cNvPr id="548868729" name=""/>
          <p:cNvSpPr/>
          <p:nvPr/>
        </p:nvSpPr>
        <p:spPr bwMode="auto">
          <a:xfrm rot="0" flipH="0" flipV="0">
            <a:off x="160265" y="5898470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212815" name=""/>
          <p:cNvSpPr txBox="1"/>
          <p:nvPr/>
        </p:nvSpPr>
        <p:spPr bwMode="auto">
          <a:xfrm rot="0" flipH="0" flipV="0">
            <a:off x="1412762" y="5898470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相片</a:t>
            </a:r>
            <a:endParaRPr sz="4800">
              <a:latin typeface="Linux Biolinum O"/>
              <a:cs typeface="Linux Biolinum O"/>
            </a:endParaRPr>
          </a:p>
        </p:txBody>
      </p:sp>
      <p:sp>
        <p:nvSpPr>
          <p:cNvPr id="1579547750" name=""/>
          <p:cNvSpPr/>
          <p:nvPr/>
        </p:nvSpPr>
        <p:spPr bwMode="auto">
          <a:xfrm rot="0" flipH="0" flipV="0">
            <a:off x="6212736" y="5898470"/>
            <a:ext cx="5818561" cy="640440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472598" name=""/>
          <p:cNvSpPr txBox="1"/>
          <p:nvPr/>
        </p:nvSpPr>
        <p:spPr bwMode="auto">
          <a:xfrm rot="0" flipH="0" flipV="0">
            <a:off x="7595581" y="5898470"/>
            <a:ext cx="33153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Linux Biolinum O"/>
                <a:ea typeface="Linux Biolinum O"/>
                <a:cs typeface="Linux Biolinum O"/>
              </a:rPr>
              <a:t>文字</a:t>
            </a:r>
            <a:endParaRPr sz="3600"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73993465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0351585" name="TextBox 20"/>
          <p:cNvSpPr txBox="1"/>
          <p:nvPr/>
        </p:nvSpPr>
        <p:spPr bwMode="auto">
          <a:xfrm>
            <a:off x="0" y="646290"/>
            <a:ext cx="8268799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G.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網站測試</a:t>
            </a:r>
            <a:r>
              <a:rPr lang="en-US" sz="2400">
                <a:solidFill>
                  <a:schemeClr val="dk1"/>
                </a:solidFill>
                <a:ea typeface="Times New Roman"/>
                <a:cs typeface="Times New Roman"/>
              </a:rPr>
              <a:t> </a:t>
            </a:r>
            <a:endParaRPr lang="en-US" sz="2400"/>
          </a:p>
        </p:txBody>
      </p:sp>
      <p:sp>
        <p:nvSpPr>
          <p:cNvPr id="56246197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sp>
        <p:nvSpPr>
          <p:cNvPr id="542040174" name="Google Shape;90;p1"/>
          <p:cNvSpPr txBox="1"/>
          <p:nvPr/>
        </p:nvSpPr>
        <p:spPr bwMode="auto">
          <a:xfrm>
            <a:off x="0" y="-2890"/>
            <a:ext cx="12284155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23381888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4691763" name="TextBox 20"/>
          <p:cNvSpPr txBox="1"/>
          <p:nvPr/>
        </p:nvSpPr>
        <p:spPr bwMode="auto">
          <a:xfrm>
            <a:off x="0" y="646290"/>
            <a:ext cx="8257997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H.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屏幕截圖及說明</a:t>
            </a:r>
            <a:endParaRPr lang="en-US" sz="2400"/>
          </a:p>
        </p:txBody>
      </p:sp>
      <p:sp>
        <p:nvSpPr>
          <p:cNvPr id="1685700625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31</a:t>
            </a:fld>
            <a:endParaRPr lang="en-US"/>
          </a:p>
        </p:txBody>
      </p:sp>
      <p:sp>
        <p:nvSpPr>
          <p:cNvPr id="882742961" name="Google Shape;90;p1"/>
          <p:cNvSpPr txBox="1"/>
          <p:nvPr/>
        </p:nvSpPr>
        <p:spPr bwMode="auto">
          <a:xfrm>
            <a:off x="0" y="-2890"/>
            <a:ext cx="12284515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3484088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683664" name="TextBox 20"/>
          <p:cNvSpPr txBox="1"/>
          <p:nvPr/>
        </p:nvSpPr>
        <p:spPr bwMode="auto">
          <a:xfrm>
            <a:off x="0" y="646290"/>
            <a:ext cx="8259797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I.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網站發佈</a:t>
            </a:r>
            <a:r>
              <a:rPr lang="en-US" sz="2400">
                <a:solidFill>
                  <a:schemeClr val="dk1"/>
                </a:solidFill>
                <a:ea typeface="Times New Roman"/>
                <a:cs typeface="Times New Roman"/>
              </a:rPr>
              <a:t> </a:t>
            </a:r>
            <a:endParaRPr lang="en-US" sz="2400"/>
          </a:p>
        </p:txBody>
      </p:sp>
      <p:sp>
        <p:nvSpPr>
          <p:cNvPr id="9537488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72E1F56-60A2-575F-DF32-6B968770F372}" type="slidenum">
              <a:rPr lang="en-US"/>
              <a:t>12</a:t>
            </a:fld>
            <a:endParaRPr lang="en-US"/>
          </a:p>
        </p:txBody>
      </p:sp>
      <p:sp>
        <p:nvSpPr>
          <p:cNvPr id="267574820" name="Google Shape;90;p1"/>
          <p:cNvSpPr txBox="1"/>
          <p:nvPr/>
        </p:nvSpPr>
        <p:spPr bwMode="auto">
          <a:xfrm>
            <a:off x="0" y="-2889"/>
            <a:ext cx="1228451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73784216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8054111" name="TextBox 20"/>
          <p:cNvSpPr txBox="1"/>
          <p:nvPr/>
        </p:nvSpPr>
        <p:spPr bwMode="auto">
          <a:xfrm>
            <a:off x="0" y="646290"/>
            <a:ext cx="300511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J.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總結</a:t>
            </a:r>
            <a:endParaRPr/>
          </a:p>
        </p:txBody>
      </p:sp>
      <p:sp>
        <p:nvSpPr>
          <p:cNvPr id="110754111" name="TextBox 23"/>
          <p:cNvSpPr txBox="1"/>
          <p:nvPr/>
        </p:nvSpPr>
        <p:spPr bwMode="auto">
          <a:xfrm flipH="0" flipV="0">
            <a:off x="447999" y="1107954"/>
            <a:ext cx="11653067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/>
              <a:t>XXXXX</a:t>
            </a:r>
            <a:endParaRPr sz="2400"/>
          </a:p>
        </p:txBody>
      </p:sp>
      <p:sp>
        <p:nvSpPr>
          <p:cNvPr id="98915273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42</a:t>
            </a:fld>
            <a:endParaRPr lang="en-US"/>
          </a:p>
        </p:txBody>
      </p:sp>
      <p:sp>
        <p:nvSpPr>
          <p:cNvPr id="1652616473" name="Google Shape;90;p1"/>
          <p:cNvSpPr txBox="1"/>
          <p:nvPr/>
        </p:nvSpPr>
        <p:spPr bwMode="auto">
          <a:xfrm>
            <a:off x="0" y="-2890"/>
            <a:ext cx="12284874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209660913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1984249" name="TextBox 2"/>
          <p:cNvSpPr txBox="1"/>
          <p:nvPr/>
        </p:nvSpPr>
        <p:spPr bwMode="auto">
          <a:xfrm>
            <a:off x="3778249" y="2613391"/>
            <a:ext cx="4639819" cy="165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000">
                <a:solidFill>
                  <a:srgbClr val="C00000"/>
                </a:solidFill>
              </a:rPr>
              <a:t>- 完 -</a:t>
            </a:r>
            <a:endParaRPr/>
          </a:p>
        </p:txBody>
      </p:sp>
      <p:sp>
        <p:nvSpPr>
          <p:cNvPr id="1488929719" name="Google Shape;90;p1"/>
          <p:cNvSpPr txBox="1"/>
          <p:nvPr/>
        </p:nvSpPr>
        <p:spPr bwMode="auto">
          <a:xfrm>
            <a:off x="0" y="-2890"/>
            <a:ext cx="12285234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46354009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F1603AB-9131-92B1-2216-B4C8D0C598C3}" type="slidenum">
              <a:rPr lang="en-US"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JACKHO</dc:creator>
  <cp:lastModifiedBy/>
  <cp:revision>528</cp:revision>
  <dcterms:created xsi:type="dcterms:W3CDTF">2025-03-08T03:49:38Z</dcterms:created>
  <dcterms:modified xsi:type="dcterms:W3CDTF">2026-09-22T15:28:41Z</dcterms:modified>
</cp:coreProperties>
</file>