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trictFirstAndLastChars="0">
  <p:sldMasterIdLst>
    <p:sldMasterId id="2147483648" r:id="rId1"/>
  </p:sldMasterIdLst>
  <p:notesMasterIdLst>
    <p:notesMasterId r:id="rId2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797675" cy="9928225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9" d="100"/>
          <a:sy n="79" d="100"/>
        </p:scale>
        <p:origin x="75" y="144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 /><Relationship Id="rId28" Type="http://schemas.openxmlformats.org/officeDocument/2006/relationships/tableStyles" Target="tableStyles.xml" /><Relationship Id="rId2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4790474" name="Google Shape;3;n"/>
          <p:cNvSpPr txBox="1">
            <a:spLocks noGrp="1"/>
          </p:cNvSpPr>
          <p:nvPr>
            <p:ph type="hdr" idx="2"/>
          </p:nvPr>
        </p:nvSpPr>
        <p:spPr bwMode="auto">
          <a:xfrm>
            <a:off x="1" y="0"/>
            <a:ext cx="2945659" cy="498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710797230" name="Google Shape;4;n"/>
          <p:cNvSpPr txBox="1">
            <a:spLocks noGrp="1"/>
          </p:cNvSpPr>
          <p:nvPr>
            <p:ph type="dt" idx="10"/>
          </p:nvPr>
        </p:nvSpPr>
        <p:spPr bwMode="auto">
          <a:xfrm>
            <a:off x="3850444" y="0"/>
            <a:ext cx="2945659" cy="498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9350867" name="Google Shape;5;n"/>
          <p:cNvSpPr>
            <a:spLocks noChangeAspect="1" noGrp="1" noRot="1"/>
          </p:cNvSpPr>
          <p:nvPr>
            <p:ph type="sldImg" idx="3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4282751" name="Google Shape;6;n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21398113" name="Google Shape;7;n"/>
          <p:cNvSpPr txBox="1">
            <a:spLocks noGrp="1"/>
          </p:cNvSpPr>
          <p:nvPr>
            <p:ph type="ftr" idx="11"/>
          </p:nvPr>
        </p:nvSpPr>
        <p:spPr bwMode="auto">
          <a:xfrm>
            <a:off x="1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75566252" name="Google Shape;8;n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‹#›</a:t>
            </a:fld>
            <a:endParaRPr lang="en-US" sz="1300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dt="0" ftr="0" hdr="0" sldNum="1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557859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0424956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675756935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778518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0394131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802477942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0237706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8665203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201037203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8794341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998825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79951872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13719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4211820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85539888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0005CA7B-64A5-499F-1117-3332D9FC274B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2762503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8842085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907557153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044742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7785863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680532483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E80F1C9C-D72B-BA43-C5BD-73F3898D06C5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252152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546850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038451947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80463679-56FA-677F-6B60-E86EB0C34269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135465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437578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433724002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C158FCB2-BADB-BB48-974B-075ECA6AAAE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1936827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1893451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58001535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1707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7765229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446600534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4619928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8401234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942082817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EAF1660C-8514-AAAC-6E00-8A8AF1B10B1A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532507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9350773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736066275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CDE84A84-8C45-A2F9-A60F-588A469A914E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455692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6"/>
            <a:ext cx="5959473" cy="335279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3561014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6" y="4777957"/>
            <a:ext cx="5438138" cy="3909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562334928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7" cy="498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b" anchorCtr="0">
            <a:noAutofit/>
          </a:bodyPr>
          <a:lstStyle/>
          <a:p>
            <a:pPr algn="r">
              <a:defRPr/>
            </a:pPr>
            <a:fld id="{0A360341-ADFE-903A-DBF1-B78BF1B23F3B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418173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6"/>
            <a:ext cx="5959473" cy="335279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2103906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6" y="4777957"/>
            <a:ext cx="5438138" cy="3909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412817407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7" cy="498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b" anchorCtr="0">
            <a:noAutofit/>
          </a:bodyPr>
          <a:lstStyle/>
          <a:p>
            <a:pPr algn="r">
              <a:defRPr/>
            </a:pPr>
            <a:fld id="{81ECB21A-61B4-4ED8-44FF-DBB2A8F5CD41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9043909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6"/>
            <a:ext cx="5959473" cy="335279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97453598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6" y="4777957"/>
            <a:ext cx="5438138" cy="3909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874777986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7" cy="498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b" anchorCtr="0">
            <a:noAutofit/>
          </a:bodyPr>
          <a:lstStyle/>
          <a:p>
            <a:pPr algn="r">
              <a:defRPr/>
            </a:pPr>
            <a:fld id="{0053F27C-34DC-1BE8-853D-208508505149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514873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6"/>
            <a:ext cx="5959473" cy="3352798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9862723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6" y="4777957"/>
            <a:ext cx="5438138" cy="3909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975391311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7" cy="498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0" tIns="47763" rIns="95550" bIns="47763" anchor="b" anchorCtr="0">
            <a:noAutofit/>
          </a:bodyPr>
          <a:lstStyle/>
          <a:p>
            <a:pPr algn="r">
              <a:defRPr/>
            </a:pPr>
            <a:fld id="{8847E5DD-D1AE-4154-6C1E-23F2B76193AF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37100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5508492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584581774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630228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9914864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2667736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572301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7" y="1239837"/>
            <a:ext cx="5959474" cy="3352799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61146533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7" y="4777958"/>
            <a:ext cx="5438139" cy="390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965969964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3" y="9430092"/>
            <a:ext cx="2945658" cy="498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1" tIns="47763" rIns="95551" bIns="47763" anchor="b" anchorCtr="0">
            <a:noAutofit/>
          </a:bodyPr>
          <a:lstStyle/>
          <a:p>
            <a:pPr algn="r">
              <a:defRPr/>
            </a:pPr>
            <a:fld id="{27822F58-97A6-F56A-E2D3-5013802357A5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9180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2891764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701816249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42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546827" name="Google Shape;85;p1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420688" y="1239838"/>
            <a:ext cx="5959475" cy="33528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6324373" name="Google Shape;86;p1:notes"/>
          <p:cNvSpPr txBox="1">
            <a:spLocks noGrp="1"/>
          </p:cNvSpPr>
          <p:nvPr>
            <p:ph type="body" idx="1"/>
          </p:nvPr>
        </p:nvSpPr>
        <p:spPr bwMode="auto">
          <a:xfrm>
            <a:off x="679768" y="4777959"/>
            <a:ext cx="5438140" cy="3909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t" anchorCtr="0">
            <a:noAutofit/>
          </a:bodyPr>
          <a:lstStyle/>
          <a:p>
            <a:pPr marL="0" indent="0">
              <a:defRPr/>
            </a:pPr>
            <a:endParaRPr/>
          </a:p>
        </p:txBody>
      </p:sp>
      <p:sp>
        <p:nvSpPr>
          <p:cNvPr id="1567687098" name="Google Shape;87;p1:notes"/>
          <p:cNvSpPr txBox="1">
            <a:spLocks noGrp="1"/>
          </p:cNvSpPr>
          <p:nvPr>
            <p:ph type="sldNum" idx="12"/>
          </p:nvPr>
        </p:nvSpPr>
        <p:spPr bwMode="auto">
          <a:xfrm>
            <a:off x="3850444" y="9430093"/>
            <a:ext cx="2945659" cy="498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552" tIns="47763" rIns="95552" bIns="47763" anchor="b" anchorCtr="0">
            <a:noAutofit/>
          </a:bodyPr>
          <a:lstStyle/>
          <a:p>
            <a:pPr algn="r">
              <a:defRPr/>
            </a:pPr>
            <a:fld id="{00000000-1234-1234-1234-123412341234}" type="slidenum">
              <a:rPr lang="en-US"/>
              <a:t>43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標題投影片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094109" name="Google Shape;16;p18"/>
          <p:cNvSpPr txBox="1"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69209656" name="Google Shape;17;p18"/>
          <p:cNvSpPr txBox="1"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pPr>
              <a:defRPr/>
            </a:pPr>
            <a:endParaRPr/>
          </a:p>
        </p:txBody>
      </p:sp>
      <p:sp>
        <p:nvSpPr>
          <p:cNvPr id="1678574419" name="Google Shape;18;p18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8535119" name="Google Shape;19;p18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21436310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標題及物件" preserve="0" showMasterPhAnim="0" showMasterSp="1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76662" name="Google Shape;22;p19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84324287" name="Google Shape;23;p19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5579728" name="Google Shape;24;p19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57427888" name="Google Shape;25;p19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80737095" name="Google Shape;26;p19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章節標題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1962400" name="Google Shape;28;p20"/>
          <p:cNvSpPr txBox="1"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69837023" name="Google Shape;29;p20"/>
          <p:cNvSpPr txBox="1"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042146989" name="Google Shape;30;p20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71954835" name="Google Shape;31;p20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61342616" name="Google Shape;32;p20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兩項物件" preserve="0" showMasterPhAnim="0" showMasterSp="1" type="twoObj" userDrawn="1">
  <p:cSld name="TWO_OBJECT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797041" name="Google Shape;34;p21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95039133" name="Google Shape;35;p21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50972195" name="Google Shape;36;p21"/>
          <p:cNvSpPr txBox="1">
            <a:spLocks noGrp="1"/>
          </p:cNvSpPr>
          <p:nvPr>
            <p:ph type="body" idx="2"/>
          </p:nvPr>
        </p:nvSpPr>
        <p:spPr bwMode="auto"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5110606" name="Google Shape;37;p21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75904461" name="Google Shape;38;p21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94487646" name="Google Shape;39;p21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比對" preserve="0" showMasterPhAnim="0" showMasterSp="1" type="twoTxTwoObj" userDrawn="1">
  <p:cSld name="TWO_OBJECTS_WITH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8463892" name="Google Shape;41;p22"/>
          <p:cNvSpPr txBox="1"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103922953" name="Google Shape;42;p22"/>
          <p:cNvSpPr txBox="1"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362391163" name="Google Shape;43;p22"/>
          <p:cNvSpPr txBox="1">
            <a:spLocks noGrp="1"/>
          </p:cNvSpPr>
          <p:nvPr>
            <p:ph type="body" idx="2"/>
          </p:nvPr>
        </p:nvSpPr>
        <p:spPr bwMode="auto">
          <a:xfrm>
            <a:off x="839788" y="2505074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60704647" name="Google Shape;44;p22"/>
          <p:cNvSpPr txBox="1">
            <a:spLocks noGrp="1"/>
          </p:cNvSpPr>
          <p:nvPr>
            <p:ph type="body" idx="3"/>
          </p:nvPr>
        </p:nvSpPr>
        <p:spPr bwMode="auto"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pPr>
              <a:defRPr/>
            </a:pPr>
            <a:endParaRPr/>
          </a:p>
        </p:txBody>
      </p:sp>
      <p:sp>
        <p:nvSpPr>
          <p:cNvPr id="1217228400" name="Google Shape;45;p22"/>
          <p:cNvSpPr txBox="1">
            <a:spLocks noGrp="1"/>
          </p:cNvSpPr>
          <p:nvPr>
            <p:ph type="body" idx="4"/>
          </p:nvPr>
        </p:nvSpPr>
        <p:spPr bwMode="auto">
          <a:xfrm>
            <a:off x="6172200" y="2505074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94970084" name="Google Shape;46;p22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41901922" name="Google Shape;47;p22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43015697" name="Google Shape;48;p22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只有標題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479126" name="Google Shape;50;p23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730271928" name="Google Shape;51;p23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884235300" name="Google Shape;52;p23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39682863" name="Google Shape;53;p23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含標題的內容" preserve="0" showMasterPhAnim="0" showMasterSp="1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2575368" name="Google Shape;59;p25"/>
          <p:cNvSpPr txBox="1"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86591517" name="Google Shape;60;p25"/>
          <p:cNvSpPr txBox="1">
            <a:spLocks noGrp="1"/>
          </p:cNvSpPr>
          <p:nvPr>
            <p:ph type="body" idx="1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799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996413364" name="Google Shape;61;p25"/>
          <p:cNvSpPr txBox="1">
            <a:spLocks noGrp="1"/>
          </p:cNvSpPr>
          <p:nvPr>
            <p:ph type="body" idx="2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>
              <a:defRPr/>
            </a:pPr>
            <a:endParaRPr/>
          </a:p>
        </p:txBody>
      </p:sp>
      <p:sp>
        <p:nvSpPr>
          <p:cNvPr id="816514683" name="Google Shape;62;p25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15696581" name="Google Shape;63;p25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77252403" name="Google Shape;64;p25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含標題的圖片" preserve="0" showMasterPhAnim="0" showMasterSp="1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3679453" name="Google Shape;66;p26"/>
          <p:cNvSpPr txBox="1"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471881209" name="Google Shape;67;p26"/>
          <p:cNvSpPr>
            <a:spLocks noGrp="1"/>
          </p:cNvSpPr>
          <p:nvPr>
            <p:ph type="pic" idx="2"/>
          </p:nvPr>
        </p:nvSpPr>
        <p:spPr bwMode="auto"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951084148" name="Google Shape;68;p26"/>
          <p:cNvSpPr txBox="1">
            <a:spLocks noGrp="1"/>
          </p:cNvSpPr>
          <p:nvPr>
            <p:ph type="body" idx="1"/>
          </p:nvPr>
        </p:nvSpPr>
        <p:spPr bwMode="auto"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pPr>
              <a:defRPr/>
            </a:pPr>
            <a:endParaRPr/>
          </a:p>
        </p:txBody>
      </p:sp>
      <p:sp>
        <p:nvSpPr>
          <p:cNvPr id="223347115" name="Google Shape;69;p26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5884083" name="Google Shape;70;p26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02978698" name="Google Shape;71;p26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標題及直排文字" preserve="0" showMasterPhAnim="0" showMasterSp="1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175210" name="Google Shape;73;p27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83578572" name="Google Shape;74;p27"/>
          <p:cNvSpPr txBox="1">
            <a:spLocks noGrp="1"/>
          </p:cNvSpPr>
          <p:nvPr>
            <p:ph type="body" idx="1"/>
          </p:nvPr>
        </p:nvSpPr>
        <p:spPr bwMode="auto"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45501176" name="Google Shape;75;p27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887589702" name="Google Shape;76;p27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70736928" name="Google Shape;77;p27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直排標題及文字" preserve="0" showMasterPhAnim="0" showMasterSp="1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0077328" name="Google Shape;79;p28"/>
          <p:cNvSpPr txBox="1">
            <a:spLocks noGrp="1"/>
          </p:cNvSpPr>
          <p:nvPr>
            <p:ph type="title"/>
          </p:nvPr>
        </p:nvSpPr>
        <p:spPr bwMode="auto"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980123081" name="Google Shape;80;p28"/>
          <p:cNvSpPr txBox="1">
            <a:spLocks noGrp="1"/>
          </p:cNvSpPr>
          <p:nvPr>
            <p:ph type="body" idx="1"/>
          </p:nvPr>
        </p:nvSpPr>
        <p:spPr bwMode="auto"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16014712" name="Google Shape;81;p28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58905014" name="Google Shape;82;p28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41563840" name="Google Shape;83;p28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582598" name="Google Shape;10;p17"/>
          <p:cNvSpPr txBox="1"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pPr>
              <a:defRPr/>
            </a:pPr>
            <a:endParaRPr/>
          </a:p>
        </p:txBody>
      </p:sp>
      <p:sp>
        <p:nvSpPr>
          <p:cNvPr id="790941852" name="Google Shape;11;p17"/>
          <p:cNvSpPr txBox="1"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42919988" name="Google Shape;12;p17"/>
          <p:cNvSpPr txBox="1">
            <a:spLocks noGrp="1"/>
          </p:cNvSpPr>
          <p:nvPr>
            <p:ph type="dt" idx="10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371033058" name="Google Shape;13;p17"/>
          <p:cNvSpPr txBox="1">
            <a:spLocks noGrp="1"/>
          </p:cNvSpPr>
          <p:nvPr>
            <p:ph type="ftr" idx="11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39635997" name="Google Shape;14;p17"/>
          <p:cNvSpPr txBox="1">
            <a:spLocks noGrp="1"/>
          </p:cNvSpPr>
          <p:nvPr>
            <p:ph type="sldNum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1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jp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jp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9990431" name="Google Shape;90;p1"/>
          <p:cNvSpPr txBox="1"/>
          <p:nvPr/>
        </p:nvSpPr>
        <p:spPr bwMode="auto">
          <a:xfrm flipH="0" flipV="0">
            <a:off x="1130859" y="1667053"/>
            <a:ext cx="6705362" cy="1920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 algn="l">
              <a:defRPr/>
            </a:pPr>
            <a:r>
              <a:rPr lang="zh-TW" sz="300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闌珊相親及婚姻家庭服務有限公司</a:t>
            </a:r>
            <a:endParaRPr lang="en-US" sz="3000" b="0" i="0" u="none" strike="noStrike" cap="none">
              <a:solidFill>
                <a:schemeClr val="tx1"/>
              </a:solidFill>
              <a:latin typeface="Arial"/>
              <a:ea typeface="Times New Roman"/>
              <a:cs typeface="Times New Roman"/>
            </a:endParaRPr>
          </a:p>
          <a:p>
            <a:pPr algn="l">
              <a:defRPr/>
            </a:pPr>
            <a:r>
              <a:rPr lang="en-US" sz="3000" b="0" i="0" u="none" strike="noStrike" cap="none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(Lanshan</a:t>
            </a:r>
            <a:r>
              <a:rPr lang="en-US" sz="3000" b="0" i="0" u="none" strike="noStrike" cap="none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 Matchmaking and Marriage &amp; Family Services Co</a:t>
            </a:r>
            <a:r>
              <a:rPr lang="en-US" sz="3000" b="0" i="0" u="none" strike="noStrike" cap="none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 Ltd</a:t>
            </a:r>
            <a:r>
              <a:rPr sz="3000"/>
              <a:t>)</a:t>
            </a:r>
            <a:endParaRPr/>
          </a:p>
          <a:p>
            <a:pPr algn="l">
              <a:defRPr/>
            </a:pPr>
            <a:endParaRPr sz="3000">
              <a:solidFill>
                <a:schemeClr val="tx1"/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1130532414" name="Google Shape;90;p1"/>
          <p:cNvSpPr txBox="1"/>
          <p:nvPr/>
        </p:nvSpPr>
        <p:spPr bwMode="auto">
          <a:xfrm flipH="0" flipV="0">
            <a:off x="1162900" y="4285849"/>
            <a:ext cx="5737602" cy="7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 algn="l">
              <a:defRPr/>
            </a:pPr>
            <a:r>
              <a:rPr lang="en-US" sz="2200">
                <a:latin typeface="+mj-lt"/>
                <a:ea typeface="Times New Roman"/>
                <a:cs typeface="Times New Roman"/>
              </a:rPr>
              <a:t>前端網站開發人員證書</a:t>
            </a:r>
            <a:endParaRPr lang="en-US" sz="2200">
              <a:latin typeface="Arial"/>
              <a:ea typeface="Times New Roman"/>
              <a:cs typeface="Times New Roman"/>
            </a:endParaRPr>
          </a:p>
          <a:p>
            <a:pPr algn="l">
              <a:defRPr/>
            </a:pPr>
            <a:r>
              <a:rPr lang="en-US" sz="2200">
                <a:latin typeface="Arial"/>
                <a:ea typeface="Times New Roman"/>
                <a:cs typeface="Times New Roman"/>
              </a:rPr>
              <a:t>(CT288DS006)</a:t>
            </a:r>
            <a:endParaRPr sz="2200"/>
          </a:p>
        </p:txBody>
      </p:sp>
      <p:sp>
        <p:nvSpPr>
          <p:cNvPr id="1127051112" name="Google Shape;90;p1"/>
          <p:cNvSpPr txBox="1"/>
          <p:nvPr/>
        </p:nvSpPr>
        <p:spPr bwMode="auto">
          <a:xfrm flipH="0" flipV="0">
            <a:off x="1162901" y="3324576"/>
            <a:ext cx="5726802" cy="77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200">
                <a:solidFill>
                  <a:schemeClr val="dk1"/>
                </a:solidFill>
                <a:latin typeface="+mj-lt"/>
                <a:ea typeface="Times New Roman"/>
                <a:cs typeface="Times New Roman"/>
              </a:rPr>
              <a:t>開發者</a:t>
            </a:r>
            <a:r>
              <a:rPr lang="en-US" sz="2200" b="0" i="0" u="none" strike="noStrike" cap="none">
                <a:solidFill>
                  <a:schemeClr val="dk1"/>
                </a:solidFill>
                <a:latin typeface="+mj-lt"/>
                <a:ea typeface="Times New Roman"/>
                <a:cs typeface="Times New Roman"/>
              </a:rPr>
              <a:t>: </a:t>
            </a:r>
            <a:r>
              <a:rPr lang="en-US" sz="2200" b="0" i="0" u="none" strike="noStrike" cap="none">
                <a:solidFill>
                  <a:srgbClr val="0000FF"/>
                </a:solidFill>
                <a:latin typeface="+mj-lt"/>
                <a:ea typeface="Times New Roman"/>
                <a:cs typeface="Times New Roman"/>
              </a:rPr>
              <a:t>HO Siu Hang</a:t>
            </a:r>
            <a:r>
              <a:rPr lang="en-US" sz="2200" b="0" i="0" u="none" strike="noStrike" cap="none">
                <a:solidFill>
                  <a:schemeClr val="dk1"/>
                </a:solidFill>
                <a:latin typeface="+mj-lt"/>
                <a:ea typeface="Times New Roman"/>
                <a:cs typeface="Times New Roman"/>
              </a:rPr>
              <a:t> (Desmond)</a:t>
            </a:r>
            <a:endParaRPr lang="en-US" sz="2200" b="0" i="0" u="none" strike="noStrike" cap="none">
              <a:solidFill>
                <a:schemeClr val="dk1"/>
              </a:solidFill>
              <a:latin typeface="Arial"/>
              <a:ea typeface="Times New Roman"/>
              <a:cs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2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學生編號: </a:t>
            </a:r>
            <a:r>
              <a:rPr lang="en-US" sz="2200">
                <a:solidFill>
                  <a:srgbClr val="0000FF"/>
                </a:solidFill>
                <a:latin typeface="Arial"/>
                <a:cs typeface="Times New Roman"/>
              </a:rPr>
              <a:t>12</a:t>
            </a:r>
            <a:endParaRPr sz="2200">
              <a:solidFill>
                <a:srgbClr val="0000FF"/>
              </a:solidFill>
              <a:latin typeface="Arial"/>
              <a:cs typeface="Times New Roman"/>
            </a:endParaRPr>
          </a:p>
        </p:txBody>
      </p:sp>
      <p:sp>
        <p:nvSpPr>
          <p:cNvPr id="2022131561" name="Google Shape;90;p1"/>
          <p:cNvSpPr txBox="1"/>
          <p:nvPr/>
        </p:nvSpPr>
        <p:spPr bwMode="auto">
          <a:xfrm flipH="0" flipV="0">
            <a:off x="1162899" y="5254507"/>
            <a:ext cx="5698355" cy="436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 algn="l">
              <a:defRPr/>
            </a:pPr>
            <a:r>
              <a:rPr lang="en-US" sz="2200">
                <a:solidFill>
                  <a:srgbClr val="C00000"/>
                </a:solidFill>
                <a:latin typeface="+mj-lt"/>
                <a:ea typeface="Times New Roman"/>
                <a:cs typeface="Times New Roman"/>
              </a:rPr>
              <a:t>版本 06</a:t>
            </a:r>
            <a:endParaRPr sz="220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1391865582" name="Slide Number Placeholder 1"/>
          <p:cNvSpPr>
            <a:spLocks noGrp="1"/>
          </p:cNvSpPr>
          <p:nvPr>
            <p:ph type="sldNum" idx="12"/>
          </p:nvPr>
        </p:nvSpPr>
        <p:spPr bwMode="auto">
          <a:xfrm>
            <a:off x="8532828" y="5878671"/>
            <a:ext cx="2743200" cy="36512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1</a:t>
            </a:fld>
            <a:endParaRPr lang="en-US"/>
          </a:p>
        </p:txBody>
      </p:sp>
      <p:sp>
        <p:nvSpPr>
          <p:cNvPr id="1432759013" name="Google Shape;90;p1"/>
          <p:cNvSpPr txBox="1"/>
          <p:nvPr/>
        </p:nvSpPr>
        <p:spPr bwMode="auto">
          <a:xfrm flipH="0" flipV="0">
            <a:off x="1162901" y="694678"/>
            <a:ext cx="4503561" cy="914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 algn="l">
              <a:defRPr/>
            </a:pPr>
            <a:r>
              <a:rPr lang="en-US" sz="5400">
                <a:solidFill>
                  <a:schemeClr val="tx1"/>
                </a:solidFill>
                <a:latin typeface="+mj-lt"/>
                <a:ea typeface="Times New Roman"/>
                <a:cs typeface="Times New Roman"/>
              </a:rPr>
              <a:t>網站開發專案</a:t>
            </a:r>
            <a:endParaRPr sz="5400">
              <a:solidFill>
                <a:schemeClr val="tx1"/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813229990" name="Google Shape;90;p1"/>
          <p:cNvSpPr txBox="1"/>
          <p:nvPr/>
        </p:nvSpPr>
        <p:spPr bwMode="auto">
          <a:xfrm flipH="0" flipV="0">
            <a:off x="1162900" y="5857868"/>
            <a:ext cx="8610319" cy="771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 algn="l">
              <a:defRPr/>
            </a:pPr>
            <a:r>
              <a:rPr sz="2200"/>
              <a:t>GitHub連結:</a:t>
            </a:r>
            <a:endParaRPr sz="2200"/>
          </a:p>
          <a:p>
            <a:pPr algn="l">
              <a:defRPr/>
            </a:pPr>
            <a:r>
              <a:rPr lang="en-US" sz="2200" b="0" i="0" u="none" strike="noStrike" cap="none" spc="0">
                <a:solidFill>
                  <a:srgbClr val="152BEB"/>
                </a:solidFill>
                <a:latin typeface="Arial"/>
                <a:ea typeface="Arial"/>
                <a:cs typeface="Arial"/>
              </a:rPr>
              <a:t>https://github.com/hosiuhangdesmond/lanshan_matchmaking</a:t>
            </a:r>
            <a:r>
              <a:rPr lang="en-US" sz="220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/main</a:t>
            </a:r>
            <a:endParaRPr lang="en-US" sz="2200">
              <a:latin typeface="Arial"/>
              <a:ea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3202716" name="Google Shape;90;p1"/>
          <p:cNvSpPr txBox="1"/>
          <p:nvPr/>
        </p:nvSpPr>
        <p:spPr bwMode="auto">
          <a:xfrm>
            <a:off x="-44818" y="-35710"/>
            <a:ext cx="12281637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+mj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+mj-lt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+mj-lt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+mj-lt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+mj-lt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+mj-lt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2130005246" name="Google Shape;91;p1"/>
          <p:cNvSpPr txBox="1"/>
          <p:nvPr/>
        </p:nvSpPr>
        <p:spPr bwMode="auto">
          <a:xfrm flipH="0" flipV="0">
            <a:off x="580412" y="795015"/>
            <a:ext cx="9715339" cy="4532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400" u="sng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目錄:</a:t>
            </a:r>
            <a:endParaRPr lang="en-US" sz="2400" u="sng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2400">
              <a:solidFill>
                <a:schemeClr val="dk1"/>
              </a:solidFill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Times New Roman"/>
              </a:rPr>
              <a:t>客戶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簡介</a:t>
            </a: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 —————————————————-———————————————-</a:t>
            </a:r>
            <a:endParaRPr sz="2400">
              <a:solidFill>
                <a:schemeClr val="dk1"/>
              </a:solidFill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項目計劃書</a:t>
            </a:r>
            <a:r>
              <a:rPr sz="2400">
                <a:latin typeface="Linux Biolinum O"/>
                <a:ea typeface="Linux Biolinum O"/>
                <a:cs typeface="Linux Biolinum O"/>
              </a:rPr>
              <a:t> ———————————————————————————————-</a:t>
            </a:r>
            <a:endParaRPr sz="2400"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Linux Biolinum O"/>
                <a:ea typeface="Linux Biolinum O"/>
                <a:cs typeface="Linux Biolinum O"/>
              </a:rPr>
              <a:t>用戶</a:t>
            </a: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需求</a:t>
            </a: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書</a:t>
            </a:r>
            <a:r>
              <a:rPr sz="2400">
                <a:latin typeface="Linux Biolinum O"/>
                <a:ea typeface="Linux Biolinum O"/>
                <a:cs typeface="Linux Biolinum O"/>
              </a:rPr>
              <a:t> ———————————————————————————————-</a:t>
            </a:r>
            <a:endParaRPr sz="2400"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檔案結構圖</a:t>
            </a:r>
            <a:r>
              <a:rPr sz="2400">
                <a:latin typeface="Linux Biolinum O"/>
                <a:ea typeface="Linux Biolinum O"/>
                <a:cs typeface="Linux Biolinum O"/>
              </a:rPr>
              <a:t> ———————————————————————————————-</a:t>
            </a:r>
            <a:endParaRPr sz="2400"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網站架構圖(Sitemap) ——————————————————————————</a:t>
            </a:r>
            <a:endParaRPr lang="en-US" sz="2400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樣板(Template) —————————————————————————————-</a:t>
            </a:r>
            <a:endParaRPr lang="en-US" sz="2400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網站測試 —————————————————————————————————</a:t>
            </a:r>
            <a:endParaRPr sz="2400"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屏幕截圖及說明</a:t>
            </a: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 —————————————————————————————</a:t>
            </a:r>
            <a:endParaRPr lang="en-US" sz="2400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網站發佈</a:t>
            </a:r>
            <a:r>
              <a:rPr sz="2400">
                <a:latin typeface="Linux Biolinum O"/>
                <a:ea typeface="Linux Biolinum O"/>
                <a:cs typeface="Linux Biolinum O"/>
              </a:rPr>
              <a:t>—————————————————————————————</a:t>
            </a: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————</a:t>
            </a:r>
            <a:endParaRPr sz="2400">
              <a:latin typeface="Linux Biolinum O"/>
              <a:cs typeface="Linux Biolinum O"/>
            </a:endParaRPr>
          </a:p>
          <a:p>
            <a:pPr marL="349965" lvl="0" indent="-349965" algn="l" rtl="0">
              <a:spcBef>
                <a:spcPts val="0"/>
              </a:spcBef>
              <a:spcAft>
                <a:spcPts val="0"/>
              </a:spcAft>
              <a:buAutoNum type="alphaUcPeriod"/>
              <a:defRPr/>
            </a:pPr>
            <a:r>
              <a:rPr lang="en-US" sz="240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總結 ———————————————————————————————————-</a:t>
            </a:r>
            <a:endParaRPr lang="en-US" sz="2400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</p:txBody>
      </p:sp>
      <p:cxnSp>
        <p:nvCxnSpPr>
          <p:cNvPr id="1397590425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240734" name="Slide Number Placeholder 7"/>
          <p:cNvSpPr>
            <a:spLocks noGrp="1"/>
          </p:cNvSpPr>
          <p:nvPr>
            <p:ph type="sldNum" idx="12"/>
          </p:nvPr>
        </p:nvSpPr>
        <p:spPr bwMode="auto">
          <a:xfrm>
            <a:off x="8393768" y="6037490"/>
            <a:ext cx="2743200" cy="36512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2</a:t>
            </a:fld>
            <a:endParaRPr lang="en-US"/>
          </a:p>
        </p:txBody>
      </p:sp>
      <p:sp>
        <p:nvSpPr>
          <p:cNvPr id="1545922019" name="Google Shape;91;p1"/>
          <p:cNvSpPr txBox="1"/>
          <p:nvPr/>
        </p:nvSpPr>
        <p:spPr bwMode="auto">
          <a:xfrm flipH="0" flipV="0">
            <a:off x="9765363" y="795015"/>
            <a:ext cx="987093" cy="44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400" u="sng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頁數</a:t>
            </a:r>
            <a:endParaRPr lang="en-US" sz="2400" u="sng">
              <a:solidFill>
                <a:schemeClr val="dk1"/>
              </a:solidFill>
              <a:latin typeface="Linux Biolinum O"/>
              <a:ea typeface="Linux Biolinum O"/>
              <a:cs typeface="Linux Biolinum O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2400">
              <a:solidFill>
                <a:schemeClr val="dk1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sz="2400">
                <a:solidFill>
                  <a:srgbClr val="FF0000"/>
                </a:solidFill>
                <a:latin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sz="2400">
                <a:solidFill>
                  <a:srgbClr val="FF0000"/>
                </a:solidFill>
                <a:latin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sz="2400">
                <a:solidFill>
                  <a:srgbClr val="FF0000"/>
                </a:solidFill>
                <a:latin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ea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  <a:defRPr/>
            </a:pPr>
            <a:r>
              <a:rPr sz="2400">
                <a:solidFill>
                  <a:srgbClr val="FF0000"/>
                </a:solidFill>
                <a:latin typeface="Linux Biolinum O"/>
                <a:cs typeface="Linux Biolinum O"/>
              </a:rPr>
              <a:t>2</a:t>
            </a:r>
            <a:endParaRPr sz="2400">
              <a:solidFill>
                <a:srgbClr val="FF0000"/>
              </a:solidFill>
              <a:latin typeface="Linux Biolinum O"/>
              <a:cs typeface="Linux Biolinum 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871082169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1947051" name="TextBox 20"/>
          <p:cNvSpPr txBox="1"/>
          <p:nvPr/>
        </p:nvSpPr>
        <p:spPr bwMode="auto">
          <a:xfrm>
            <a:off x="0" y="646290"/>
            <a:ext cx="3009078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A.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Times New Roman"/>
              </a:rPr>
              <a:t>客戶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簡介</a:t>
            </a:r>
            <a:endParaRPr/>
          </a:p>
        </p:txBody>
      </p:sp>
      <p:sp>
        <p:nvSpPr>
          <p:cNvPr id="1057713612" name="TextBox 23"/>
          <p:cNvSpPr txBox="1"/>
          <p:nvPr/>
        </p:nvSpPr>
        <p:spPr bwMode="auto">
          <a:xfrm flipH="0" flipV="0">
            <a:off x="326961" y="1110685"/>
            <a:ext cx="11806520" cy="48125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闌珊相親及婚姻家庭服務有限公司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(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簡稱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，下同</a:t>
            </a:r>
            <a:r>
              <a:rPr sz="2400"/>
              <a:t>)為本地一間有二十多年歷史的中小型企業。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的“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”</a:t>
            </a:r>
            <a:r>
              <a:rPr sz="2400"/>
              <a:t>兩字來</a:t>
            </a:r>
            <a:r>
              <a:rPr sz="2400"/>
              <a:t>自中國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宋代著名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詞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人辛棄疾的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經典名篇</a:t>
            </a:r>
            <a:r>
              <a:rPr sz="24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《青玉案·元夕》(註)。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的主營業務</a:t>
            </a:r>
            <a:r>
              <a:rPr sz="2400"/>
              <a:t>為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相親</a:t>
            </a:r>
            <a:r>
              <a:rPr sz="2400"/>
              <a:t>對象介紹，包括: 提供相親對象查冊服務、相親午餐／晚餐安排</a:t>
            </a:r>
            <a:r>
              <a:rPr sz="2400"/>
              <a:t>服務</a:t>
            </a:r>
            <a:r>
              <a:rPr sz="2400"/>
              <a:t>、大型相親旅行、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sz="2400"/>
              <a:t>通訊軟件服務、性格類型測試服務等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等</a:t>
            </a:r>
            <a:r>
              <a:rPr sz="2400"/>
              <a:t>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亦同時經營一些與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婚姻家庭</a:t>
            </a:r>
            <a:r>
              <a:rPr sz="2400"/>
              <a:t>事宜有關的業務，包括: 婚禮籌辦、婚前婚後心理輔導、產前產後醫療</a:t>
            </a:r>
            <a:r>
              <a:rPr sz="2400"/>
              <a:t>檢查、親子鑑定、分手服務、遺產分配與繼承</a:t>
            </a:r>
            <a:r>
              <a:rPr sz="2400"/>
              <a:t>等。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也定期參予不同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的</a:t>
            </a:r>
            <a:r>
              <a:rPr sz="2400"/>
              <a:t>社會慈善活動，以回饋社會。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目前的員工總數約十五人，包括八名全職</a:t>
            </a:r>
            <a:r>
              <a:rPr sz="2400"/>
              <a:t>員工</a:t>
            </a:r>
            <a:r>
              <a:rPr sz="2400"/>
              <a:t>及七名兼職</a:t>
            </a:r>
            <a:r>
              <a:rPr sz="2400"/>
              <a:t>員工</a:t>
            </a:r>
            <a:r>
              <a:rPr sz="2400"/>
              <a:t>。</a:t>
            </a:r>
            <a:endParaRPr sz="2400"/>
          </a:p>
          <a:p>
            <a:pPr marL="305908" indent="-305908" algn="l">
              <a:buAutoNum type="arabicPeriod"/>
              <a:defRPr/>
            </a:pPr>
            <a:r>
              <a:rPr sz="2400"/>
              <a:t>為了提供更優質的服務，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公司</a:t>
            </a:r>
            <a:r>
              <a:rPr sz="2400"/>
              <a:t>決定建立一個全新的網站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(簡稱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sz="2400"/>
              <a:t>網站</a:t>
            </a:r>
            <a:r>
              <a:rPr sz="2400"/>
              <a:t>，下同</a:t>
            </a:r>
            <a:r>
              <a:rPr sz="2400"/>
              <a:t>)</a:t>
            </a:r>
            <a:r>
              <a:rPr sz="2400"/>
              <a:t>。</a:t>
            </a:r>
            <a:endParaRPr sz="2400"/>
          </a:p>
          <a:p>
            <a:pPr algn="l">
              <a:defRPr/>
            </a:pPr>
            <a:endParaRPr sz="2400"/>
          </a:p>
          <a:p>
            <a:pPr algn="l">
              <a:defRPr/>
            </a:pPr>
            <a:r>
              <a:rPr sz="2000"/>
              <a:t>(註)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《青玉案·元夕》</a:t>
            </a:r>
            <a:r>
              <a:rPr sz="2000"/>
              <a:t>原文:　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東風夜放花千樹，更吹落、星如雨。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寶馬雕車香滿路。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鳳簫聲動，玉壺光轉，一夜魚龍舞。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蛾兒雪柳黃金縷，笑語盈盈暗香去。</a:t>
            </a:r>
            <a:r>
              <a:rPr sz="20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眾裏尋他千百度，驀然迴首，那人卻在燈火闌珊處。</a:t>
            </a:r>
            <a:endParaRPr sz="2000"/>
          </a:p>
        </p:txBody>
      </p:sp>
      <p:sp>
        <p:nvSpPr>
          <p:cNvPr id="1435421799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3</a:t>
            </a:fld>
            <a:endParaRPr lang="en-US"/>
          </a:p>
        </p:txBody>
      </p:sp>
      <p:sp>
        <p:nvSpPr>
          <p:cNvPr id="80638590" name="Google Shape;90;p1"/>
          <p:cNvSpPr txBox="1"/>
          <p:nvPr/>
        </p:nvSpPr>
        <p:spPr bwMode="auto">
          <a:xfrm>
            <a:off x="-44817" y="0"/>
            <a:ext cx="12281996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90900148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4778739" name="TextBox 20"/>
          <p:cNvSpPr txBox="1"/>
          <p:nvPr/>
        </p:nvSpPr>
        <p:spPr bwMode="auto">
          <a:xfrm flipH="0" flipV="0">
            <a:off x="0" y="646290"/>
            <a:ext cx="4853589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B.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項目計劃書</a:t>
            </a:r>
            <a:endParaRPr/>
          </a:p>
        </p:txBody>
      </p:sp>
      <p:sp>
        <p:nvSpPr>
          <p:cNvPr id="571099360" name="TextBox 23"/>
          <p:cNvSpPr txBox="1"/>
          <p:nvPr/>
        </p:nvSpPr>
        <p:spPr bwMode="auto">
          <a:xfrm flipH="0" flipV="0">
            <a:off x="368624" y="1232279"/>
            <a:ext cx="11013614" cy="3086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9965" indent="-349965">
              <a:buAutoNum type="arabicPeriod"/>
              <a:defRPr/>
            </a:pPr>
            <a:r>
              <a:rPr sz="2400"/>
              <a:t>收集客戶/用戶關於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/>
              <a:t>的需求。  </a:t>
            </a:r>
            <a:endParaRPr sz="2400"/>
          </a:p>
          <a:p>
            <a:pPr marL="349965" indent="-349965">
              <a:buAutoNum type="arabicPeriod"/>
              <a:defRPr/>
            </a:pPr>
            <a:r>
              <a:rPr sz="2400"/>
              <a:t>規劃資源，包括時間和人力資源。  </a:t>
            </a:r>
            <a:endParaRPr sz="2400"/>
          </a:p>
          <a:p>
            <a:pPr marL="349965" indent="-349965">
              <a:buAutoNum type="arabicPeriod"/>
              <a:defRPr/>
            </a:pPr>
            <a:r>
              <a:rPr sz="2400"/>
              <a:t>選擇構建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sz="2400"/>
              <a:t>網站的工具：  </a:t>
            </a:r>
            <a:endParaRPr sz="2400"/>
          </a:p>
          <a:p>
            <a:pPr>
              <a:defRPr/>
            </a:pPr>
            <a:r>
              <a:rPr sz="2400"/>
              <a:t>	(a) HTML, CSS, JavaScript, react.js</a:t>
            </a:r>
            <a:endParaRPr sz="2400"/>
          </a:p>
          <a:p>
            <a:pPr>
              <a:defRPr/>
            </a:pPr>
            <a:r>
              <a:rPr sz="2400"/>
              <a:t>	(b) Visual Studio Code  </a:t>
            </a:r>
            <a:endParaRPr sz="2400"/>
          </a:p>
          <a:p>
            <a:pPr>
              <a:defRPr/>
            </a:pPr>
            <a:r>
              <a:rPr sz="2400"/>
              <a:t>	</a:t>
            </a:r>
            <a:r>
              <a:rPr sz="2400"/>
              <a:t>(c) Git 和 GitHub  </a:t>
            </a:r>
            <a:endParaRPr sz="2400"/>
          </a:p>
          <a:p>
            <a:pPr>
              <a:defRPr/>
            </a:pPr>
            <a:r>
              <a:rPr sz="2400"/>
              <a:t>4. 分析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sz="2400"/>
              <a:t>網站的業務邏輯。  </a:t>
            </a:r>
            <a:endParaRPr sz="2400"/>
          </a:p>
          <a:p>
            <a:pPr>
              <a:defRPr/>
            </a:pPr>
            <a:r>
              <a:rPr sz="2400"/>
              <a:t>5. 採用最具成本效益的方法。</a:t>
            </a:r>
            <a:r>
              <a:rPr lang="en-US" sz="2400"/>
              <a:t>	</a:t>
            </a:r>
            <a:endParaRPr sz="2400"/>
          </a:p>
        </p:txBody>
      </p:sp>
      <p:sp>
        <p:nvSpPr>
          <p:cNvPr id="1853223060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4</a:t>
            </a:fld>
            <a:endParaRPr lang="en-US"/>
          </a:p>
        </p:txBody>
      </p:sp>
      <p:sp>
        <p:nvSpPr>
          <p:cNvPr id="877626981" name="Google Shape;90;p1"/>
          <p:cNvSpPr txBox="1"/>
          <p:nvPr/>
        </p:nvSpPr>
        <p:spPr bwMode="auto">
          <a:xfrm>
            <a:off x="-89996" y="-35710"/>
            <a:ext cx="12281996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2038715161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4735621" name="TextBox 20"/>
          <p:cNvSpPr txBox="1"/>
          <p:nvPr/>
        </p:nvSpPr>
        <p:spPr bwMode="auto">
          <a:xfrm flipH="0" flipV="0">
            <a:off x="0" y="646290"/>
            <a:ext cx="4860069" cy="467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B.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項目計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劃書</a:t>
            </a:r>
            <a:r>
              <a:rPr sz="2400"/>
              <a:t>(續)</a:t>
            </a:r>
            <a:endParaRPr sz="2400"/>
          </a:p>
        </p:txBody>
      </p:sp>
      <p:sp>
        <p:nvSpPr>
          <p:cNvPr id="273860271" name="TextBox 23"/>
          <p:cNvSpPr txBox="1"/>
          <p:nvPr/>
        </p:nvSpPr>
        <p:spPr bwMode="auto">
          <a:xfrm flipH="0" flipV="0">
            <a:off x="333987" y="1062301"/>
            <a:ext cx="5019026" cy="467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6. 項目開發</a:t>
            </a:r>
            <a:r>
              <a:rPr sz="2400"/>
              <a:t>流程時間表</a:t>
            </a:r>
            <a:endParaRPr sz="2400"/>
          </a:p>
        </p:txBody>
      </p:sp>
      <p:sp>
        <p:nvSpPr>
          <p:cNvPr id="2078315458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B0BDB7B7-9856-9F58-E353-686AEB7B2890}" type="slidenum">
              <a:rPr lang="en-US"/>
              <a:t>4</a:t>
            </a:fld>
            <a:endParaRPr lang="en-US"/>
          </a:p>
        </p:txBody>
      </p:sp>
      <p:sp>
        <p:nvSpPr>
          <p:cNvPr id="1279872379" name="Google Shape;90;p1"/>
          <p:cNvSpPr txBox="1"/>
          <p:nvPr/>
        </p:nvSpPr>
        <p:spPr bwMode="auto">
          <a:xfrm>
            <a:off x="-89995" y="-35709"/>
            <a:ext cx="12281995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graphicFrame>
        <p:nvGraphicFramePr>
          <p:cNvPr id="17244211" name=""/>
          <p:cNvGraphicFramePr>
            <a:graphicFrameLocks xmlns:a="http://schemas.openxmlformats.org/drawingml/2006/main"/>
          </p:cNvGraphicFramePr>
          <p:nvPr/>
        </p:nvGraphicFramePr>
        <p:xfrm rot="0">
          <a:off x="73090" y="1530267"/>
          <a:ext cx="8553449" cy="397382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376371"/>
                <a:gridCol w="2258228"/>
                <a:gridCol w="833393"/>
                <a:gridCol w="860277"/>
                <a:gridCol w="860277"/>
                <a:gridCol w="860277"/>
                <a:gridCol w="860277"/>
                <a:gridCol w="860277"/>
                <a:gridCol w="860277"/>
                <a:gridCol w="860277"/>
                <a:gridCol w="860277"/>
                <a:gridCol w="860277"/>
                <a:gridCol w="860277"/>
              </a:tblGrid>
              <a:tr h="43676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2026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r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起始日:　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0827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0830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0906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0913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0920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0927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1004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1011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1018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1022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(四)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(日)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(四)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確定項目主題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編寫用戶需求書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編製網站架構圖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編製線框圖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網站建設及代碼編寫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網站測試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編製屏幕截圖及說明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網站演示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</a:tr>
              <a:tr h="436762">
                <a:tc>
                  <a:txBody>
                    <a:bodyPr/>
                    <a:p>
                      <a:pPr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800" b="0" i="0" u="none">
                          <a:solidFill>
                            <a:srgbClr val="000000"/>
                          </a:solidFill>
                          <a:latin typeface="Linux Biolinum O"/>
                          <a:ea typeface="Linux Biolinum O"/>
                          <a:cs typeface="Linux Biolinum O"/>
                        </a:rPr>
                        <a:t>網站發佈</a:t>
                      </a: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p>
                      <a:pPr algn="l">
                        <a:defRPr/>
                      </a:pPr>
                      <a:endParaRPr/>
                    </a:p>
                  </a:txBody>
                  <a:tcPr marL="0" marR="0" marT="0" marB="0" anchor="b">
                    <a:lnL w="12700" algn="ctr">
                      <a:noFill/>
                    </a:lnL>
                    <a:lnR w="12700" algn="ctr">
                      <a:noFill/>
                    </a:lnR>
                    <a:lnT w="12700" algn="ctr">
                      <a:noFill/>
                    </a:lnT>
                    <a:lnB w="12700" algn="ctr">
                      <a:noFill/>
                    </a:lnB>
                    <a:solidFill>
                      <a:srgbClr val="007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183132003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5503682" name="TextBox 20"/>
          <p:cNvSpPr txBox="1"/>
          <p:nvPr/>
        </p:nvSpPr>
        <p:spPr bwMode="auto">
          <a:xfrm>
            <a:off x="0" y="646290"/>
            <a:ext cx="7200698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C.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Times New Roman"/>
              </a:rPr>
              <a:t>用戶需求</a:t>
            </a:r>
            <a:r>
              <a:rPr lang="en-US" sz="2400"/>
              <a:t>書</a:t>
            </a:r>
            <a:endParaRPr lang="en-US" sz="2400"/>
          </a:p>
        </p:txBody>
      </p:sp>
      <p:sp>
        <p:nvSpPr>
          <p:cNvPr id="645361658" name="TextBox 1"/>
          <p:cNvSpPr txBox="1"/>
          <p:nvPr/>
        </p:nvSpPr>
        <p:spPr bwMode="auto">
          <a:xfrm flipH="0" flipV="0">
            <a:off x="317250" y="1110684"/>
            <a:ext cx="12324392" cy="5703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9965" indent="-349965">
              <a:buAutoNum type="arabicPeriod"/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包含至少十五個網頁。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2.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的每一個網頁</a:t>
            </a:r>
            <a:r>
              <a:rPr sz="2400" u="none"/>
              <a:t>具有相同的頂部設計、底部設計</a:t>
            </a:r>
            <a:r>
              <a:rPr sz="2400" u="none"/>
              <a:t>、顏色、風格。</a:t>
            </a:r>
            <a:endParaRPr sz="2400" u="none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3.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的顏色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a.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走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“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溫暖、可信、療愈、專業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”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的路線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b. 以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鼠尾草绿(#8FAF9F)</a:t>
            </a:r>
            <a:r>
              <a:rPr sz="2400" u="none"/>
              <a:t>為主色</a:t>
            </a:r>
            <a:endParaRPr sz="2400" u="none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400" u="none"/>
              <a:t>    b. 副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色為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豆沙玫瑰(#C98A8A)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c. 對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比色為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深海军蓝(#1F3A5F)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d.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輔助色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分別為雾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蓝(#A9C0CF)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和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暖金(#D9A066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e.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另有兩個中性色，分別是: 米白(#FAF7F2)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和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暖灰(#6B6B6B)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4.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的</a:t>
            </a:r>
            <a:r>
              <a:rPr sz="2400" u="none"/>
              <a:t>頂部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稱為頂層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。</a:t>
            </a:r>
            <a:endParaRPr lang="en-US" sz="2400" b="0" i="0" u="none" strike="noStrike" cap="none" spc="0">
              <a:solidFill>
                <a:schemeClr val="tx1"/>
              </a:solidFill>
              <a:latin typeface="Arial"/>
              <a:ea typeface="Calibri"/>
              <a:cs typeface="Calibri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5.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頂層整體置中，並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從左至右展示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以下按鈕/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內容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:</a:t>
            </a:r>
            <a:endParaRPr lang="en-US" sz="2400" b="0" i="0" u="none" strike="noStrike" cap="none" spc="0">
              <a:solidFill>
                <a:schemeClr val="tx1"/>
              </a:solidFill>
              <a:latin typeface="Arial"/>
              <a:ea typeface="Calibri"/>
              <a:cs typeface="Calibri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    a.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sz="2400" u="none"/>
              <a:t>公司的</a:t>
            </a:r>
            <a:r>
              <a:rPr sz="2400" u="none"/>
              <a:t>標識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b. 首頁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c.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相親</a:t>
            </a:r>
            <a:endParaRPr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d. 性格測試</a:t>
            </a:r>
            <a:endParaRPr sz="2400" u="none"/>
          </a:p>
        </p:txBody>
      </p:sp>
      <p:sp>
        <p:nvSpPr>
          <p:cNvPr id="539446634" name="Slide Number Placeholder 2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5</a:t>
            </a:fld>
            <a:endParaRPr lang="en-US"/>
          </a:p>
        </p:txBody>
      </p:sp>
      <p:sp>
        <p:nvSpPr>
          <p:cNvPr id="1634340768" name="Google Shape;90;p1"/>
          <p:cNvSpPr txBox="1"/>
          <p:nvPr/>
        </p:nvSpPr>
        <p:spPr bwMode="auto">
          <a:xfrm>
            <a:off x="58730" y="-35710"/>
            <a:ext cx="12282356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pic>
        <p:nvPicPr>
          <p:cNvPr id="144590634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227892" y="5225142"/>
            <a:ext cx="489857" cy="4626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756660114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6278995" name="TextBox 20"/>
          <p:cNvSpPr txBox="1"/>
          <p:nvPr/>
        </p:nvSpPr>
        <p:spPr bwMode="auto">
          <a:xfrm>
            <a:off x="0" y="646290"/>
            <a:ext cx="7201057" cy="467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C.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Times New Roman"/>
              </a:rPr>
              <a:t>用戶需求</a:t>
            </a:r>
            <a:r>
              <a:rPr lang="en-US" sz="2400"/>
              <a:t>書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234125023" name="Slide Number Placeholder 2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F2AD49C9-5C1B-6218-8398-3D7642D7B817}" type="slidenum">
              <a:rPr lang="en-US"/>
              <a:t>6</a:t>
            </a:fld>
            <a:endParaRPr lang="en-US"/>
          </a:p>
        </p:txBody>
      </p:sp>
      <p:sp>
        <p:nvSpPr>
          <p:cNvPr id="855785917" name="Google Shape;90;p1"/>
          <p:cNvSpPr txBox="1"/>
          <p:nvPr/>
        </p:nvSpPr>
        <p:spPr bwMode="auto">
          <a:xfrm>
            <a:off x="58729" y="-35709"/>
            <a:ext cx="12282355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176199466" name="TextBox 1"/>
          <p:cNvSpPr txBox="1"/>
          <p:nvPr/>
        </p:nvSpPr>
        <p:spPr bwMode="auto">
          <a:xfrm flipH="0" flipV="0">
            <a:off x="329571" y="1114254"/>
            <a:ext cx="10605364" cy="5323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    e.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訊</a:t>
            </a:r>
            <a:r>
              <a:rPr sz="2400" u="none"/>
              <a:t>安裝</a:t>
            </a:r>
            <a:endParaRPr sz="2400" u="none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400" u="none"/>
              <a:t>    f.</a:t>
            </a:r>
            <a:r>
              <a:rPr sz="2400" b="0" i="0" u="none" strike="noStrike" cap="none" spc="0">
                <a:solidFill>
                  <a:schemeClr val="tx1"/>
                </a:solidFill>
                <a:latin typeface="undefined"/>
                <a:ea typeface="undefined"/>
                <a:cs typeface="undefined"/>
              </a:rPr>
              <a:t> </a:t>
            </a:r>
            <a:r>
              <a:rPr sz="2400" b="0" i="0" u="none" strike="noStrike" cap="none" spc="0">
                <a:solidFill>
                  <a:schemeClr val="tx1"/>
                </a:solidFill>
                <a:latin typeface="undefined"/>
                <a:ea typeface="undefined"/>
                <a:cs typeface="undefined"/>
              </a:rPr>
              <a:t>會員登入</a:t>
            </a:r>
            <a:endParaRPr sz="2400" b="0" i="0" u="none" strike="noStrike" cap="none" spc="0">
              <a:solidFill>
                <a:schemeClr val="tx1"/>
              </a:solidFill>
              <a:latin typeface="undefined"/>
              <a:cs typeface="undefine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400" b="0" i="0" u="none" strike="noStrike" cap="none" spc="0">
                <a:solidFill>
                  <a:schemeClr val="tx1"/>
                </a:solidFill>
                <a:latin typeface="undefined"/>
                <a:ea typeface="undefined"/>
                <a:cs typeface="undefined"/>
              </a:rPr>
              <a:t>    g. </a:t>
            </a:r>
            <a:r>
              <a:rPr sz="2400" b="0" i="0" u="none" strike="noStrike" cap="none" spc="0">
                <a:solidFill>
                  <a:schemeClr val="tx1"/>
                </a:solidFill>
                <a:latin typeface="undefined"/>
                <a:ea typeface="undefined"/>
                <a:cs typeface="undefined"/>
              </a:rPr>
              <a:t>其他服務</a:t>
            </a:r>
            <a:endParaRPr sz="2400" b="0" i="0" u="none" strike="noStrike" cap="none" spc="0">
              <a:solidFill>
                <a:schemeClr val="tx1"/>
              </a:solidFill>
              <a:latin typeface="undefined"/>
              <a:cs typeface="undefine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400" b="0" i="0" u="none" strike="noStrike" cap="none" spc="0">
                <a:solidFill>
                  <a:schemeClr val="tx1"/>
                </a:solidFill>
                <a:latin typeface="undefined"/>
                <a:ea typeface="undefined"/>
                <a:cs typeface="undefined"/>
              </a:rPr>
              <a:t>    h. </a:t>
            </a:r>
            <a:r>
              <a:rPr sz="2400" b="0" i="0" u="none" strike="noStrike" cap="none" spc="0">
                <a:solidFill>
                  <a:schemeClr val="tx1"/>
                </a:solidFill>
                <a:latin typeface="undefined"/>
                <a:ea typeface="undefined"/>
                <a:cs typeface="undefined"/>
              </a:rPr>
              <a:t>闌珊</a:t>
            </a:r>
            <a:r>
              <a:rPr sz="2400" b="0" i="0" u="none" strike="noStrike" cap="none" spc="0">
                <a:solidFill>
                  <a:schemeClr val="tx1"/>
                </a:solidFill>
                <a:latin typeface="undefined"/>
                <a:ea typeface="undefined"/>
                <a:cs typeface="undefined"/>
              </a:rPr>
              <a:t>月刊</a:t>
            </a:r>
            <a:endParaRPr sz="2400" b="0" i="0" u="none" strike="noStrike" cap="none" spc="0">
              <a:solidFill>
                <a:schemeClr val="tx1"/>
              </a:solidFill>
              <a:latin typeface="undefined"/>
              <a:cs typeface="undefine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400" b="0" i="0" u="none" strike="noStrike" cap="none" spc="0">
                <a:solidFill>
                  <a:schemeClr val="tx1"/>
                </a:solidFill>
                <a:latin typeface="undefined"/>
                <a:ea typeface="undefined"/>
                <a:cs typeface="undefined"/>
              </a:rPr>
              <a:t>    i. </a:t>
            </a:r>
            <a:r>
              <a:rPr sz="2400" b="0" i="0" u="none" strike="noStrike" cap="none" spc="0">
                <a:solidFill>
                  <a:schemeClr val="tx1"/>
                </a:solidFill>
                <a:latin typeface="undefined"/>
                <a:ea typeface="undefined"/>
                <a:cs typeface="undefined"/>
              </a:rPr>
              <a:t>關於我們</a:t>
            </a:r>
            <a:endParaRPr sz="2400" b="0" i="0" u="none" strike="noStrike" cap="none" spc="0">
              <a:solidFill>
                <a:schemeClr val="tx1"/>
              </a:solidFill>
              <a:latin typeface="undefined"/>
              <a:cs typeface="undefine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400" b="0" i="0" u="none" strike="noStrike" cap="none" spc="0">
                <a:solidFill>
                  <a:schemeClr val="tx1"/>
                </a:solidFill>
                <a:latin typeface="undefined"/>
                <a:ea typeface="undefined"/>
                <a:cs typeface="undefined"/>
              </a:rPr>
              <a:t>    j. 付款</a:t>
            </a:r>
            <a:endParaRPr sz="2400" b="0" i="0" u="none" strike="noStrike" cap="none" spc="0">
              <a:solidFill>
                <a:schemeClr val="tx1"/>
              </a:solidFill>
              <a:latin typeface="undefined"/>
              <a:cs typeface="undefined"/>
            </a:endParaRPr>
          </a:p>
          <a:p>
            <a:pPr>
              <a:defRPr/>
            </a:pPr>
            <a:r>
              <a:rPr sz="2400" u="none"/>
              <a:t>    k. </a:t>
            </a:r>
            <a:r>
              <a:rPr sz="2400" u="none"/>
              <a:t>搜尋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6.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的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底部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內容置中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，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並展示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以下按鈕/內容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a. 版權聲明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b.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私隱政策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c.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使用條款</a:t>
            </a:r>
            <a:endParaRPr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d.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服務條款</a:t>
            </a:r>
            <a:endParaRPr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 e.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法律聲明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的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網頁主題左則加一個頁面圖示(favicon)     。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7393577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7391677" y="5975556"/>
            <a:ext cx="489856" cy="4626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601466758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8789446" name="TextBox 20"/>
          <p:cNvSpPr txBox="1"/>
          <p:nvPr/>
        </p:nvSpPr>
        <p:spPr bwMode="auto">
          <a:xfrm>
            <a:off x="0" y="646290"/>
            <a:ext cx="7201057" cy="467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C.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Times New Roman"/>
              </a:rPr>
              <a:t>用戶需求</a:t>
            </a:r>
            <a:r>
              <a:rPr lang="en-US" sz="2400"/>
              <a:t>書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715983924" name="Slide Number Placeholder 2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B3D9380-458A-0A8B-2DA5-A0F693152FFD}" type="slidenum">
              <a:rPr lang="en-US"/>
              <a:t>7</a:t>
            </a:fld>
            <a:endParaRPr lang="en-US"/>
          </a:p>
        </p:txBody>
      </p:sp>
      <p:sp>
        <p:nvSpPr>
          <p:cNvPr id="705286994" name="Google Shape;90;p1"/>
          <p:cNvSpPr txBox="1"/>
          <p:nvPr/>
        </p:nvSpPr>
        <p:spPr bwMode="auto">
          <a:xfrm>
            <a:off x="58729" y="-35709"/>
            <a:ext cx="12282355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543139863" name="TextBox 1"/>
          <p:cNvSpPr txBox="1"/>
          <p:nvPr/>
        </p:nvSpPr>
        <p:spPr bwMode="auto">
          <a:xfrm flipH="0" flipV="0">
            <a:off x="317250" y="1110684"/>
            <a:ext cx="11697236" cy="38167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8. 當鼠標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於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按鈕/功能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鍵時，會出現手指標記及所有相關子網頁的連結(若適用)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。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9.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所有網頁都是回響式的。</a:t>
            </a:r>
            <a:endParaRPr sz="2400" u="none"/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10.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能幫助用戶識別他／她們目前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的網站位置</a:t>
            </a:r>
            <a:r>
              <a:rPr sz="2400" u="none"/>
              <a:t>。</a:t>
            </a:r>
            <a:endParaRPr sz="2400" u="none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400" u="none"/>
              <a:t>11.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每一個網頁的內容部份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的底色都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是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米白(#FAF7F2)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。</a:t>
            </a:r>
            <a:endParaRPr lang="en-US" sz="24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12. </a:t>
            </a: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網站</a:t>
            </a:r>
            <a:r>
              <a:rPr sz="2400" u="none"/>
              <a:t>每一個網頁的內容部份的最底層都隱約顯示以下文字:</a:t>
            </a:r>
            <a:endParaRPr sz="2400" u="none"/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《青玉案·元夕》　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宋代　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辛棄疾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Arial"/>
                <a:ea typeface="Arial"/>
                <a:cs typeface="Arial"/>
              </a:rPr>
              <a:t>:</a:t>
            </a:r>
            <a:endParaRPr sz="2400" b="0" i="1" u="none" strike="noStrike" cap="none" spc="0">
              <a:solidFill>
                <a:srgbClr val="152BEB"/>
              </a:solidFill>
              <a:latin typeface="Times New Roman"/>
              <a:cs typeface="Times New Roman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東風夜放花千樹，更吹落、星如雨。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寶馬雕車香滿路。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鳳簫聲動，玉壺光轉，一夜魚龍舞。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蛾兒雪柳黃金縷，笑語盈盈暗香去。</a:t>
            </a:r>
            <a:r>
              <a:rPr lang="en-US" sz="2400" b="0" i="1" u="none" strike="noStrike" cap="none" spc="0">
                <a:solidFill>
                  <a:srgbClr val="152BEB"/>
                </a:solidFill>
                <a:latin typeface="Times New Roman"/>
                <a:ea typeface="Times New Roman"/>
                <a:cs typeface="Times New Roman"/>
              </a:rPr>
              <a:t>眾裏尋他千百度，驀然迴首，那人卻在燈火闌珊處。</a:t>
            </a:r>
            <a:endParaRPr lang="en-US" sz="2400" b="0" i="1" u="none" strike="noStrike" cap="none" spc="0">
              <a:solidFill>
                <a:srgbClr val="152BEB"/>
              </a:solidFill>
              <a:latin typeface="Times New Roman"/>
              <a:ea typeface="Times New Roman"/>
              <a:cs typeface="Times New Roman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sz="2400" i="1" u="none">
              <a:solidFill>
                <a:srgbClr val="152BEB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835770784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304397" name="TextBox 20"/>
          <p:cNvSpPr txBox="1"/>
          <p:nvPr/>
        </p:nvSpPr>
        <p:spPr bwMode="auto">
          <a:xfrm>
            <a:off x="0" y="617620"/>
            <a:ext cx="8264120" cy="4643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D.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檔案結構圖</a:t>
            </a:r>
            <a:endParaRPr lang="en-US" sz="2400"/>
          </a:p>
        </p:txBody>
      </p:sp>
      <p:sp>
        <p:nvSpPr>
          <p:cNvPr id="1147844717" name="Google Shape;90;p1"/>
          <p:cNvSpPr txBox="1"/>
          <p:nvPr/>
        </p:nvSpPr>
        <p:spPr bwMode="auto">
          <a:xfrm>
            <a:off x="0" y="-35709"/>
            <a:ext cx="12282715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452562440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C82FDF9C-C537-D17F-23C4-A098CA95D1C8}" type="slidenum">
              <a:rPr lang="en-US"/>
              <a:t>9</a:t>
            </a:fld>
            <a:endParaRPr/>
          </a:p>
        </p:txBody>
      </p:sp>
      <p:sp>
        <p:nvSpPr>
          <p:cNvPr id="2101409169" name=""/>
          <p:cNvSpPr txBox="1"/>
          <p:nvPr/>
        </p:nvSpPr>
        <p:spPr bwMode="auto">
          <a:xfrm rot="0" flipH="0" flipV="0">
            <a:off x="199285" y="1082018"/>
            <a:ext cx="11721297" cy="60925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0" i="0" u="none" strike="noStrike" cap="none" spc="0">
                <a:solidFill/>
                <a:latin typeface="Noto Looped Lao Cond ExBd"/>
                <a:ea typeface="Noto Looped Lao Cond ExBd"/>
                <a:cs typeface="Noto Looped Lao Cond ExBd"/>
              </a:rPr>
              <a:t>/lanshan_</a:t>
            </a:r>
            <a:r>
              <a:rPr lang="en-US" sz="2000" b="0" i="0" u="none" strike="noStrike" cap="none" spc="0">
                <a:solidFill/>
                <a:latin typeface="Noto Looped Lao Cond ExBd"/>
                <a:ea typeface="Noto Looped Lao Cond ExBd"/>
                <a:cs typeface="Noto Looped Lao Cond ExBd"/>
              </a:rPr>
              <a:t>matchmaking</a:t>
            </a:r>
            <a:endParaRPr sz="2000">
              <a:latin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/.git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/audio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css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/docs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	</a:t>
            </a:r>
            <a:r>
              <a:rPr lang="en-US" sz="2000" b="0" i="0" u="none" strike="noStrike" cap="none" spc="0">
                <a:solidFill>
                  <a:srgbClr val="000000"/>
                </a:solidFill>
                <a:latin typeface="Noto Looped Lao Cond ExBd"/>
                <a:ea typeface="Noto Looped Lao Cond ExBd"/>
                <a:cs typeface="Noto Looped Lao Cond ExBd"/>
              </a:rPr>
              <a:t>12_HoSiuHang_Final_Project_V00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.pdf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	...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	</a:t>
            </a:r>
            <a:r>
              <a:rPr lang="en-US" sz="2000" b="0" i="0" u="none" strike="noStrike" cap="none" spc="0">
                <a:solidFill>
                  <a:srgbClr val="000000"/>
                </a:solidFill>
                <a:latin typeface="Noto Looped Lao Cond ExBd"/>
                <a:ea typeface="Noto Looped Lao Cond ExBd"/>
                <a:cs typeface="Noto Looped Lao Cond ExBd"/>
              </a:rPr>
              <a:t>12_HoSiuHang_Final_Project_V03</a:t>
            </a:r>
            <a:r>
              <a:rPr lang="en-US" sz="2000" b="0" i="0" u="none" strike="noStrike" cap="none" spc="0">
                <a:solidFill>
                  <a:srgbClr val="000000"/>
                </a:solidFill>
                <a:latin typeface="Noto Looped Lao Cond ExBd"/>
                <a:ea typeface="Noto Looped Lao Cond ExBd"/>
                <a:cs typeface="Noto Looped Lao Cond ExBd"/>
              </a:rPr>
              <a:t>.pdf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	</a:t>
            </a:r>
            <a:r>
              <a:rPr lang="en-US" sz="2000" b="0" i="0" u="none" strike="noStrike" cap="none" spc="0">
                <a:solidFill>
                  <a:srgbClr val="000000"/>
                </a:solidFill>
                <a:latin typeface="Noto Looped Lao Cond ExBd"/>
                <a:ea typeface="Noto Looped Lao Cond ExBd"/>
                <a:cs typeface="Noto Looped Lao Cond ExBd"/>
              </a:rPr>
              <a:t>12_HoSiuHang_Final_Project_V03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.pptx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	resources.txt		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/img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/script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/video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.gitignore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e02_00_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MatchRecord.html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...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e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16_00_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LegalNotice.html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index.html</a:t>
            </a:r>
            <a:r>
              <a:rPr sz="2000">
                <a:latin typeface="Noto Looped Lao Cond ExBd"/>
                <a:ea typeface="Noto Looped Lao Cond ExBd"/>
                <a:cs typeface="Noto Looped Lao Cond ExBd"/>
              </a:rPr>
              <a:t>	</a:t>
            </a:r>
            <a:endParaRPr sz="2000">
              <a:latin typeface="Noto Looped Lao Cond ExBd"/>
              <a:ea typeface="Noto Looped Lao Cond ExBd"/>
              <a:cs typeface="Noto Looped Lao Cond ExBd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856938186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7385112" name="TextBox 20"/>
          <p:cNvSpPr txBox="1"/>
          <p:nvPr/>
        </p:nvSpPr>
        <p:spPr bwMode="auto">
          <a:xfrm>
            <a:off x="0" y="646290"/>
            <a:ext cx="8252961" cy="469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E.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網站架構圖(Sitemap)</a:t>
            </a:r>
            <a:endParaRPr lang="en-US" sz="2400"/>
          </a:p>
        </p:txBody>
      </p:sp>
      <p:sp>
        <p:nvSpPr>
          <p:cNvPr id="774835782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14</a:t>
            </a:fld>
            <a:endParaRPr lang="en-US"/>
          </a:p>
        </p:txBody>
      </p:sp>
      <p:sp>
        <p:nvSpPr>
          <p:cNvPr id="599725288" name="Google Shape;90;p1"/>
          <p:cNvSpPr txBox="1"/>
          <p:nvPr/>
        </p:nvSpPr>
        <p:spPr bwMode="auto">
          <a:xfrm>
            <a:off x="0" y="-7043"/>
            <a:ext cx="12283076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788261789" name=""/>
          <p:cNvSpPr/>
          <p:nvPr/>
        </p:nvSpPr>
        <p:spPr bwMode="auto">
          <a:xfrm rot="0" flipH="0" flipV="0">
            <a:off x="1572708" y="2398008"/>
            <a:ext cx="873639" cy="1078007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02251110" name=""/>
          <p:cNvSpPr txBox="1"/>
          <p:nvPr/>
        </p:nvSpPr>
        <p:spPr bwMode="auto">
          <a:xfrm rot="0" flipH="0" flipV="0">
            <a:off x="1569828" y="2398008"/>
            <a:ext cx="877239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E2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相親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查冊</a:t>
            </a:r>
            <a:endParaRPr sz="1600"/>
          </a:p>
        </p:txBody>
      </p:sp>
      <p:sp>
        <p:nvSpPr>
          <p:cNvPr id="1343471061" name=""/>
          <p:cNvSpPr/>
          <p:nvPr/>
        </p:nvSpPr>
        <p:spPr bwMode="auto">
          <a:xfrm rot="0" flipH="0" flipV="0">
            <a:off x="2666084" y="2421820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972979304" name=""/>
          <p:cNvSpPr/>
          <p:nvPr/>
        </p:nvSpPr>
        <p:spPr bwMode="auto">
          <a:xfrm rot="0" flipH="0" flipV="0">
            <a:off x="3720603" y="2421820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275792386" name=""/>
          <p:cNvSpPr/>
          <p:nvPr/>
        </p:nvSpPr>
        <p:spPr bwMode="auto">
          <a:xfrm rot="0" flipH="0" flipV="0">
            <a:off x="4771729" y="239467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562913920" name=""/>
          <p:cNvSpPr/>
          <p:nvPr/>
        </p:nvSpPr>
        <p:spPr bwMode="auto">
          <a:xfrm rot="0" flipH="0" flipV="0">
            <a:off x="5854759" y="236419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554192761" name=""/>
          <p:cNvSpPr/>
          <p:nvPr/>
        </p:nvSpPr>
        <p:spPr bwMode="auto">
          <a:xfrm rot="0" flipH="0" flipV="0">
            <a:off x="9637911" y="803872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667543784" name=""/>
          <p:cNvSpPr/>
          <p:nvPr/>
        </p:nvSpPr>
        <p:spPr bwMode="auto">
          <a:xfrm rot="0" flipH="0" flipV="0">
            <a:off x="6977989" y="233371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243521332" name=""/>
          <p:cNvSpPr/>
          <p:nvPr/>
        </p:nvSpPr>
        <p:spPr bwMode="auto">
          <a:xfrm rot="0" flipH="0" flipV="0">
            <a:off x="8029589" y="2327052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071786739" name=""/>
          <p:cNvSpPr/>
          <p:nvPr/>
        </p:nvSpPr>
        <p:spPr bwMode="auto">
          <a:xfrm rot="0" flipH="0" flipV="0">
            <a:off x="9076950" y="233371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474061989" name=""/>
          <p:cNvSpPr/>
          <p:nvPr/>
        </p:nvSpPr>
        <p:spPr bwMode="auto">
          <a:xfrm rot="0" flipH="0" flipV="0">
            <a:off x="10169216" y="233371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658376328" name=""/>
          <p:cNvSpPr/>
          <p:nvPr/>
        </p:nvSpPr>
        <p:spPr bwMode="auto">
          <a:xfrm rot="0" flipH="0" flipV="0">
            <a:off x="11201560" y="231828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411226327" name=""/>
          <p:cNvSpPr txBox="1"/>
          <p:nvPr/>
        </p:nvSpPr>
        <p:spPr bwMode="auto">
          <a:xfrm rot="0" flipH="0" flipV="0">
            <a:off x="2666084" y="2421820"/>
            <a:ext cx="778373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E3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相親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叙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餐</a:t>
            </a:r>
            <a:endParaRPr/>
          </a:p>
        </p:txBody>
      </p:sp>
      <p:sp>
        <p:nvSpPr>
          <p:cNvPr id="1854742915" name=""/>
          <p:cNvSpPr/>
          <p:nvPr/>
        </p:nvSpPr>
        <p:spPr bwMode="auto">
          <a:xfrm rot="0" flipH="0" flipV="0">
            <a:off x="5166216" y="803872"/>
            <a:ext cx="865917" cy="1005044"/>
          </a:xfrm>
          <a:prstGeom prst="flowChartDocumen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800982995" name=""/>
          <p:cNvSpPr txBox="1"/>
          <p:nvPr/>
        </p:nvSpPr>
        <p:spPr bwMode="auto">
          <a:xfrm rot="0" flipH="0" flipV="0">
            <a:off x="5166216" y="803872"/>
            <a:ext cx="1244728" cy="57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E1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首頁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25563933" name=""/>
          <p:cNvSpPr txBox="1"/>
          <p:nvPr/>
        </p:nvSpPr>
        <p:spPr bwMode="auto">
          <a:xfrm rot="0" flipH="0" flipV="0">
            <a:off x="9645630" y="803871"/>
            <a:ext cx="741556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Arial"/>
                <a:ea typeface="Arial"/>
                <a:cs typeface="Arial"/>
              </a:rPr>
              <a:t>E7</a:t>
            </a:r>
            <a:endParaRPr sz="1600" b="0" i="0" u="none" strike="noStrike" cap="none" spc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Arial"/>
                <a:ea typeface="Arial"/>
                <a:cs typeface="Arial"/>
              </a:rPr>
              <a:t>搜尋</a:t>
            </a:r>
            <a:r>
              <a:rPr sz="1600">
                <a:solidFill>
                  <a:srgbClr val="FF0000"/>
                </a:solidFill>
              </a:rPr>
              <a:t>結果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466659471" name=""/>
          <p:cNvSpPr txBox="1"/>
          <p:nvPr/>
        </p:nvSpPr>
        <p:spPr bwMode="auto">
          <a:xfrm rot="0" flipH="0" flipV="0">
            <a:off x="3720603" y="2421820"/>
            <a:ext cx="780173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/>
              <a:t>E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相親旅行</a:t>
            </a:r>
            <a:endParaRPr sz="1600"/>
          </a:p>
        </p:txBody>
      </p:sp>
      <p:sp>
        <p:nvSpPr>
          <p:cNvPr id="1127908930" name=""/>
          <p:cNvSpPr txBox="1"/>
          <p:nvPr/>
        </p:nvSpPr>
        <p:spPr bwMode="auto">
          <a:xfrm rot="0" flipH="0" flipV="0">
            <a:off x="4771729" y="2394679"/>
            <a:ext cx="781613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E5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性格測試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280692453" name=""/>
          <p:cNvSpPr txBox="1"/>
          <p:nvPr/>
        </p:nvSpPr>
        <p:spPr bwMode="auto">
          <a:xfrm rot="0" flipH="0" flipV="0">
            <a:off x="5854759" y="2364199"/>
            <a:ext cx="783414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E6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TW" sz="16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訊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安裝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420814702" name=""/>
          <p:cNvSpPr txBox="1"/>
          <p:nvPr/>
        </p:nvSpPr>
        <p:spPr bwMode="auto">
          <a:xfrm rot="0" flipH="0" flipV="0">
            <a:off x="6977988" y="2364198"/>
            <a:ext cx="684262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Arial"/>
                <a:ea typeface="Arial"/>
                <a:cs typeface="Arial"/>
              </a:rPr>
              <a:t>E8</a:t>
            </a:r>
            <a:endParaRPr sz="1600" b="0" i="0" u="none" strike="noStrike" cap="none" spc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Arial"/>
                <a:ea typeface="Arial"/>
                <a:cs typeface="Arial"/>
              </a:rPr>
              <a:t>會員登入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414005698" name=""/>
          <p:cNvSpPr txBox="1"/>
          <p:nvPr/>
        </p:nvSpPr>
        <p:spPr bwMode="auto">
          <a:xfrm rot="0" flipH="0" flipV="0">
            <a:off x="8029589" y="2357532"/>
            <a:ext cx="682146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/>
              <a:t>E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其他服務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67614173" name=""/>
          <p:cNvSpPr txBox="1"/>
          <p:nvPr/>
        </p:nvSpPr>
        <p:spPr bwMode="auto">
          <a:xfrm rot="0" flipH="0" flipV="0">
            <a:off x="9076950" y="2333719"/>
            <a:ext cx="684306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E10</a:t>
            </a:r>
            <a:endParaRPr lang="en-US" sz="1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zh-TW" sz="16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16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月刊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747616806" name=""/>
          <p:cNvSpPr txBox="1"/>
          <p:nvPr/>
        </p:nvSpPr>
        <p:spPr bwMode="auto">
          <a:xfrm rot="0" flipH="0" flipV="0">
            <a:off x="10169215" y="2333718"/>
            <a:ext cx="685386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Arial"/>
                <a:ea typeface="Calibri"/>
                <a:cs typeface="Calibri"/>
              </a:rPr>
              <a:t>E11</a:t>
            </a:r>
            <a:endParaRPr sz="1600" b="0" i="0" u="none" strike="noStrike" cap="none" spc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Arial"/>
                <a:ea typeface="Arial"/>
                <a:cs typeface="Arial"/>
              </a:rPr>
              <a:t>關於我們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257542711" name=""/>
          <p:cNvSpPr txBox="1"/>
          <p:nvPr/>
        </p:nvSpPr>
        <p:spPr bwMode="auto">
          <a:xfrm rot="0" flipH="0" flipV="0">
            <a:off x="11201559" y="2318288"/>
            <a:ext cx="686825" cy="57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Times New Roman"/>
                <a:cs typeface="Times New Roman"/>
              </a:rPr>
              <a:t>E12</a:t>
            </a:r>
            <a:endParaRPr sz="1600" b="0" i="0" u="none" strike="noStrike" cap="none" spc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Arial"/>
                <a:ea typeface="Arial"/>
                <a:cs typeface="Arial"/>
              </a:rPr>
              <a:t>付款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257953492" name=""/>
          <p:cNvSpPr/>
          <p:nvPr/>
        </p:nvSpPr>
        <p:spPr bwMode="auto">
          <a:xfrm rot="0" flipH="0" flipV="0">
            <a:off x="4751724" y="3946418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805486032" name=""/>
          <p:cNvSpPr txBox="1"/>
          <p:nvPr/>
        </p:nvSpPr>
        <p:spPr bwMode="auto">
          <a:xfrm rot="0" flipH="0" flipV="0">
            <a:off x="4751723" y="3946417"/>
            <a:ext cx="774227" cy="82644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E５.１</a:t>
            </a:r>
            <a:endParaRPr sz="1600" b="0" i="0" u="none" strike="noStrike" cap="none" spc="0">
              <a:solidFill>
                <a:srgbClr val="FF0000"/>
              </a:solidFill>
              <a:latin typeface="Linux Biolinum O"/>
              <a:cs typeface="Linux Biolinum O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Linux Biolinum O"/>
                <a:ea typeface="Linux Biolinum O"/>
                <a:cs typeface="Linux Biolinum O"/>
              </a:rPr>
              <a:t>九型人格</a:t>
            </a:r>
            <a:endParaRPr sz="1600" b="0" i="0" u="none" strike="noStrike" cap="none" spc="0">
              <a:solidFill>
                <a:srgbClr val="000000"/>
              </a:solidFill>
              <a:latin typeface="Linux Biolinum O"/>
              <a:cs typeface="Linux Biolinum O"/>
            </a:endParaRPr>
          </a:p>
        </p:txBody>
      </p:sp>
      <p:sp>
        <p:nvSpPr>
          <p:cNvPr id="36671498" name=""/>
          <p:cNvSpPr/>
          <p:nvPr/>
        </p:nvSpPr>
        <p:spPr bwMode="auto">
          <a:xfrm rot="0" flipH="0" flipV="0">
            <a:off x="3359028" y="3953085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342517212" name=""/>
          <p:cNvSpPr txBox="1"/>
          <p:nvPr/>
        </p:nvSpPr>
        <p:spPr bwMode="auto">
          <a:xfrm rot="0" flipH="0" flipV="0">
            <a:off x="3359027" y="3953084"/>
            <a:ext cx="994950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Times New Roman"/>
                <a:cs typeface="Times New Roman"/>
              </a:rPr>
              <a:t>E５.２</a:t>
            </a:r>
            <a:endParaRPr sz="1600" b="0" i="0" u="none" strike="noStrike" cap="none" spc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FF0000"/>
                </a:solidFill>
                <a:latin typeface="Arial"/>
                <a:ea typeface="Calibri"/>
                <a:cs typeface="Calibri"/>
              </a:rPr>
              <a:t>測試結果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575158287" name=""/>
          <p:cNvSpPr/>
          <p:nvPr/>
        </p:nvSpPr>
        <p:spPr bwMode="auto">
          <a:xfrm rot="0" flipH="0" flipV="0">
            <a:off x="5854759" y="4968350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158002301" name=""/>
          <p:cNvSpPr/>
          <p:nvPr/>
        </p:nvSpPr>
        <p:spPr bwMode="auto">
          <a:xfrm rot="0" flipH="0" flipV="0">
            <a:off x="6977989" y="4937870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630961773" name=""/>
          <p:cNvSpPr/>
          <p:nvPr/>
        </p:nvSpPr>
        <p:spPr bwMode="auto">
          <a:xfrm rot="0" flipH="0" flipV="0">
            <a:off x="8029589" y="4931203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2114372822" name=""/>
          <p:cNvSpPr/>
          <p:nvPr/>
        </p:nvSpPr>
        <p:spPr bwMode="auto">
          <a:xfrm rot="0" flipH="0" flipV="0">
            <a:off x="9076950" y="4937870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369510787" name=""/>
          <p:cNvSpPr/>
          <p:nvPr/>
        </p:nvSpPr>
        <p:spPr bwMode="auto">
          <a:xfrm rot="0" flipH="0" flipV="0">
            <a:off x="10169216" y="4937870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534587444" name=""/>
          <p:cNvSpPr/>
          <p:nvPr/>
        </p:nvSpPr>
        <p:spPr bwMode="auto">
          <a:xfrm rot="0" flipH="0" flipV="0">
            <a:off x="11201560" y="4910433"/>
            <a:ext cx="873639" cy="1030383"/>
          </a:xfrm>
          <a:prstGeom prst="flowChart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393871049" name=""/>
          <p:cNvSpPr txBox="1"/>
          <p:nvPr/>
        </p:nvSpPr>
        <p:spPr bwMode="auto">
          <a:xfrm rot="0" flipH="0" flipV="0">
            <a:off x="5854759" y="4968351"/>
            <a:ext cx="788454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E９.１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婚禮籌辦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51856536" name=""/>
          <p:cNvSpPr txBox="1"/>
          <p:nvPr/>
        </p:nvSpPr>
        <p:spPr bwMode="auto">
          <a:xfrm rot="0" flipH="0" flipV="0">
            <a:off x="6977989" y="4968350"/>
            <a:ext cx="789105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E９.２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心理輔導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646664701" name=""/>
          <p:cNvSpPr txBox="1"/>
          <p:nvPr/>
        </p:nvSpPr>
        <p:spPr bwMode="auto">
          <a:xfrm rot="0" flipH="0" flipV="0">
            <a:off x="8029589" y="4961683"/>
            <a:ext cx="785254" cy="83025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E９.３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醫療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檢查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35880533" name=""/>
          <p:cNvSpPr txBox="1"/>
          <p:nvPr/>
        </p:nvSpPr>
        <p:spPr bwMode="auto">
          <a:xfrm rot="0" flipH="0" flipV="0">
            <a:off x="9076950" y="4937870"/>
            <a:ext cx="785644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E９.４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親子鑑定</a:t>
            </a:r>
            <a:endParaRPr lang="en-US" sz="1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946284434" name=""/>
          <p:cNvSpPr txBox="1"/>
          <p:nvPr/>
        </p:nvSpPr>
        <p:spPr bwMode="auto">
          <a:xfrm rot="0" flipH="0" flipV="0">
            <a:off x="10170026" y="4937870"/>
            <a:ext cx="805258" cy="58848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E９.５</a:t>
            </a:r>
            <a:endParaRPr lang="en-US" sz="16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分手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843509528" name=""/>
          <p:cNvSpPr txBox="1"/>
          <p:nvPr/>
        </p:nvSpPr>
        <p:spPr bwMode="auto">
          <a:xfrm rot="0" flipH="0" flipV="0">
            <a:off x="11202460" y="4916648"/>
            <a:ext cx="787383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E９.６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遺產繼承</a:t>
            </a:r>
            <a:endParaRPr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267504669" name=""/>
          <p:cNvSpPr/>
          <p:nvPr/>
        </p:nvSpPr>
        <p:spPr bwMode="auto">
          <a:xfrm rot="0" flipH="0" flipV="0">
            <a:off x="370104" y="5643466"/>
            <a:ext cx="873639" cy="1078007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526332878" name=""/>
          <p:cNvSpPr txBox="1"/>
          <p:nvPr/>
        </p:nvSpPr>
        <p:spPr bwMode="auto">
          <a:xfrm rot="0" flipH="0" flipV="0">
            <a:off x="367224" y="5643466"/>
            <a:ext cx="732370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E１３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私隱政策</a:t>
            </a:r>
            <a:endParaRPr sz="1600"/>
          </a:p>
        </p:txBody>
      </p:sp>
      <p:sp>
        <p:nvSpPr>
          <p:cNvPr id="825465274" name=""/>
          <p:cNvSpPr/>
          <p:nvPr/>
        </p:nvSpPr>
        <p:spPr bwMode="auto">
          <a:xfrm rot="0" flipH="0" flipV="0">
            <a:off x="1463481" y="566727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65141918" name=""/>
          <p:cNvSpPr/>
          <p:nvPr/>
        </p:nvSpPr>
        <p:spPr bwMode="auto">
          <a:xfrm rot="0" flipH="0" flipV="0">
            <a:off x="2518000" y="5667279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653282481" name=""/>
          <p:cNvSpPr/>
          <p:nvPr/>
        </p:nvSpPr>
        <p:spPr bwMode="auto">
          <a:xfrm rot="0" flipH="0" flipV="0">
            <a:off x="3569125" y="5640138"/>
            <a:ext cx="873639" cy="1030383"/>
          </a:xfrm>
          <a:prstGeom prst="flowChartDocumen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rgbClr val="FF0000"/>
              </a:solidFill>
              <a:highlight>
                <a:srgbClr val="FFFFFF"/>
              </a:highlight>
            </a:endParaRPr>
          </a:p>
        </p:txBody>
      </p:sp>
      <p:sp>
        <p:nvSpPr>
          <p:cNvPr id="1946510485" name=""/>
          <p:cNvSpPr txBox="1"/>
          <p:nvPr/>
        </p:nvSpPr>
        <p:spPr bwMode="auto">
          <a:xfrm rot="0" flipH="0" flipV="0">
            <a:off x="1463481" y="5667279"/>
            <a:ext cx="780533" cy="79890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E１４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使用條款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695822897" name=""/>
          <p:cNvSpPr txBox="1"/>
          <p:nvPr/>
        </p:nvSpPr>
        <p:spPr bwMode="auto">
          <a:xfrm rot="0" flipH="0" flipV="0">
            <a:off x="2518000" y="5667279"/>
            <a:ext cx="781613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E１５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服務條款</a:t>
            </a:r>
            <a:endParaRPr/>
          </a:p>
        </p:txBody>
      </p:sp>
      <p:sp>
        <p:nvSpPr>
          <p:cNvPr id="918579145" name=""/>
          <p:cNvSpPr txBox="1"/>
          <p:nvPr/>
        </p:nvSpPr>
        <p:spPr bwMode="auto">
          <a:xfrm rot="0" flipH="0" flipV="0">
            <a:off x="3569125" y="5640138"/>
            <a:ext cx="783414" cy="8323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cs typeface="Times New Roman"/>
              </a:rPr>
              <a:t>E１６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法律聲明</a:t>
            </a:r>
            <a:endParaRPr lang="en-US" sz="16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cxnSp>
        <p:nvCxnSpPr>
          <p:cNvPr id="1801853056" name=""/>
          <p:cNvCxnSpPr/>
          <p:nvPr/>
        </p:nvCxnSpPr>
        <p:spPr bwMode="auto">
          <a:xfrm flipH="0" flipV="1">
            <a:off x="2014846" y="1983644"/>
            <a:ext cx="9792063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1235518" name=""/>
          <p:cNvCxnSpPr>
            <a:endCxn id="554192761" idx="1"/>
          </p:cNvCxnSpPr>
          <p:nvPr/>
        </p:nvCxnSpPr>
        <p:spPr bwMode="auto">
          <a:xfrm rot="0" flipH="0" flipV="0">
            <a:off x="6032134" y="1312729"/>
            <a:ext cx="3605775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6967871" name=""/>
          <p:cNvCxnSpPr/>
          <p:nvPr/>
        </p:nvCxnSpPr>
        <p:spPr bwMode="auto">
          <a:xfrm rot="0" flipH="1" flipV="0">
            <a:off x="5788401" y="1650999"/>
            <a:ext cx="0" cy="332643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9290971" name=""/>
          <p:cNvCxnSpPr/>
          <p:nvPr/>
        </p:nvCxnSpPr>
        <p:spPr bwMode="auto">
          <a:xfrm rot="0" flipH="1" flipV="0">
            <a:off x="2014846" y="1983644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9895176" name=""/>
          <p:cNvCxnSpPr/>
          <p:nvPr/>
        </p:nvCxnSpPr>
        <p:spPr bwMode="auto">
          <a:xfrm rot="0" flipH="1" flipV="0">
            <a:off x="3055091" y="2010785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640703" name=""/>
          <p:cNvCxnSpPr/>
          <p:nvPr/>
        </p:nvCxnSpPr>
        <p:spPr bwMode="auto">
          <a:xfrm rot="0" flipH="1" flipV="0">
            <a:off x="4110331" y="1983644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1121344" name=""/>
          <p:cNvCxnSpPr/>
          <p:nvPr/>
        </p:nvCxnSpPr>
        <p:spPr bwMode="auto">
          <a:xfrm rot="0" flipH="1" flipV="0">
            <a:off x="5208548" y="2010785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3564477" name=""/>
          <p:cNvCxnSpPr/>
          <p:nvPr/>
        </p:nvCxnSpPr>
        <p:spPr bwMode="auto">
          <a:xfrm rot="0" flipH="1" flipV="0">
            <a:off x="6219977" y="1986972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537451" name=""/>
          <p:cNvCxnSpPr/>
          <p:nvPr/>
        </p:nvCxnSpPr>
        <p:spPr bwMode="auto">
          <a:xfrm rot="0" flipH="1" flipV="0">
            <a:off x="7385979" y="1986972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924871" name=""/>
          <p:cNvCxnSpPr/>
          <p:nvPr/>
        </p:nvCxnSpPr>
        <p:spPr bwMode="auto">
          <a:xfrm rot="0" flipH="1" flipV="0">
            <a:off x="8437579" y="1986972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729473" name=""/>
          <p:cNvCxnSpPr/>
          <p:nvPr/>
        </p:nvCxnSpPr>
        <p:spPr bwMode="auto">
          <a:xfrm rot="0" flipH="1" flipV="0">
            <a:off x="9484940" y="1983644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7011060" name=""/>
          <p:cNvCxnSpPr/>
          <p:nvPr/>
        </p:nvCxnSpPr>
        <p:spPr bwMode="auto">
          <a:xfrm rot="0" flipH="1" flipV="0">
            <a:off x="10606035" y="1953164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3008302" name=""/>
          <p:cNvCxnSpPr/>
          <p:nvPr/>
        </p:nvCxnSpPr>
        <p:spPr bwMode="auto">
          <a:xfrm rot="0" flipH="1" flipV="0">
            <a:off x="11806909" y="1953164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2125107" name=""/>
          <p:cNvCxnSpPr/>
          <p:nvPr/>
        </p:nvCxnSpPr>
        <p:spPr bwMode="auto">
          <a:xfrm flipH="0" flipV="1">
            <a:off x="1098874" y="1319064"/>
            <a:ext cx="4075384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2804602" name=""/>
          <p:cNvCxnSpPr/>
          <p:nvPr/>
        </p:nvCxnSpPr>
        <p:spPr bwMode="auto">
          <a:xfrm flipH="0" flipV="1">
            <a:off x="694888" y="5270499"/>
            <a:ext cx="3327519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2072111" name=""/>
          <p:cNvCxnSpPr/>
          <p:nvPr/>
        </p:nvCxnSpPr>
        <p:spPr bwMode="auto">
          <a:xfrm rot="0" flipH="1" flipV="0">
            <a:off x="1098874" y="1306395"/>
            <a:ext cx="0" cy="396410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308149" name=""/>
          <p:cNvCxnSpPr/>
          <p:nvPr/>
        </p:nvCxnSpPr>
        <p:spPr bwMode="auto">
          <a:xfrm rot="0" flipH="1" flipV="0">
            <a:off x="694888" y="5270499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607985" name=""/>
          <p:cNvCxnSpPr/>
          <p:nvPr/>
        </p:nvCxnSpPr>
        <p:spPr bwMode="auto">
          <a:xfrm rot="0" flipH="1" flipV="0">
            <a:off x="1900300" y="5278341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892573" name=""/>
          <p:cNvCxnSpPr/>
          <p:nvPr/>
        </p:nvCxnSpPr>
        <p:spPr bwMode="auto">
          <a:xfrm rot="0" flipH="1" flipV="0">
            <a:off x="2954820" y="5270499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5805579" name=""/>
          <p:cNvCxnSpPr/>
          <p:nvPr/>
        </p:nvCxnSpPr>
        <p:spPr bwMode="auto">
          <a:xfrm rot="0" flipH="1" flipV="0">
            <a:off x="4005945" y="5270499"/>
            <a:ext cx="0" cy="36512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401524" name=""/>
          <p:cNvCxnSpPr>
            <a:endCxn id="1805486032" idx="0"/>
          </p:cNvCxnSpPr>
          <p:nvPr/>
        </p:nvCxnSpPr>
        <p:spPr bwMode="auto">
          <a:xfrm rot="5400000" flipH="0" flipV="1">
            <a:off x="4876002" y="3687708"/>
            <a:ext cx="517418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2353862" name=""/>
          <p:cNvCxnSpPr>
            <a:stCxn id="1805486032" idx="1"/>
          </p:cNvCxnSpPr>
          <p:nvPr/>
        </p:nvCxnSpPr>
        <p:spPr bwMode="auto">
          <a:xfrm rot="10800000" flipH="0" flipV="0">
            <a:off x="4273874" y="4354694"/>
            <a:ext cx="477849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798416" name=""/>
          <p:cNvCxnSpPr/>
          <p:nvPr/>
        </p:nvCxnSpPr>
        <p:spPr bwMode="auto">
          <a:xfrm flipH="0" flipV="1">
            <a:off x="6399887" y="4354694"/>
            <a:ext cx="5146526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292963" name=""/>
          <p:cNvCxnSpPr/>
          <p:nvPr/>
        </p:nvCxnSpPr>
        <p:spPr bwMode="auto">
          <a:xfrm rot="5400000" flipH="0" flipV="1">
            <a:off x="7922803" y="3803223"/>
            <a:ext cx="1029552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0677555" name=""/>
          <p:cNvCxnSpPr/>
          <p:nvPr/>
        </p:nvCxnSpPr>
        <p:spPr bwMode="auto">
          <a:xfrm rot="0" flipH="1" flipV="0">
            <a:off x="6410585" y="4369249"/>
            <a:ext cx="0" cy="592433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6014344" name=""/>
          <p:cNvCxnSpPr/>
          <p:nvPr/>
        </p:nvCxnSpPr>
        <p:spPr bwMode="auto">
          <a:xfrm rot="0" flipH="1" flipV="0">
            <a:off x="7320840" y="4369249"/>
            <a:ext cx="0" cy="541183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8820204" name=""/>
          <p:cNvCxnSpPr/>
          <p:nvPr/>
        </p:nvCxnSpPr>
        <p:spPr bwMode="auto">
          <a:xfrm rot="0" flipH="1" flipV="0">
            <a:off x="8437579" y="4317999"/>
            <a:ext cx="0" cy="592433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203919" name=""/>
          <p:cNvCxnSpPr/>
          <p:nvPr/>
        </p:nvCxnSpPr>
        <p:spPr bwMode="auto">
          <a:xfrm rot="5400000" flipH="0" flipV="0">
            <a:off x="9149592" y="4639841"/>
            <a:ext cx="541183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202595" name=""/>
          <p:cNvCxnSpPr/>
          <p:nvPr/>
        </p:nvCxnSpPr>
        <p:spPr bwMode="auto">
          <a:xfrm rot="5400000" flipH="0" flipV="0">
            <a:off x="10228679" y="4653560"/>
            <a:ext cx="568620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294786" name=""/>
          <p:cNvCxnSpPr/>
          <p:nvPr/>
        </p:nvCxnSpPr>
        <p:spPr bwMode="auto">
          <a:xfrm rot="5400000" flipH="0" flipV="1">
            <a:off x="11265436" y="4635671"/>
            <a:ext cx="561953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39159852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9051345" name="TextBox 20"/>
          <p:cNvSpPr txBox="1"/>
          <p:nvPr/>
        </p:nvSpPr>
        <p:spPr bwMode="auto">
          <a:xfrm>
            <a:off x="0" y="646290"/>
            <a:ext cx="8262320" cy="469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endParaRPr lang="en-US" sz="2400"/>
          </a:p>
        </p:txBody>
      </p:sp>
      <p:sp>
        <p:nvSpPr>
          <p:cNvPr id="2106419453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17</a:t>
            </a:fld>
            <a:endParaRPr lang="en-US"/>
          </a:p>
        </p:txBody>
      </p:sp>
      <p:sp>
        <p:nvSpPr>
          <p:cNvPr id="1656236219" name="Google Shape;90;p1"/>
          <p:cNvSpPr txBox="1"/>
          <p:nvPr/>
        </p:nvSpPr>
        <p:spPr bwMode="auto">
          <a:xfrm>
            <a:off x="-45718" y="-2891"/>
            <a:ext cx="12283436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86482063" name=""/>
          <p:cNvSpPr txBox="1"/>
          <p:nvPr/>
        </p:nvSpPr>
        <p:spPr bwMode="auto">
          <a:xfrm rot="0" flipH="0" flipV="0">
            <a:off x="9857862" y="662519"/>
            <a:ext cx="1826648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-總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79123357" name=""/>
          <p:cNvSpPr txBox="1"/>
          <p:nvPr/>
        </p:nvSpPr>
        <p:spPr bwMode="auto">
          <a:xfrm rot="0" flipH="0" flipV="0">
            <a:off x="103090" y="1099136"/>
            <a:ext cx="11909128" cy="7013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頂層</a:t>
            </a:r>
            <a:endParaRPr sz="2000"/>
          </a:p>
          <a:p>
            <a:pPr algn="ctr">
              <a:defRPr/>
            </a:pPr>
            <a:endParaRPr sz="2000"/>
          </a:p>
        </p:txBody>
      </p:sp>
      <p:sp>
        <p:nvSpPr>
          <p:cNvPr id="186987744" name=""/>
          <p:cNvSpPr txBox="1"/>
          <p:nvPr/>
        </p:nvSpPr>
        <p:spPr bwMode="auto">
          <a:xfrm rot="0" flipH="0" flipV="0">
            <a:off x="140355" y="6316203"/>
            <a:ext cx="11915969" cy="3965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底層</a:t>
            </a:r>
            <a:endParaRPr sz="2000"/>
          </a:p>
        </p:txBody>
      </p:sp>
      <p:sp>
        <p:nvSpPr>
          <p:cNvPr id="695103077" name=""/>
          <p:cNvSpPr txBox="1"/>
          <p:nvPr/>
        </p:nvSpPr>
        <p:spPr bwMode="auto">
          <a:xfrm rot="0" flipH="0" flipV="0">
            <a:off x="94092" y="2159839"/>
            <a:ext cx="11929289" cy="40541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r>
              <a:rPr sz="2000"/>
              <a:t>內容</a:t>
            </a: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  <a:p>
            <a:pPr algn="ctr"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581268346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720053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742845732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780133372" name=""/>
          <p:cNvSpPr txBox="1"/>
          <p:nvPr/>
        </p:nvSpPr>
        <p:spPr bwMode="auto">
          <a:xfrm rot="0" flipH="0" flipV="0">
            <a:off x="9789161" y="662518"/>
            <a:ext cx="2227376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頂層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79122670" name=""/>
          <p:cNvSpPr txBox="1"/>
          <p:nvPr/>
        </p:nvSpPr>
        <p:spPr bwMode="auto">
          <a:xfrm rot="0" flipH="0" flipV="0">
            <a:off x="103091" y="1115370"/>
            <a:ext cx="11912368" cy="3965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頂層</a:t>
            </a:r>
            <a:endParaRPr sz="2000"/>
          </a:p>
        </p:txBody>
      </p:sp>
      <p:sp>
        <p:nvSpPr>
          <p:cNvPr id="1110718926" name=""/>
          <p:cNvSpPr/>
          <p:nvPr/>
        </p:nvSpPr>
        <p:spPr bwMode="auto">
          <a:xfrm rot="0" flipH="0" flipV="0">
            <a:off x="106693" y="1724599"/>
            <a:ext cx="11908048" cy="140728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52902993" name=""/>
          <p:cNvSpPr txBox="1"/>
          <p:nvPr/>
        </p:nvSpPr>
        <p:spPr bwMode="auto">
          <a:xfrm rot="0" flipH="0" flipV="0">
            <a:off x="1277710" y="2423765"/>
            <a:ext cx="875269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Linux Biolinum O"/>
                <a:ea typeface="Linux Biolinum O"/>
                <a:cs typeface="Linux Biolinum O"/>
              </a:rPr>
              <a:t>首頁</a:t>
            </a:r>
            <a:endParaRPr sz="2400">
              <a:latin typeface="Linux Biolinum O"/>
              <a:cs typeface="Linux Biolinum O"/>
            </a:endParaRPr>
          </a:p>
        </p:txBody>
      </p:sp>
      <p:sp>
        <p:nvSpPr>
          <p:cNvPr id="709473972" name=""/>
          <p:cNvSpPr txBox="1"/>
          <p:nvPr/>
        </p:nvSpPr>
        <p:spPr bwMode="auto">
          <a:xfrm rot="0" flipH="0" flipV="0">
            <a:off x="3459452" y="2076176"/>
            <a:ext cx="823333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性格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測試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741279069" name=""/>
          <p:cNvSpPr txBox="1"/>
          <p:nvPr/>
        </p:nvSpPr>
        <p:spPr bwMode="auto">
          <a:xfrm rot="0" flipH="0" flipV="0">
            <a:off x="4500717" y="2069876"/>
            <a:ext cx="844292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訊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安裝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637929965" name=""/>
          <p:cNvSpPr txBox="1"/>
          <p:nvPr/>
        </p:nvSpPr>
        <p:spPr bwMode="auto">
          <a:xfrm rot="0" flipH="0" flipV="0">
            <a:off x="5537741" y="2056826"/>
            <a:ext cx="815429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會員登入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794241133" name=""/>
          <p:cNvSpPr txBox="1"/>
          <p:nvPr/>
        </p:nvSpPr>
        <p:spPr bwMode="auto">
          <a:xfrm rot="0" flipH="0" flipV="0">
            <a:off x="6624945" y="2043776"/>
            <a:ext cx="829861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其他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服務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457391041" name=""/>
          <p:cNvSpPr txBox="1"/>
          <p:nvPr/>
        </p:nvSpPr>
        <p:spPr bwMode="auto">
          <a:xfrm rot="0" flipH="0" flipV="0">
            <a:off x="7596158" y="2025076"/>
            <a:ext cx="823333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zh-TW" sz="24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月刊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705236530" name=""/>
          <p:cNvSpPr txBox="1"/>
          <p:nvPr/>
        </p:nvSpPr>
        <p:spPr bwMode="auto">
          <a:xfrm rot="0" flipH="0" flipV="0">
            <a:off x="8574323" y="2029627"/>
            <a:ext cx="836924" cy="82331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關於我們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745270533" name=""/>
          <p:cNvSpPr/>
          <p:nvPr/>
        </p:nvSpPr>
        <p:spPr bwMode="auto">
          <a:xfrm rot="0" flipH="0" flipV="0">
            <a:off x="10698807" y="2363635"/>
            <a:ext cx="1011115" cy="457560"/>
          </a:xfrm>
          <a:prstGeom prst="rect">
            <a:avLst/>
          </a:prstGeom>
          <a:noFill/>
          <a:ln w="25400" cap="flat" cmpd="sng" algn="ctr">
            <a:solidFill>
              <a:srgbClr val="152BEB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18793122" name=""/>
          <p:cNvSpPr txBox="1"/>
          <p:nvPr/>
        </p:nvSpPr>
        <p:spPr bwMode="auto">
          <a:xfrm rot="0" flipH="0" flipV="0">
            <a:off x="1186611" y="3549739"/>
            <a:ext cx="1206016" cy="10855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113432093" name=""/>
          <p:cNvCxnSpPr/>
          <p:nvPr/>
        </p:nvCxnSpPr>
        <p:spPr bwMode="auto">
          <a:xfrm rot="0" flipH="0" flipV="1">
            <a:off x="1711024" y="2895474"/>
            <a:ext cx="0" cy="654265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0550523" name=""/>
          <p:cNvCxnSpPr/>
          <p:nvPr/>
        </p:nvCxnSpPr>
        <p:spPr bwMode="auto">
          <a:xfrm rot="0" flipH="0" flipV="1">
            <a:off x="3821949" y="2899496"/>
            <a:ext cx="0" cy="1739858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3675075" name=""/>
          <p:cNvSpPr txBox="1"/>
          <p:nvPr/>
        </p:nvSpPr>
        <p:spPr bwMode="auto">
          <a:xfrm rot="0" flipH="0" flipV="0">
            <a:off x="3143178" y="4639356"/>
            <a:ext cx="1357539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到E5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133424524" name=""/>
          <p:cNvCxnSpPr/>
          <p:nvPr/>
        </p:nvCxnSpPr>
        <p:spPr bwMode="auto">
          <a:xfrm rot="0" flipH="0" flipV="1">
            <a:off x="4858612" y="2907345"/>
            <a:ext cx="0" cy="2501538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1676963" name=""/>
          <p:cNvSpPr txBox="1"/>
          <p:nvPr/>
        </p:nvSpPr>
        <p:spPr bwMode="auto">
          <a:xfrm rot="0" flipH="0" flipV="0">
            <a:off x="4179483" y="5381686"/>
            <a:ext cx="1358259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到E6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295898149" name=""/>
          <p:cNvCxnSpPr/>
          <p:nvPr/>
        </p:nvCxnSpPr>
        <p:spPr bwMode="auto">
          <a:xfrm rot="16199998" flipH="0" flipV="1">
            <a:off x="4323856" y="4477741"/>
            <a:ext cx="3140792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046179" name=""/>
          <p:cNvSpPr txBox="1"/>
          <p:nvPr/>
        </p:nvSpPr>
        <p:spPr bwMode="auto">
          <a:xfrm rot="0" flipH="0" flipV="0">
            <a:off x="5265966" y="6048137"/>
            <a:ext cx="1358979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到E8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977496233" name=""/>
          <p:cNvCxnSpPr/>
          <p:nvPr/>
        </p:nvCxnSpPr>
        <p:spPr bwMode="auto">
          <a:xfrm rot="16199998" flipH="0" flipV="1">
            <a:off x="6728008" y="3178964"/>
            <a:ext cx="623736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8954894" name=""/>
          <p:cNvSpPr txBox="1"/>
          <p:nvPr/>
        </p:nvSpPr>
        <p:spPr bwMode="auto">
          <a:xfrm rot="0" flipH="0" flipV="0">
            <a:off x="6349793" y="3486249"/>
            <a:ext cx="1359699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到E9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066278891" name=""/>
          <p:cNvCxnSpPr/>
          <p:nvPr/>
        </p:nvCxnSpPr>
        <p:spPr bwMode="auto">
          <a:xfrm rot="0" flipH="0" flipV="1">
            <a:off x="8007824" y="2867098"/>
            <a:ext cx="0" cy="1739858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7396398" name=""/>
          <p:cNvSpPr txBox="1"/>
          <p:nvPr/>
        </p:nvSpPr>
        <p:spPr bwMode="auto">
          <a:xfrm rot="0" flipH="0" flipV="0">
            <a:off x="7327795" y="4606958"/>
            <a:ext cx="1360779" cy="83719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到E10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126720793" name=""/>
          <p:cNvCxnSpPr/>
          <p:nvPr/>
        </p:nvCxnSpPr>
        <p:spPr bwMode="auto">
          <a:xfrm rot="0" flipH="0" flipV="1">
            <a:off x="8992785" y="2880145"/>
            <a:ext cx="0" cy="2501538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5789321" name=""/>
          <p:cNvSpPr txBox="1"/>
          <p:nvPr/>
        </p:nvSpPr>
        <p:spPr bwMode="auto">
          <a:xfrm rot="0" flipH="0" flipV="0">
            <a:off x="8322263" y="5354487"/>
            <a:ext cx="1361499" cy="83719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到E11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53171844" name=""/>
          <p:cNvCxnSpPr/>
          <p:nvPr/>
        </p:nvCxnSpPr>
        <p:spPr bwMode="auto">
          <a:xfrm rot="16199998" flipH="0" flipV="1">
            <a:off x="8411802" y="4437493"/>
            <a:ext cx="3140792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513431" name=""/>
          <p:cNvSpPr txBox="1"/>
          <p:nvPr/>
        </p:nvSpPr>
        <p:spPr bwMode="auto">
          <a:xfrm rot="0" flipH="0" flipV="0">
            <a:off x="9411247" y="6007889"/>
            <a:ext cx="1360059" cy="83719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到E12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302202652" name=""/>
          <p:cNvCxnSpPr/>
          <p:nvPr/>
        </p:nvCxnSpPr>
        <p:spPr bwMode="auto">
          <a:xfrm rot="0" flipH="0" flipV="1">
            <a:off x="11208128" y="2821196"/>
            <a:ext cx="0" cy="1157713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0686174" name=""/>
          <p:cNvSpPr txBox="1"/>
          <p:nvPr/>
        </p:nvSpPr>
        <p:spPr bwMode="auto">
          <a:xfrm rot="0" flipH="0" flipV="0">
            <a:off x="10698807" y="4013600"/>
            <a:ext cx="1428283" cy="84175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放大鏡: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到E7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38676645" name=""/>
          <p:cNvSpPr txBox="1"/>
          <p:nvPr/>
        </p:nvSpPr>
        <p:spPr bwMode="auto">
          <a:xfrm rot="0" flipH="0" flipV="0">
            <a:off x="2391909" y="2437915"/>
            <a:ext cx="868069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Linux Biolinum O"/>
                <a:ea typeface="Linux Biolinum O"/>
                <a:cs typeface="Linux Biolinum O"/>
              </a:rPr>
              <a:t>相親</a:t>
            </a:r>
            <a:endParaRPr sz="2400">
              <a:latin typeface="Linux Biolinum O"/>
              <a:cs typeface="Linux Biolinum O"/>
            </a:endParaRPr>
          </a:p>
        </p:txBody>
      </p:sp>
      <p:sp>
        <p:nvSpPr>
          <p:cNvPr id="1236438006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8664AEC-9FF1-3148-8A1E-2451772B1BEC}" type="slidenum">
              <a:rPr lang="en-US"/>
              <a:t>12</a:t>
            </a:fld>
            <a:endParaRPr/>
          </a:p>
        </p:txBody>
      </p:sp>
      <p:cxnSp>
        <p:nvCxnSpPr>
          <p:cNvPr id="1549228330" name=""/>
          <p:cNvCxnSpPr/>
          <p:nvPr/>
        </p:nvCxnSpPr>
        <p:spPr bwMode="auto">
          <a:xfrm rot="16199998" flipH="0" flipV="0">
            <a:off x="1474152" y="4261416"/>
            <a:ext cx="2703583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333131" name=""/>
          <p:cNvSpPr txBox="1"/>
          <p:nvPr/>
        </p:nvSpPr>
        <p:spPr bwMode="auto">
          <a:xfrm rot="0" flipH="0" flipV="0">
            <a:off x="1980306" y="5678363"/>
            <a:ext cx="1567228" cy="10855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:轉手指及顯示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子連結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子連結: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到E2/E3/E4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6614534" name=""/>
          <p:cNvSpPr txBox="1"/>
          <p:nvPr/>
        </p:nvSpPr>
        <p:spPr bwMode="auto">
          <a:xfrm rot="0" flipH="0" flipV="0">
            <a:off x="252804" y="2422584"/>
            <a:ext cx="876708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400" b="0" i="0" u="none">
                <a:solidFill>
                  <a:srgbClr val="000000"/>
                </a:solidFill>
                <a:latin typeface="Linux Biolinum O"/>
                <a:ea typeface="Linux Biolinum O"/>
                <a:cs typeface="Linux Biolinum O"/>
              </a:rPr>
              <a:t>標識</a:t>
            </a:r>
            <a:endParaRPr sz="2400">
              <a:latin typeface="Linux Biolinum O"/>
              <a:cs typeface="Linux Biolinum O"/>
            </a:endParaRPr>
          </a:p>
        </p:txBody>
      </p:sp>
      <p:pic>
        <p:nvPicPr>
          <p:cNvPr id="21458219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0950953" y="2363636"/>
            <a:ext cx="514350" cy="400050"/>
          </a:xfrm>
          <a:prstGeom prst="rect">
            <a:avLst/>
          </a:prstGeom>
        </p:spPr>
      </p:pic>
      <p:sp>
        <p:nvSpPr>
          <p:cNvPr id="236202184" name=""/>
          <p:cNvSpPr/>
          <p:nvPr/>
        </p:nvSpPr>
        <p:spPr bwMode="auto">
          <a:xfrm rot="0" flipH="0" flipV="0">
            <a:off x="9527103" y="2363635"/>
            <a:ext cx="1011115" cy="457560"/>
          </a:xfrm>
          <a:prstGeom prst="rect">
            <a:avLst/>
          </a:prstGeom>
          <a:noFill/>
          <a:ln w="25400" cap="flat" cmpd="sng" algn="ctr">
            <a:solidFill>
              <a:srgbClr val="152BEB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39160424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9683760" y="2378103"/>
            <a:ext cx="552449" cy="428625"/>
          </a:xfrm>
          <a:prstGeom prst="rect">
            <a:avLst/>
          </a:prstGeom>
        </p:spPr>
      </p:pic>
      <p:cxnSp>
        <p:nvCxnSpPr>
          <p:cNvPr id="2025216264" name=""/>
          <p:cNvCxnSpPr/>
          <p:nvPr/>
        </p:nvCxnSpPr>
        <p:spPr bwMode="auto">
          <a:xfrm rot="0" flipH="0" flipV="1">
            <a:off x="691157" y="2881323"/>
            <a:ext cx="0" cy="654264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7601949" name=""/>
          <p:cNvSpPr txBox="1"/>
          <p:nvPr/>
        </p:nvSpPr>
        <p:spPr bwMode="auto">
          <a:xfrm rot="0" flipH="0" flipV="0">
            <a:off x="106692" y="3549739"/>
            <a:ext cx="1206016" cy="108559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645247278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446229" y="1915461"/>
            <a:ext cx="489856" cy="4626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94397249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2531471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404759193" name="Google Shape;90;p1"/>
          <p:cNvSpPr txBox="1"/>
          <p:nvPr/>
        </p:nvSpPr>
        <p:spPr bwMode="auto">
          <a:xfrm>
            <a:off x="-45717" y="-2890"/>
            <a:ext cx="1228343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425086946" name=""/>
          <p:cNvSpPr txBox="1"/>
          <p:nvPr/>
        </p:nvSpPr>
        <p:spPr bwMode="auto">
          <a:xfrm rot="0" flipH="0" flipV="0">
            <a:off x="9789162" y="662519"/>
            <a:ext cx="2230977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底層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13596679" name=""/>
          <p:cNvSpPr txBox="1"/>
          <p:nvPr/>
        </p:nvSpPr>
        <p:spPr bwMode="auto">
          <a:xfrm rot="0" flipH="0" flipV="0">
            <a:off x="103092" y="1115370"/>
            <a:ext cx="11915969" cy="3965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底層</a:t>
            </a:r>
            <a:endParaRPr sz="2000"/>
          </a:p>
        </p:txBody>
      </p:sp>
      <p:sp>
        <p:nvSpPr>
          <p:cNvPr id="848551579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DB416DE0-81D5-C41F-EFFE-30E5F2636F59}" type="slidenum">
              <a:rPr lang="en-US"/>
              <a:t>12</a:t>
            </a:fld>
            <a:endParaRPr/>
          </a:p>
        </p:txBody>
      </p:sp>
      <p:sp>
        <p:nvSpPr>
          <p:cNvPr id="1069957646" name=""/>
          <p:cNvSpPr/>
          <p:nvPr/>
        </p:nvSpPr>
        <p:spPr bwMode="auto">
          <a:xfrm rot="0" flipH="0" flipV="0">
            <a:off x="106692" y="1724598"/>
            <a:ext cx="11908048" cy="14072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20842879" name=""/>
          <p:cNvSpPr txBox="1"/>
          <p:nvPr/>
        </p:nvSpPr>
        <p:spPr bwMode="auto">
          <a:xfrm rot="0" flipH="0" flipV="0">
            <a:off x="5879959" y="2166607"/>
            <a:ext cx="1458333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使用條款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0735800" name=""/>
          <p:cNvSpPr txBox="1"/>
          <p:nvPr/>
        </p:nvSpPr>
        <p:spPr bwMode="auto">
          <a:xfrm rot="0" flipH="0" flipV="0">
            <a:off x="8094712" y="2166606"/>
            <a:ext cx="1446064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服務條款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497320752" name=""/>
          <p:cNvSpPr txBox="1"/>
          <p:nvPr/>
        </p:nvSpPr>
        <p:spPr bwMode="auto">
          <a:xfrm rot="0" flipH="0" flipV="0">
            <a:off x="10342995" y="2166607"/>
            <a:ext cx="1429469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法律聲明</a:t>
            </a:r>
            <a:endParaRPr sz="24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cxnSp>
        <p:nvCxnSpPr>
          <p:cNvPr id="2043068053" name=""/>
          <p:cNvCxnSpPr>
            <a:endCxn id="1220842879" idx="2"/>
          </p:cNvCxnSpPr>
          <p:nvPr/>
        </p:nvCxnSpPr>
        <p:spPr bwMode="auto">
          <a:xfrm rot="16199998" flipH="0" flipV="1">
            <a:off x="5624987" y="3608487"/>
            <a:ext cx="1968638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814226" name=""/>
          <p:cNvSpPr txBox="1"/>
          <p:nvPr/>
        </p:nvSpPr>
        <p:spPr bwMode="auto">
          <a:xfrm rot="0" flipH="0" flipV="0">
            <a:off x="5833636" y="4592806"/>
            <a:ext cx="1718106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到E14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786315874" name=""/>
          <p:cNvCxnSpPr/>
          <p:nvPr/>
        </p:nvCxnSpPr>
        <p:spPr bwMode="auto">
          <a:xfrm rot="0" flipH="0" flipV="1">
            <a:off x="8885310" y="2624167"/>
            <a:ext cx="0" cy="2501537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0531985" name=""/>
          <p:cNvSpPr txBox="1"/>
          <p:nvPr/>
        </p:nvSpPr>
        <p:spPr bwMode="auto">
          <a:xfrm rot="0" flipH="0" flipV="0">
            <a:off x="8094713" y="5125705"/>
            <a:ext cx="1581193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到E15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772241091" name=""/>
          <p:cNvCxnSpPr/>
          <p:nvPr/>
        </p:nvCxnSpPr>
        <p:spPr bwMode="auto">
          <a:xfrm rot="16199998" flipH="0" flipV="1">
            <a:off x="9487333" y="4218888"/>
            <a:ext cx="3140791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819215" name=""/>
          <p:cNvSpPr txBox="1"/>
          <p:nvPr/>
        </p:nvSpPr>
        <p:spPr bwMode="auto">
          <a:xfrm rot="0" flipH="0" flipV="0">
            <a:off x="10342995" y="5789284"/>
            <a:ext cx="1552724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到E16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82666514" name=""/>
          <p:cNvSpPr txBox="1"/>
          <p:nvPr/>
        </p:nvSpPr>
        <p:spPr bwMode="auto">
          <a:xfrm rot="0" flipH="0" flipV="0">
            <a:off x="3760093" y="2190933"/>
            <a:ext cx="1480798" cy="457559"/>
          </a:xfrm>
          <a:prstGeom prst="rect">
            <a:avLst/>
          </a:prstGeom>
          <a:noFill/>
          <a:ln w="28575">
            <a:solidFill>
              <a:srgbClr val="152BEB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私隱政策</a:t>
            </a:r>
            <a:endParaRPr sz="2400">
              <a:latin typeface="Linux Biolinum O"/>
              <a:cs typeface="Linux Biolinum O"/>
            </a:endParaRPr>
          </a:p>
        </p:txBody>
      </p:sp>
      <p:cxnSp>
        <p:nvCxnSpPr>
          <p:cNvPr id="450786087" name=""/>
          <p:cNvCxnSpPr/>
          <p:nvPr/>
        </p:nvCxnSpPr>
        <p:spPr bwMode="auto">
          <a:xfrm rot="16199998" flipH="0" flipV="0">
            <a:off x="3148701" y="4024609"/>
            <a:ext cx="2703582" cy="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2520945" name=""/>
          <p:cNvSpPr txBox="1"/>
          <p:nvPr/>
        </p:nvSpPr>
        <p:spPr bwMode="auto">
          <a:xfrm rot="0" flipH="0" flipV="0">
            <a:off x="3760093" y="5322927"/>
            <a:ext cx="1719546" cy="59335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盤旋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:轉手指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  <a:endParaRPr lang="en-US"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按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下:</a:t>
            </a:r>
            <a:r>
              <a:rPr lang="en-US" sz="16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跳</a:t>
            </a:r>
            <a:r>
              <a:rPr sz="1600"/>
              <a:t>到E13</a:t>
            </a:r>
            <a:r>
              <a:rPr sz="1600"/>
              <a:t>.</a:t>
            </a:r>
            <a:endParaRPr sz="16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0559280" name=""/>
          <p:cNvSpPr/>
          <p:nvPr/>
        </p:nvSpPr>
        <p:spPr bwMode="auto">
          <a:xfrm rot="0" flipH="0" flipV="0">
            <a:off x="160818" y="1976653"/>
            <a:ext cx="3306718" cy="837468"/>
          </a:xfrm>
          <a:prstGeom prst="rect">
            <a:avLst/>
          </a:prstGeom>
          <a:noFill/>
          <a:ln w="25400" cap="flat" cmpd="sng" algn="ctr">
            <a:solidFill>
              <a:srgbClr val="152BEB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3480244" name=""/>
          <p:cNvSpPr txBox="1"/>
          <p:nvPr/>
        </p:nvSpPr>
        <p:spPr bwMode="auto">
          <a:xfrm rot="0" flipH="0" flipV="0">
            <a:off x="160818" y="2104086"/>
            <a:ext cx="3306718" cy="58260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TW" sz="1600" b="0" i="0" u="none" strike="noStrike" cap="none" spc="0">
                <a:solidFill>
                  <a:schemeClr val="tx1"/>
                </a:solidFill>
                <a:latin typeface="Arial"/>
                <a:ea typeface="Calibri"/>
                <a:cs typeface="Calibri"/>
              </a:rPr>
              <a:t>闌珊相親及婚姻家庭服務有限公司</a:t>
            </a:r>
            <a:r>
              <a:rPr sz="1600" b="0" i="0" u="none">
                <a:solidFill>
                  <a:schemeClr val="tx1"/>
                </a:solidFill>
                <a:latin typeface="Linux Biolinum O"/>
                <a:ea typeface="Linux Biolinum O"/>
                <a:cs typeface="Linux Biolinum O"/>
              </a:rPr>
              <a:t>版權所有 © </a:t>
            </a:r>
            <a:r>
              <a:rPr sz="1600" b="0" i="0" u="none">
                <a:solidFill>
                  <a:schemeClr val="tx1"/>
                </a:solidFill>
                <a:latin typeface="Linux Biolinum O"/>
                <a:ea typeface="Linux Biolinum O"/>
                <a:cs typeface="Linux Biolinum O"/>
              </a:rPr>
              <a:t>2026</a:t>
            </a:r>
            <a:endParaRPr sz="1600" b="0" i="0" u="none" strike="noStrike" cap="none" spc="0">
              <a:solidFill>
                <a:schemeClr val="tx1"/>
              </a:solidFill>
              <a:latin typeface="Linux Biolinum O"/>
              <a:cs typeface="Linux Biolinum 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868734584" name="直線接點 4"/>
          <p:cNvCxnSpPr/>
          <p:nvPr/>
        </p:nvCxnSpPr>
        <p:spPr bwMode="auto">
          <a:xfrm flipV="1">
            <a:off x="0" y="584800"/>
            <a:ext cx="12191998" cy="656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2289821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501017405" name="Google Shape;90;p1"/>
          <p:cNvSpPr txBox="1"/>
          <p:nvPr/>
        </p:nvSpPr>
        <p:spPr bwMode="auto">
          <a:xfrm>
            <a:off x="-45716" y="-2889"/>
            <a:ext cx="12283434" cy="6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809461191" name=""/>
          <p:cNvSpPr txBox="1"/>
          <p:nvPr/>
        </p:nvSpPr>
        <p:spPr bwMode="auto">
          <a:xfrm rot="0" flipH="0" flipV="0">
            <a:off x="9789162" y="662519"/>
            <a:ext cx="2238897" cy="4333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內容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00335939" name=""/>
          <p:cNvSpPr txBox="1"/>
          <p:nvPr/>
        </p:nvSpPr>
        <p:spPr bwMode="auto">
          <a:xfrm rot="0" flipH="0" flipV="0">
            <a:off x="103088" y="1115370"/>
            <a:ext cx="11999485" cy="839200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樣式_I:</a:t>
            </a:r>
            <a:endParaRPr sz="2000"/>
          </a:p>
          <a:p>
            <a:pPr algn="ctr">
              <a:defRPr/>
            </a:pPr>
            <a:r>
              <a:rPr sz="2000"/>
              <a:t>內容</a:t>
            </a:r>
            <a:r>
              <a:rPr sz="2000"/>
              <a:t> - 僅</a:t>
            </a:r>
            <a:r>
              <a:rPr sz="2000"/>
              <a:t>適用於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E1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E2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E3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E4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E5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E5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.2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E6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E9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E9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.1-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E9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.6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E10</a:t>
            </a:r>
            <a:endParaRPr sz="2000" b="0" i="0" u="none" strike="noStrike" cap="none" spc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4970715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875BB4A2-B600-4895-8758-58A00E116D33}" type="slidenum">
              <a:rPr lang="en-US"/>
              <a:t>14</a:t>
            </a:fld>
            <a:endParaRPr/>
          </a:p>
        </p:txBody>
      </p:sp>
      <p:sp>
        <p:nvSpPr>
          <p:cNvPr id="558216971" name=""/>
          <p:cNvSpPr/>
          <p:nvPr/>
        </p:nvSpPr>
        <p:spPr bwMode="auto">
          <a:xfrm rot="0" flipH="0" flipV="0">
            <a:off x="161705" y="2077932"/>
            <a:ext cx="5818562" cy="4553925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82841538" name=""/>
          <p:cNvSpPr/>
          <p:nvPr/>
        </p:nvSpPr>
        <p:spPr bwMode="auto">
          <a:xfrm rot="0" flipH="0" flipV="0">
            <a:off x="6163331" y="2077932"/>
            <a:ext cx="5818562" cy="4553925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00596476" name=""/>
          <p:cNvSpPr txBox="1"/>
          <p:nvPr/>
        </p:nvSpPr>
        <p:spPr bwMode="auto">
          <a:xfrm rot="0" flipH="0" flipV="0">
            <a:off x="1414203" y="3531576"/>
            <a:ext cx="3313568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>
                <a:latin typeface="Linux Biolinum O"/>
                <a:ea typeface="Linux Biolinum O"/>
                <a:cs typeface="Linux Biolinum O"/>
              </a:rPr>
              <a:t>相片／文字</a:t>
            </a:r>
            <a:endParaRPr sz="4800">
              <a:latin typeface="Linux Biolinum O"/>
              <a:cs typeface="Linux Biolinum O"/>
            </a:endParaRPr>
          </a:p>
        </p:txBody>
      </p:sp>
      <p:sp>
        <p:nvSpPr>
          <p:cNvPr id="326542267" name=""/>
          <p:cNvSpPr txBox="1"/>
          <p:nvPr/>
        </p:nvSpPr>
        <p:spPr bwMode="auto">
          <a:xfrm rot="0" flipH="0" flipV="0">
            <a:off x="7595040" y="3531576"/>
            <a:ext cx="3315007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4800" b="0" i="0" u="none" strike="noStrike" cap="none" spc="0">
                <a:solidFill>
                  <a:srgbClr val="000000"/>
                </a:solidFill>
                <a:latin typeface="Linux Biolinum O"/>
                <a:ea typeface="Linux Biolinum O"/>
                <a:cs typeface="Linux Biolinum O"/>
              </a:rPr>
              <a:t>文字</a:t>
            </a:r>
            <a:r>
              <a:rPr sz="4800">
                <a:latin typeface="Linux Biolinum O"/>
                <a:ea typeface="Linux Biolinum O"/>
                <a:cs typeface="Linux Biolinum O"/>
              </a:rPr>
              <a:t>／</a:t>
            </a:r>
            <a:r>
              <a:rPr lang="en-US" sz="4800" b="0" i="0" u="none" strike="noStrike" cap="none" spc="0">
                <a:solidFill>
                  <a:srgbClr val="000000"/>
                </a:solidFill>
                <a:latin typeface="Linux Biolinum O"/>
                <a:ea typeface="Linux Biolinum O"/>
                <a:cs typeface="Linux Biolinum O"/>
              </a:rPr>
              <a:t>相片</a:t>
            </a:r>
            <a:endParaRPr sz="4800">
              <a:latin typeface="Linux Biolinum O"/>
              <a:cs typeface="Linux Biolinum 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983673208" name="直線接點 4"/>
          <p:cNvCxnSpPr/>
          <p:nvPr/>
        </p:nvCxnSpPr>
        <p:spPr bwMode="auto">
          <a:xfrm flipV="1">
            <a:off x="0" y="584800"/>
            <a:ext cx="12191998" cy="656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732048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703806834" name="Google Shape;90;p1"/>
          <p:cNvSpPr txBox="1"/>
          <p:nvPr/>
        </p:nvSpPr>
        <p:spPr bwMode="auto">
          <a:xfrm>
            <a:off x="-45716" y="-2889"/>
            <a:ext cx="12283434" cy="6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26635462" name=""/>
          <p:cNvSpPr txBox="1"/>
          <p:nvPr/>
        </p:nvSpPr>
        <p:spPr bwMode="auto">
          <a:xfrm rot="0" flipH="0" flipV="0">
            <a:off x="9789162" y="662519"/>
            <a:ext cx="2243577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內容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(續)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2597797" name=""/>
          <p:cNvSpPr txBox="1"/>
          <p:nvPr/>
        </p:nvSpPr>
        <p:spPr bwMode="auto">
          <a:xfrm rot="0" flipH="0" flipV="0">
            <a:off x="103087" y="1115370"/>
            <a:ext cx="11985084" cy="525728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內容</a:t>
            </a:r>
            <a:r>
              <a:rPr sz="2000"/>
              <a:t> - 僅</a:t>
            </a:r>
            <a:r>
              <a:rPr sz="2000"/>
              <a:t>適用於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E7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E12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E13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E14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E15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、</a:t>
            </a:r>
            <a:r>
              <a:rPr lang="en-US" sz="2800" b="0" i="0" u="none" strike="sng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E16</a:t>
            </a:r>
            <a:endParaRPr sz="28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838627467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F1BD1F43-1DAE-CAC1-FD46-9C9AD027F01C}" type="slidenum">
              <a:rPr lang="en-US"/>
              <a:t>15</a:t>
            </a:fld>
            <a:endParaRPr/>
          </a:p>
        </p:txBody>
      </p:sp>
      <p:sp>
        <p:nvSpPr>
          <p:cNvPr id="1650563813" name=""/>
          <p:cNvSpPr/>
          <p:nvPr/>
        </p:nvSpPr>
        <p:spPr bwMode="auto">
          <a:xfrm rot="0" flipH="0" flipV="0">
            <a:off x="161705" y="1802422"/>
            <a:ext cx="11871032" cy="4553924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0876235" name=""/>
          <p:cNvSpPr txBox="1"/>
          <p:nvPr/>
        </p:nvSpPr>
        <p:spPr bwMode="auto">
          <a:xfrm rot="0" flipH="0" flipV="0">
            <a:off x="3181384" y="3531575"/>
            <a:ext cx="4996777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>
                <a:latin typeface="Linux Biolinum O"/>
                <a:ea typeface="Linux Biolinum O"/>
                <a:cs typeface="Linux Biolinum O"/>
              </a:rPr>
              <a:t>文字</a:t>
            </a:r>
            <a:endParaRPr sz="4800">
              <a:latin typeface="Linux Biolinum O"/>
              <a:cs typeface="Linux Biolinum 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988093504" name="直線接點 4"/>
          <p:cNvCxnSpPr/>
          <p:nvPr/>
        </p:nvCxnSpPr>
        <p:spPr bwMode="auto">
          <a:xfrm flipV="1">
            <a:off x="0" y="584800"/>
            <a:ext cx="12191998" cy="656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5766343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069088110" name="Google Shape;90;p1"/>
          <p:cNvSpPr txBox="1"/>
          <p:nvPr/>
        </p:nvSpPr>
        <p:spPr bwMode="auto">
          <a:xfrm>
            <a:off x="-45716" y="-2889"/>
            <a:ext cx="12283434" cy="6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416016079" name=""/>
          <p:cNvSpPr txBox="1"/>
          <p:nvPr/>
        </p:nvSpPr>
        <p:spPr bwMode="auto">
          <a:xfrm rot="0" flipH="0" flipV="0">
            <a:off x="9789162" y="662519"/>
            <a:ext cx="2243577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內容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(續)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29317809" name=""/>
          <p:cNvSpPr txBox="1"/>
          <p:nvPr/>
        </p:nvSpPr>
        <p:spPr bwMode="auto">
          <a:xfrm rot="0" flipH="0" flipV="0">
            <a:off x="103090" y="1115370"/>
            <a:ext cx="11978967" cy="525728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sz="2000"/>
              <a:t>內容</a:t>
            </a:r>
            <a:r>
              <a:rPr sz="2000"/>
              <a:t> - 僅</a:t>
            </a:r>
            <a:r>
              <a:rPr sz="2000"/>
              <a:t>適用於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E5.1、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E8</a:t>
            </a:r>
            <a:endParaRPr sz="28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556529466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436FBEE-982A-BCD4-7B86-88C726B09943}" type="slidenum">
              <a:rPr lang="en-US"/>
              <a:t>16</a:t>
            </a:fld>
            <a:endParaRPr/>
          </a:p>
        </p:txBody>
      </p:sp>
      <p:sp>
        <p:nvSpPr>
          <p:cNvPr id="810569142" name=""/>
          <p:cNvSpPr/>
          <p:nvPr/>
        </p:nvSpPr>
        <p:spPr bwMode="auto">
          <a:xfrm rot="0" flipH="0" flipV="0">
            <a:off x="161705" y="1802421"/>
            <a:ext cx="11871032" cy="4553924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14946839" name=""/>
          <p:cNvSpPr txBox="1"/>
          <p:nvPr/>
        </p:nvSpPr>
        <p:spPr bwMode="auto">
          <a:xfrm rot="0" flipH="0" flipV="0">
            <a:off x="3181383" y="3531575"/>
            <a:ext cx="5005056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>
                <a:latin typeface="Linux Biolinum O"/>
                <a:ea typeface="Linux Biolinum O"/>
                <a:cs typeface="Linux Biolinum O"/>
              </a:rPr>
              <a:t>表格</a:t>
            </a:r>
            <a:endParaRPr sz="4800">
              <a:latin typeface="Linux Biolinum O"/>
              <a:cs typeface="Linux Biolinum 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050760768" name="直線接點 4"/>
          <p:cNvCxnSpPr/>
          <p:nvPr/>
        </p:nvCxnSpPr>
        <p:spPr bwMode="auto">
          <a:xfrm flipV="1">
            <a:off x="0" y="584800"/>
            <a:ext cx="12191998" cy="656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4999221" name="TextBox 20"/>
          <p:cNvSpPr txBox="1"/>
          <p:nvPr/>
        </p:nvSpPr>
        <p:spPr bwMode="auto">
          <a:xfrm>
            <a:off x="0" y="646290"/>
            <a:ext cx="8254399" cy="4726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F.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樣板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(Template)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(續)</a:t>
            </a:r>
            <a:endParaRPr lang="en-US" sz="2400"/>
          </a:p>
        </p:txBody>
      </p:sp>
      <p:sp>
        <p:nvSpPr>
          <p:cNvPr id="1099433829" name="Google Shape;90;p1"/>
          <p:cNvSpPr txBox="1"/>
          <p:nvPr/>
        </p:nvSpPr>
        <p:spPr bwMode="auto">
          <a:xfrm>
            <a:off x="-45716" y="-2889"/>
            <a:ext cx="12283434" cy="65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7" rIns="91422" bIns="45697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1071965990" name=""/>
          <p:cNvSpPr txBox="1"/>
          <p:nvPr/>
        </p:nvSpPr>
        <p:spPr bwMode="auto">
          <a:xfrm rot="0" flipH="0" flipV="0">
            <a:off x="9789162" y="662519"/>
            <a:ext cx="2243577" cy="43661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樣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板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-</a:t>
            </a:r>
            <a:r>
              <a:rPr lang="en-US"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內容</a:t>
            </a:r>
            <a:r>
              <a:rPr sz="2200" b="0" i="0" u="none" strike="noStrike" cap="none" spc="0">
                <a:solidFill>
                  <a:srgbClr val="C00000"/>
                </a:solidFill>
                <a:latin typeface="Arial"/>
                <a:ea typeface="Arial"/>
                <a:cs typeface="Arial"/>
              </a:rPr>
              <a:t>(續)</a:t>
            </a:r>
            <a:endParaRPr sz="2200" b="0" i="0" u="none" strike="noStrike" cap="none" spc="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6938329" name=""/>
          <p:cNvSpPr txBox="1"/>
          <p:nvPr/>
        </p:nvSpPr>
        <p:spPr bwMode="auto">
          <a:xfrm rot="0" flipH="0" flipV="0">
            <a:off x="103090" y="1115370"/>
            <a:ext cx="11975007" cy="5185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/>
              <a:t>內容</a:t>
            </a:r>
            <a:r>
              <a:rPr sz="2000"/>
              <a:t> - 僅</a:t>
            </a:r>
            <a:r>
              <a:rPr sz="2000"/>
              <a:t>適用於</a:t>
            </a:r>
            <a:r>
              <a:rPr lang="en-US" sz="2800" b="0" i="0" u="none" strike="noStrike" cap="none" spc="0">
                <a:solidFill>
                  <a:srgbClr val="152BEB"/>
                </a:solidFill>
                <a:latin typeface="Linux Biolinum O"/>
                <a:ea typeface="Linux Biolinum O"/>
                <a:cs typeface="Linux Biolinum O"/>
              </a:rPr>
              <a:t>E11</a:t>
            </a:r>
            <a:endParaRPr sz="28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532613672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8" y="6356349"/>
            <a:ext cx="2743200" cy="365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201AE3A-65B9-13D1-2C39-04A41120F2B1}" type="slidenum">
              <a:rPr lang="en-US"/>
              <a:t>17</a:t>
            </a:fld>
            <a:endParaRPr/>
          </a:p>
        </p:txBody>
      </p:sp>
      <p:sp>
        <p:nvSpPr>
          <p:cNvPr id="1088398323" name=""/>
          <p:cNvSpPr/>
          <p:nvPr/>
        </p:nvSpPr>
        <p:spPr bwMode="auto">
          <a:xfrm rot="0" flipH="0" flipV="0">
            <a:off x="161705" y="2754921"/>
            <a:ext cx="5818561" cy="640440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36848374" name=""/>
          <p:cNvSpPr txBox="1"/>
          <p:nvPr/>
        </p:nvSpPr>
        <p:spPr bwMode="auto">
          <a:xfrm rot="0" flipH="0" flipV="0">
            <a:off x="1414202" y="2754921"/>
            <a:ext cx="331536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>
                <a:latin typeface="Linux Biolinum O"/>
                <a:ea typeface="Linux Biolinum O"/>
                <a:cs typeface="Linux Biolinum O"/>
              </a:rPr>
              <a:t>相片</a:t>
            </a:r>
            <a:endParaRPr sz="4800">
              <a:latin typeface="Linux Biolinum O"/>
              <a:cs typeface="Linux Biolinum O"/>
            </a:endParaRPr>
          </a:p>
        </p:txBody>
      </p:sp>
      <p:sp>
        <p:nvSpPr>
          <p:cNvPr id="2072794017" name=""/>
          <p:cNvSpPr/>
          <p:nvPr/>
        </p:nvSpPr>
        <p:spPr bwMode="auto">
          <a:xfrm rot="0" flipH="0" flipV="0">
            <a:off x="6214176" y="2754921"/>
            <a:ext cx="5818561" cy="640440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28030900" name=""/>
          <p:cNvSpPr txBox="1"/>
          <p:nvPr/>
        </p:nvSpPr>
        <p:spPr bwMode="auto">
          <a:xfrm rot="0" flipH="0" flipV="0">
            <a:off x="7597021" y="2754921"/>
            <a:ext cx="331536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>
                <a:latin typeface="Linux Biolinum O"/>
                <a:ea typeface="Linux Biolinum O"/>
                <a:cs typeface="Linux Biolinum O"/>
              </a:rPr>
              <a:t>文字</a:t>
            </a:r>
            <a:endParaRPr sz="3600">
              <a:latin typeface="Linux Biolinum O"/>
              <a:cs typeface="Linux Biolinum O"/>
            </a:endParaRPr>
          </a:p>
        </p:txBody>
      </p:sp>
      <p:sp>
        <p:nvSpPr>
          <p:cNvPr id="883526494" name=""/>
          <p:cNvSpPr/>
          <p:nvPr/>
        </p:nvSpPr>
        <p:spPr bwMode="auto">
          <a:xfrm rot="0" flipH="0" flipV="0">
            <a:off x="161705" y="1802422"/>
            <a:ext cx="11871032" cy="703385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03581591" name=""/>
          <p:cNvSpPr txBox="1"/>
          <p:nvPr/>
        </p:nvSpPr>
        <p:spPr bwMode="auto">
          <a:xfrm rot="0" flipH="0" flipV="0">
            <a:off x="4200185" y="1742454"/>
            <a:ext cx="3561604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4800">
                <a:latin typeface="Linux Biolinum O"/>
                <a:ea typeface="Linux Biolinum O"/>
                <a:cs typeface="Linux Biolinum O"/>
              </a:rPr>
              <a:t>文字</a:t>
            </a:r>
            <a:endParaRPr sz="4800">
              <a:latin typeface="Linux Biolinum O"/>
              <a:cs typeface="Linux Biolinum O"/>
            </a:endParaRPr>
          </a:p>
        </p:txBody>
      </p:sp>
      <p:sp>
        <p:nvSpPr>
          <p:cNvPr id="294720009" name=""/>
          <p:cNvSpPr/>
          <p:nvPr/>
        </p:nvSpPr>
        <p:spPr bwMode="auto">
          <a:xfrm rot="0" flipH="0" flipV="0">
            <a:off x="161705" y="3546228"/>
            <a:ext cx="5818561" cy="640440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98885911" name=""/>
          <p:cNvSpPr txBox="1"/>
          <p:nvPr/>
        </p:nvSpPr>
        <p:spPr bwMode="auto">
          <a:xfrm rot="0" flipH="0" flipV="0">
            <a:off x="1414202" y="3546228"/>
            <a:ext cx="331536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>
                <a:latin typeface="Linux Biolinum O"/>
                <a:ea typeface="Linux Biolinum O"/>
                <a:cs typeface="Linux Biolinum O"/>
              </a:rPr>
              <a:t>相片</a:t>
            </a:r>
            <a:endParaRPr sz="4800">
              <a:latin typeface="Linux Biolinum O"/>
              <a:cs typeface="Linux Biolinum O"/>
            </a:endParaRPr>
          </a:p>
        </p:txBody>
      </p:sp>
      <p:sp>
        <p:nvSpPr>
          <p:cNvPr id="817580048" name=""/>
          <p:cNvSpPr/>
          <p:nvPr/>
        </p:nvSpPr>
        <p:spPr bwMode="auto">
          <a:xfrm rot="0" flipH="0" flipV="0">
            <a:off x="6214176" y="3546228"/>
            <a:ext cx="5818561" cy="640440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23346532" name=""/>
          <p:cNvSpPr txBox="1"/>
          <p:nvPr/>
        </p:nvSpPr>
        <p:spPr bwMode="auto">
          <a:xfrm rot="0" flipH="0" flipV="0">
            <a:off x="7597021" y="3546228"/>
            <a:ext cx="331536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>
                <a:latin typeface="Linux Biolinum O"/>
                <a:ea typeface="Linux Biolinum O"/>
                <a:cs typeface="Linux Biolinum O"/>
              </a:rPr>
              <a:t>文字</a:t>
            </a:r>
            <a:endParaRPr sz="3600">
              <a:latin typeface="Linux Biolinum O"/>
              <a:cs typeface="Linux Biolinum O"/>
            </a:endParaRPr>
          </a:p>
        </p:txBody>
      </p:sp>
      <p:sp>
        <p:nvSpPr>
          <p:cNvPr id="2059330594" name=""/>
          <p:cNvSpPr/>
          <p:nvPr/>
        </p:nvSpPr>
        <p:spPr bwMode="auto">
          <a:xfrm rot="0" flipH="0" flipV="0">
            <a:off x="161705" y="4322883"/>
            <a:ext cx="5818561" cy="640440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0086471" name=""/>
          <p:cNvSpPr txBox="1"/>
          <p:nvPr/>
        </p:nvSpPr>
        <p:spPr bwMode="auto">
          <a:xfrm rot="0" flipH="0" flipV="0">
            <a:off x="1414202" y="4322883"/>
            <a:ext cx="331536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>
                <a:latin typeface="Linux Biolinum O"/>
                <a:ea typeface="Linux Biolinum O"/>
                <a:cs typeface="Linux Biolinum O"/>
              </a:rPr>
              <a:t>相片</a:t>
            </a:r>
            <a:endParaRPr sz="4800">
              <a:latin typeface="Linux Biolinum O"/>
              <a:cs typeface="Linux Biolinum O"/>
            </a:endParaRPr>
          </a:p>
        </p:txBody>
      </p:sp>
      <p:sp>
        <p:nvSpPr>
          <p:cNvPr id="1773954815" name=""/>
          <p:cNvSpPr/>
          <p:nvPr/>
        </p:nvSpPr>
        <p:spPr bwMode="auto">
          <a:xfrm rot="0" flipH="0" flipV="0">
            <a:off x="6214176" y="4322883"/>
            <a:ext cx="5818561" cy="640440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72726310" name=""/>
          <p:cNvSpPr txBox="1"/>
          <p:nvPr/>
        </p:nvSpPr>
        <p:spPr bwMode="auto">
          <a:xfrm rot="0" flipH="0" flipV="0">
            <a:off x="7597021" y="4322883"/>
            <a:ext cx="331536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>
                <a:latin typeface="Linux Biolinum O"/>
                <a:ea typeface="Linux Biolinum O"/>
                <a:cs typeface="Linux Biolinum O"/>
              </a:rPr>
              <a:t>文字</a:t>
            </a:r>
            <a:endParaRPr sz="3600">
              <a:latin typeface="Linux Biolinum O"/>
              <a:cs typeface="Linux Biolinum O"/>
            </a:endParaRPr>
          </a:p>
        </p:txBody>
      </p:sp>
      <p:sp>
        <p:nvSpPr>
          <p:cNvPr id="1819885069" name=""/>
          <p:cNvSpPr/>
          <p:nvPr/>
        </p:nvSpPr>
        <p:spPr bwMode="auto">
          <a:xfrm rot="0" flipH="0" flipV="0">
            <a:off x="161705" y="5114191"/>
            <a:ext cx="5818561" cy="640440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89623568" name=""/>
          <p:cNvSpPr txBox="1"/>
          <p:nvPr/>
        </p:nvSpPr>
        <p:spPr bwMode="auto">
          <a:xfrm rot="0" flipH="0" flipV="0">
            <a:off x="1414202" y="5114191"/>
            <a:ext cx="331536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>
                <a:latin typeface="Linux Biolinum O"/>
                <a:ea typeface="Linux Biolinum O"/>
                <a:cs typeface="Linux Biolinum O"/>
              </a:rPr>
              <a:t>相片</a:t>
            </a:r>
            <a:endParaRPr sz="4800">
              <a:latin typeface="Linux Biolinum O"/>
              <a:cs typeface="Linux Biolinum O"/>
            </a:endParaRPr>
          </a:p>
        </p:txBody>
      </p:sp>
      <p:sp>
        <p:nvSpPr>
          <p:cNvPr id="2002418295" name=""/>
          <p:cNvSpPr/>
          <p:nvPr/>
        </p:nvSpPr>
        <p:spPr bwMode="auto">
          <a:xfrm rot="0" flipH="0" flipV="0">
            <a:off x="6214176" y="5114191"/>
            <a:ext cx="5818561" cy="640440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62130364" name=""/>
          <p:cNvSpPr txBox="1"/>
          <p:nvPr/>
        </p:nvSpPr>
        <p:spPr bwMode="auto">
          <a:xfrm rot="0" flipH="0" flipV="0">
            <a:off x="7597021" y="5114191"/>
            <a:ext cx="331536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>
                <a:latin typeface="Linux Biolinum O"/>
                <a:ea typeface="Linux Biolinum O"/>
                <a:cs typeface="Linux Biolinum O"/>
              </a:rPr>
              <a:t>文字</a:t>
            </a:r>
            <a:endParaRPr sz="3600">
              <a:latin typeface="Linux Biolinum O"/>
              <a:cs typeface="Linux Biolinum O"/>
            </a:endParaRPr>
          </a:p>
        </p:txBody>
      </p:sp>
      <p:sp>
        <p:nvSpPr>
          <p:cNvPr id="444995003" name=""/>
          <p:cNvSpPr/>
          <p:nvPr/>
        </p:nvSpPr>
        <p:spPr bwMode="auto">
          <a:xfrm rot="0" flipH="0" flipV="0">
            <a:off x="160265" y="5898470"/>
            <a:ext cx="5818561" cy="640440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20636654" name=""/>
          <p:cNvSpPr txBox="1"/>
          <p:nvPr/>
        </p:nvSpPr>
        <p:spPr bwMode="auto">
          <a:xfrm rot="0" flipH="0" flipV="0">
            <a:off x="1412762" y="5898470"/>
            <a:ext cx="331536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>
                <a:latin typeface="Linux Biolinum O"/>
                <a:ea typeface="Linux Biolinum O"/>
                <a:cs typeface="Linux Biolinum O"/>
              </a:rPr>
              <a:t>相片</a:t>
            </a:r>
            <a:endParaRPr sz="4800">
              <a:latin typeface="Linux Biolinum O"/>
              <a:cs typeface="Linux Biolinum O"/>
            </a:endParaRPr>
          </a:p>
        </p:txBody>
      </p:sp>
      <p:sp>
        <p:nvSpPr>
          <p:cNvPr id="285833839" name=""/>
          <p:cNvSpPr/>
          <p:nvPr/>
        </p:nvSpPr>
        <p:spPr bwMode="auto">
          <a:xfrm rot="0" flipH="0" flipV="0">
            <a:off x="6212736" y="5898470"/>
            <a:ext cx="5818561" cy="640440"/>
          </a:xfrm>
          <a:prstGeom prst="rect">
            <a:avLst/>
          </a:prstGeom>
          <a:noFill/>
          <a:ln w="38100" cap="flat" cmpd="sng" algn="ctr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4423988" name=""/>
          <p:cNvSpPr txBox="1"/>
          <p:nvPr/>
        </p:nvSpPr>
        <p:spPr bwMode="auto">
          <a:xfrm rot="0" flipH="0" flipV="0">
            <a:off x="7595581" y="5898470"/>
            <a:ext cx="3315368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>
                <a:latin typeface="Linux Biolinum O"/>
                <a:ea typeface="Linux Biolinum O"/>
                <a:cs typeface="Linux Biolinum O"/>
              </a:rPr>
              <a:t>文字</a:t>
            </a:r>
            <a:endParaRPr sz="3600">
              <a:latin typeface="Linux Biolinum O"/>
              <a:cs typeface="Linux Biolinum 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738237912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148267" name="TextBox 20"/>
          <p:cNvSpPr txBox="1"/>
          <p:nvPr/>
        </p:nvSpPr>
        <p:spPr bwMode="auto">
          <a:xfrm>
            <a:off x="0" y="646290"/>
            <a:ext cx="8268799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G.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網站測試</a:t>
            </a:r>
            <a:r>
              <a:rPr lang="en-US" sz="2400">
                <a:solidFill>
                  <a:schemeClr val="dk1"/>
                </a:solidFill>
                <a:ea typeface="Times New Roman"/>
                <a:cs typeface="Times New Roman"/>
              </a:rPr>
              <a:t> </a:t>
            </a:r>
            <a:endParaRPr lang="en-US" sz="2400"/>
          </a:p>
        </p:txBody>
      </p:sp>
      <p:sp>
        <p:nvSpPr>
          <p:cNvPr id="1971769774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23</a:t>
            </a:fld>
            <a:endParaRPr lang="en-US"/>
          </a:p>
        </p:txBody>
      </p:sp>
      <p:sp>
        <p:nvSpPr>
          <p:cNvPr id="733295822" name="Google Shape;90;p1"/>
          <p:cNvSpPr txBox="1"/>
          <p:nvPr/>
        </p:nvSpPr>
        <p:spPr bwMode="auto">
          <a:xfrm>
            <a:off x="0" y="-2890"/>
            <a:ext cx="12284155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218901360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0064763" name="TextBox 20"/>
          <p:cNvSpPr txBox="1"/>
          <p:nvPr/>
        </p:nvSpPr>
        <p:spPr bwMode="auto">
          <a:xfrm>
            <a:off x="0" y="646290"/>
            <a:ext cx="8257997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H.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Linux Biolinum O"/>
                <a:ea typeface="Linux Biolinum O"/>
                <a:cs typeface="Linux Biolinum O"/>
              </a:rPr>
              <a:t>屏幕截圖及說明</a:t>
            </a:r>
            <a:endParaRPr lang="en-US" sz="2400"/>
          </a:p>
        </p:txBody>
      </p:sp>
      <p:sp>
        <p:nvSpPr>
          <p:cNvPr id="2028605775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31</a:t>
            </a:fld>
            <a:endParaRPr lang="en-US"/>
          </a:p>
        </p:txBody>
      </p:sp>
      <p:sp>
        <p:nvSpPr>
          <p:cNvPr id="892675954" name="Google Shape;90;p1"/>
          <p:cNvSpPr txBox="1"/>
          <p:nvPr/>
        </p:nvSpPr>
        <p:spPr bwMode="auto">
          <a:xfrm>
            <a:off x="0" y="-2890"/>
            <a:ext cx="12284515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297775600" name="直線接點 4"/>
          <p:cNvCxnSpPr/>
          <p:nvPr/>
        </p:nvCxnSpPr>
        <p:spPr bwMode="auto">
          <a:xfrm flipV="1">
            <a:off x="0" y="584801"/>
            <a:ext cx="12191999" cy="6563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635605" name="TextBox 20"/>
          <p:cNvSpPr txBox="1"/>
          <p:nvPr/>
        </p:nvSpPr>
        <p:spPr bwMode="auto">
          <a:xfrm>
            <a:off x="0" y="646290"/>
            <a:ext cx="8259797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I.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網站發佈</a:t>
            </a:r>
            <a:r>
              <a:rPr lang="en-US" sz="2400">
                <a:solidFill>
                  <a:schemeClr val="dk1"/>
                </a:solidFill>
                <a:ea typeface="Times New Roman"/>
                <a:cs typeface="Times New Roman"/>
              </a:rPr>
              <a:t> </a:t>
            </a:r>
            <a:endParaRPr lang="en-US" sz="2400"/>
          </a:p>
        </p:txBody>
      </p:sp>
      <p:sp>
        <p:nvSpPr>
          <p:cNvPr id="763303111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172E1F56-60A2-575F-DF32-6B968770F372}" type="slidenum">
              <a:rPr lang="en-US"/>
              <a:t>12</a:t>
            </a:fld>
            <a:endParaRPr lang="en-US"/>
          </a:p>
        </p:txBody>
      </p:sp>
      <p:sp>
        <p:nvSpPr>
          <p:cNvPr id="1789199304" name="Google Shape;90;p1"/>
          <p:cNvSpPr txBox="1"/>
          <p:nvPr/>
        </p:nvSpPr>
        <p:spPr bwMode="auto">
          <a:xfrm>
            <a:off x="0" y="-2889"/>
            <a:ext cx="12284514" cy="653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2" tIns="45698" rIns="91422" bIns="45698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4075481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9221996" name="TextBox 20"/>
          <p:cNvSpPr txBox="1"/>
          <p:nvPr/>
        </p:nvSpPr>
        <p:spPr bwMode="auto">
          <a:xfrm>
            <a:off x="0" y="646290"/>
            <a:ext cx="3005118" cy="4643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/>
              <a:t>J. </a:t>
            </a:r>
            <a:r>
              <a:rPr lang="en-US" sz="24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總結</a:t>
            </a:r>
            <a:endParaRPr/>
          </a:p>
        </p:txBody>
      </p:sp>
      <p:sp>
        <p:nvSpPr>
          <p:cNvPr id="420696392" name="TextBox 23"/>
          <p:cNvSpPr txBox="1"/>
          <p:nvPr/>
        </p:nvSpPr>
        <p:spPr bwMode="auto">
          <a:xfrm flipH="0" flipV="0">
            <a:off x="447999" y="1107954"/>
            <a:ext cx="11653067" cy="457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  <a:defRPr/>
            </a:pPr>
            <a:r>
              <a:rPr lang="en-US" sz="2400"/>
              <a:t>XXXXX</a:t>
            </a:r>
            <a:endParaRPr sz="2400"/>
          </a:p>
        </p:txBody>
      </p:sp>
      <p:sp>
        <p:nvSpPr>
          <p:cNvPr id="368058363" name="Slide Number Placeholder 1"/>
          <p:cNvSpPr>
            <a:spLocks noGrp="1"/>
          </p:cNvSpPr>
          <p:nvPr>
            <p:ph type="sldNum" idx="12"/>
          </p:nvPr>
        </p:nvSpPr>
        <p:spPr bwMode="auto"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42</a:t>
            </a:fld>
            <a:endParaRPr lang="en-US"/>
          </a:p>
        </p:txBody>
      </p:sp>
      <p:sp>
        <p:nvSpPr>
          <p:cNvPr id="1291011071" name="Google Shape;90;p1"/>
          <p:cNvSpPr txBox="1"/>
          <p:nvPr/>
        </p:nvSpPr>
        <p:spPr bwMode="auto">
          <a:xfrm>
            <a:off x="0" y="-2890"/>
            <a:ext cx="12284874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alphaModFix/>
          </a:blip>
          <a:tile algn="tl" flip="none" sx="100000" sy="100000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923931131" name="直線接點 4"/>
          <p:cNvCxnSpPr/>
          <p:nvPr/>
        </p:nvCxnSpPr>
        <p:spPr bwMode="auto">
          <a:xfrm flipV="1">
            <a:off x="0" y="584802"/>
            <a:ext cx="12192000" cy="6564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6187585" name="TextBox 2"/>
          <p:cNvSpPr txBox="1"/>
          <p:nvPr/>
        </p:nvSpPr>
        <p:spPr bwMode="auto">
          <a:xfrm>
            <a:off x="3778249" y="2613391"/>
            <a:ext cx="4639819" cy="165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10000">
                <a:solidFill>
                  <a:srgbClr val="C00000"/>
                </a:solidFill>
              </a:rPr>
              <a:t>- 完 -</a:t>
            </a:r>
            <a:endParaRPr/>
          </a:p>
        </p:txBody>
      </p:sp>
      <p:sp>
        <p:nvSpPr>
          <p:cNvPr id="116159997" name="Google Shape;90;p1"/>
          <p:cNvSpPr txBox="1"/>
          <p:nvPr/>
        </p:nvSpPr>
        <p:spPr bwMode="auto">
          <a:xfrm>
            <a:off x="0" y="-2890"/>
            <a:ext cx="12285234" cy="653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t" anchorCtr="0">
            <a:spAutoFit/>
          </a:bodyPr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前端網站開發人員證書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Arial"/>
                <a:ea typeface="Times New Roman"/>
                <a:cs typeface="Times New Roman"/>
              </a:rPr>
              <a:t>(CT288DS006)</a:t>
            </a:r>
            <a:r>
              <a:rPr lang="en-US" sz="1800">
                <a:latin typeface="Arial"/>
                <a:ea typeface="Times New Roman"/>
                <a:cs typeface="Times New Roman"/>
              </a:rPr>
              <a:t> -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Times New Roman"/>
                <a:cs typeface="Times New Roman"/>
              </a:rPr>
              <a:t>網站開發專案</a:t>
            </a:r>
            <a:endParaRPr lang="en-US" sz="1800">
              <a:latin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開發者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HO Siu Hang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 (Desmond)  </a:t>
            </a:r>
            <a:r>
              <a:rPr lang="en-US" sz="1800" b="0" i="0" u="none" strike="noStrike" cap="none" spc="0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學生編號</a:t>
            </a:r>
            <a:r>
              <a:rPr lang="en-US" sz="1800" b="0" i="0" u="none" strike="noStrike" cap="none">
                <a:solidFill>
                  <a:schemeClr val="dk1"/>
                </a:solidFill>
                <a:latin typeface="Arial"/>
                <a:ea typeface="Times New Roman"/>
                <a:cs typeface="Times New Roman"/>
              </a:rPr>
              <a:t>: 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12</a:t>
            </a:r>
            <a:r>
              <a:rPr lang="en-US" sz="1800" b="0" i="0" u="none" strike="noStrike" cap="none">
                <a:solidFill>
                  <a:srgbClr val="0000FF"/>
                </a:solidFill>
                <a:latin typeface="Arial"/>
                <a:ea typeface="Times New Roman"/>
                <a:cs typeface="Times New Roman"/>
              </a:rPr>
              <a:t>			</a:t>
            </a:r>
            <a:r>
              <a:rPr lang="zh-TW" sz="1800" b="0" i="0" u="none" strike="noStrike" cap="none" spc="0">
                <a:solidFill>
                  <a:srgbClr val="152BEB"/>
                </a:solidFill>
                <a:latin typeface="Arial"/>
                <a:ea typeface="Calibri"/>
                <a:cs typeface="Calibri"/>
              </a:rPr>
              <a:t>			闌珊相親</a:t>
            </a:r>
            <a:r>
              <a:rPr lang="en-US" sz="1800" b="0" i="0" u="none" strike="noStrike" cap="none" spc="0">
                <a:solidFill>
                  <a:srgbClr val="152BEB"/>
                </a:solidFill>
                <a:latin typeface="Arial"/>
                <a:ea typeface="Times New Roman"/>
                <a:cs typeface="Times New Roman"/>
              </a:rPr>
              <a:t>網站</a:t>
            </a:r>
            <a:endParaRPr sz="1800">
              <a:solidFill>
                <a:srgbClr val="0000FF"/>
              </a:solidFill>
              <a:latin typeface="Arial"/>
              <a:ea typeface="Calibri"/>
              <a:cs typeface="Calibri"/>
            </a:endParaRPr>
          </a:p>
        </p:txBody>
      </p:sp>
      <p:sp>
        <p:nvSpPr>
          <p:cNvPr id="50796192" name="Google Shape;20;p18"/>
          <p:cNvSpPr txBox="1">
            <a:spLocks noGrp="1"/>
          </p:cNvSpPr>
          <p:nvPr>
            <p:ph type="sldNum" idx="12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9F1603AB-9131-92B1-2216-B4C8D0C598C3}" type="slidenum">
              <a:rPr lang="en-US"/>
              <a:t>12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22</Slides>
  <Notes>22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JACKHO</dc:creator>
  <cp:lastModifiedBy/>
  <cp:revision>535</cp:revision>
  <dcterms:created xsi:type="dcterms:W3CDTF">2025-03-08T03:49:38Z</dcterms:created>
  <dcterms:modified xsi:type="dcterms:W3CDTF">2026-09-28T14:00:52Z</dcterms:modified>
</cp:coreProperties>
</file>